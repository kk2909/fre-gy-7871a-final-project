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23e0f93b594f3a" /><Relationship Type="http://schemas.openxmlformats.org/officeDocument/2006/relationships/extended-properties" Target="/docProps/app.xml" Id="R217e0aba9e894e76" /><Relationship Type="http://schemas.openxmlformats.org/officeDocument/2006/relationships/officeDocument" Target="/ppt/presentation.xml" Id="Rd62e4af947b8432e" /></Relationships>
</file>

<file path=ppt/presentation.xml><?xml version="1.0" encoding="utf-8"?>
<p:presentation xmlns:p="http://schemas.openxmlformats.org/presentationml/2006/main">
  <p:sldMasterIdLst>
    <p:sldMasterId xmlns:r="http://schemas.openxmlformats.org/officeDocument/2006/relationships" id="2147483648" r:id="R583cf03855224524"/>
  </p:sldMasterIdLst>
  <p:notesMasterIdLst>
    <p:notesMasterId xmlns:r="http://schemas.openxmlformats.org/officeDocument/2006/relationships" r:id="R903d4a89b3254b00"/>
  </p:notesMasterIdLst>
  <p:sldIdLst>
    <p:sldId xmlns:r="http://schemas.openxmlformats.org/officeDocument/2006/relationships" id="256" r:id="R09773fac8d8e423f"/>
    <p:sldId xmlns:r="http://schemas.openxmlformats.org/officeDocument/2006/relationships" id="257" r:id="R1966aed77af44daf"/>
    <p:sldId xmlns:r="http://schemas.openxmlformats.org/officeDocument/2006/relationships" id="258" r:id="Re5483ee7bae643e5"/>
    <p:sldId xmlns:r="http://schemas.openxmlformats.org/officeDocument/2006/relationships" id="259" r:id="Re533454f9b1f49bf"/>
    <p:sldId xmlns:r="http://schemas.openxmlformats.org/officeDocument/2006/relationships" id="260" r:id="R2a2be2c3645748f3"/>
    <p:sldId xmlns:r="http://schemas.openxmlformats.org/officeDocument/2006/relationships" id="261" r:id="R0c9e5fee33ca426a"/>
    <p:sldId xmlns:r="http://schemas.openxmlformats.org/officeDocument/2006/relationships" id="262" r:id="Re4a6c921b9a043b2"/>
    <p:sldId xmlns:r="http://schemas.openxmlformats.org/officeDocument/2006/relationships" id="263" r:id="R54113600f3324d2d"/>
    <p:sldId xmlns:r="http://schemas.openxmlformats.org/officeDocument/2006/relationships" id="264" r:id="R8e6718a6b3ae4142"/>
    <p:sldId xmlns:r="http://schemas.openxmlformats.org/officeDocument/2006/relationships" id="265" r:id="Rbe4a6c52f6ed4cbb"/>
    <p:sldId xmlns:r="http://schemas.openxmlformats.org/officeDocument/2006/relationships" id="266" r:id="R28cc082b4f90490b"/>
    <p:sldId xmlns:r="http://schemas.openxmlformats.org/officeDocument/2006/relationships" id="267" r:id="Rdbca3cc3e4174e3b"/>
    <p:sldId xmlns:r="http://schemas.openxmlformats.org/officeDocument/2006/relationships" id="268" r:id="R38eb4d4f13d14652"/>
    <p:sldId xmlns:r="http://schemas.openxmlformats.org/officeDocument/2006/relationships" id="269" r:id="R91438febbd624098"/>
    <p:sldId xmlns:r="http://schemas.openxmlformats.org/officeDocument/2006/relationships" id="270" r:id="R3b9cde5f6f3a4454"/>
    <p:sldId xmlns:r="http://schemas.openxmlformats.org/officeDocument/2006/relationships" id="271" r:id="Rf8b370939715464d"/>
    <p:sldId xmlns:r="http://schemas.openxmlformats.org/officeDocument/2006/relationships" id="272" r:id="Rbe8582775b494d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295a5b5c4e4937" /><Relationship Type="http://schemas.openxmlformats.org/officeDocument/2006/relationships/slideMaster" Target="/ppt/slideMasters/slideMaster1.xml" Id="R583cf03855224524" /><Relationship Type="http://schemas.openxmlformats.org/officeDocument/2006/relationships/notesMaster" Target="/ppt/notesMasters/notesMaster1.xml" Id="R903d4a89b3254b00" /><Relationship Type="http://schemas.openxmlformats.org/officeDocument/2006/relationships/presProps" Target="/ppt/presProps.xml" Id="R9cbb3835374545db" /><Relationship Type="http://schemas.openxmlformats.org/officeDocument/2006/relationships/tableStyles" Target="/ppt/tableStyles.xml" Id="R2d835df20af245bb" /><Relationship Type="http://schemas.openxmlformats.org/officeDocument/2006/relationships/slide" Target="/ppt/slides/slide1.xml" Id="R09773fac8d8e423f" /><Relationship Type="http://schemas.openxmlformats.org/officeDocument/2006/relationships/slide" Target="/ppt/slides/slide2.xml" Id="R1966aed77af44daf" /><Relationship Type="http://schemas.openxmlformats.org/officeDocument/2006/relationships/slide" Target="/ppt/slides/slide3.xml" Id="Re5483ee7bae643e5" /><Relationship Type="http://schemas.openxmlformats.org/officeDocument/2006/relationships/slide" Target="/ppt/slides/slide4.xml" Id="Re533454f9b1f49bf" /><Relationship Type="http://schemas.openxmlformats.org/officeDocument/2006/relationships/slide" Target="/ppt/slides/slide5.xml" Id="R2a2be2c3645748f3" /><Relationship Type="http://schemas.openxmlformats.org/officeDocument/2006/relationships/slide" Target="/ppt/slides/slide6.xml" Id="R0c9e5fee33ca426a" /><Relationship Type="http://schemas.openxmlformats.org/officeDocument/2006/relationships/slide" Target="/ppt/slides/slide7.xml" Id="Re4a6c921b9a043b2" /><Relationship Type="http://schemas.openxmlformats.org/officeDocument/2006/relationships/slide" Target="/ppt/slides/slide8.xml" Id="R54113600f3324d2d" /><Relationship Type="http://schemas.openxmlformats.org/officeDocument/2006/relationships/slide" Target="/ppt/slides/slide9.xml" Id="R8e6718a6b3ae4142" /><Relationship Type="http://schemas.openxmlformats.org/officeDocument/2006/relationships/slide" Target="/ppt/slides/slide10.xml" Id="Rbe4a6c52f6ed4cbb" /><Relationship Type="http://schemas.openxmlformats.org/officeDocument/2006/relationships/slide" Target="/ppt/slides/slide11.xml" Id="R28cc082b4f90490b" /><Relationship Type="http://schemas.openxmlformats.org/officeDocument/2006/relationships/slide" Target="/ppt/slides/slide12.xml" Id="Rdbca3cc3e4174e3b" /><Relationship Type="http://schemas.openxmlformats.org/officeDocument/2006/relationships/slide" Target="/ppt/slides/slide13.xml" Id="R38eb4d4f13d14652" /><Relationship Type="http://schemas.openxmlformats.org/officeDocument/2006/relationships/slide" Target="/ppt/slides/slide14.xml" Id="R91438febbd624098" /><Relationship Type="http://schemas.openxmlformats.org/officeDocument/2006/relationships/slide" Target="/ppt/slides/slide15.xml" Id="R3b9cde5f6f3a4454" /><Relationship Type="http://schemas.openxmlformats.org/officeDocument/2006/relationships/slide" Target="/ppt/slides/slide16.xml" Id="Rf8b370939715464d" /><Relationship Type="http://schemas.openxmlformats.org/officeDocument/2006/relationships/slide" Target="/ppt/slides/slide17.xml" Id="Rbe8582775b494d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a4a1c5acc84e0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fe4c626a174341" /><Relationship Type="http://schemas.openxmlformats.org/officeDocument/2006/relationships/notesMaster" Target="/ppt/notesMasters/notesMaster1.xml" Id="R493c1acaa23940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8b57edfcf545a9" /><Relationship Type="http://schemas.openxmlformats.org/officeDocument/2006/relationships/notesMaster" Target="/ppt/notesMasters/notesMaster1.xml" Id="R9c8ba2927508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4d78d2a361407f" /><Relationship Type="http://schemas.openxmlformats.org/officeDocument/2006/relationships/notesMaster" Target="/ppt/notesMasters/notesMaster1.xml" Id="Ref229bf177c745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33f845a06844ac" /><Relationship Type="http://schemas.openxmlformats.org/officeDocument/2006/relationships/notesMaster" Target="/ppt/notesMasters/notesMaster1.xml" Id="Rf7020903c16a41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ee76af0ddb41a3" /><Relationship Type="http://schemas.openxmlformats.org/officeDocument/2006/relationships/notesMaster" Target="/ppt/notesMasters/notesMaster1.xml" Id="R46d371d2457245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bdba7d42324853" /><Relationship Type="http://schemas.openxmlformats.org/officeDocument/2006/relationships/notesMaster" Target="/ppt/notesMasters/notesMaster1.xml" Id="R422c2ae7493148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958804458b42f0" /><Relationship Type="http://schemas.openxmlformats.org/officeDocument/2006/relationships/notesMaster" Target="/ppt/notesMasters/notesMaster1.xml" Id="Rc4c2f363ed9545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ceea490a514c00" /><Relationship Type="http://schemas.openxmlformats.org/officeDocument/2006/relationships/notesMaster" Target="/ppt/notesMasters/notesMaster1.xml" Id="R11b9200fdf9d4a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165b549b6f4ca5" /><Relationship Type="http://schemas.openxmlformats.org/officeDocument/2006/relationships/notesMaster" Target="/ppt/notesMasters/notesMaster1.xml" Id="R001a6ccb14e74f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198a388a764dd6" /><Relationship Type="http://schemas.openxmlformats.org/officeDocument/2006/relationships/notesMaster" Target="/ppt/notesMasters/notesMaster1.xml" Id="R9ad769c668e640b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7e66aeefe6494e" /><Relationship Type="http://schemas.openxmlformats.org/officeDocument/2006/relationships/notesMaster" Target="/ppt/notesMasters/notesMaster1.xml" Id="R55cefdbdc26145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12d614712a4ffc" /><Relationship Type="http://schemas.openxmlformats.org/officeDocument/2006/relationships/notesMaster" Target="/ppt/notesMasters/notesMaster1.xml" Id="R12a07bb231a742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78d1d6e7e8341b3" /><Relationship Type="http://schemas.openxmlformats.org/officeDocument/2006/relationships/notesMaster" Target="/ppt/notesMasters/notesMaster1.xml" Id="R3f186331599940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5c997a2c654c21" /><Relationship Type="http://schemas.openxmlformats.org/officeDocument/2006/relationships/notesMaster" Target="/ppt/notesMasters/notesMaster1.xml" Id="R9b2ae757934746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0b78ec7c564bb1" /><Relationship Type="http://schemas.openxmlformats.org/officeDocument/2006/relationships/notesMaster" Target="/ppt/notesMasters/notesMaster1.xml" Id="R3e76d69c55484c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af963f4710432c" /><Relationship Type="http://schemas.openxmlformats.org/officeDocument/2006/relationships/notesMaster" Target="/ppt/notesMasters/notesMaster1.xml" Id="Raf870182e03544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9668f2b49c4998" /><Relationship Type="http://schemas.openxmlformats.org/officeDocument/2006/relationships/notesMaster" Target="/ppt/notesMasters/notesMaster1.xml" Id="R2efdac55462544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As we've been discussing, consumer sentiment can look much weaker than headline economic indicators suggest. The question is whether economic news helps explain that gap, and whether it adds useful information when predicting sentiment. The dataset here combines national news, local reporting, and forum-submitted stories. That gives a way to examine how different types of coverage relate to sentiment. The main finding is that news tone helps a simple economic model, but that benefit weakens once broader conditions and previous sentiment are included.</a:t>
            </a:r>
          </a:p>
          <a:p xmlns:a="http://schemas.openxmlformats.org/drawingml/2006/main">
            <a:r>
              <a:t>Sources: Report pp. 1-2, outputs/metrics.csv. Economic cutoff 2026-10-16. Revised historical inputs and assumed release buffers. Evaluation dates previously inspected. Automated labels; independent accuracy unverified. Baseline gap since January 2022: -14.85 index points, a model-dependent error. Baseline plot is on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explains the starting point. The dark line shows actual Michigan sentiment, and the green line shows the prediction using unemployment, inflation, and GDP growth. Since January 2022, actual sentiment averages 14.85 index points below that prediction. This shows that the baseline is incomplete. Household pressures, expectations, and other missing influences could contribute, so the gap cannot be attributed to media alone. This chart uses a separate, longer evaluation covering 81 months.</a:t>
            </a:r>
          </a:p>
          <a:p xmlns:a="http://schemas.openxmlformats.org/drawingml/2006/main">
            <a:r>
              <a:t>Sources: outputs/baseline_forecasts.csv and summary.json. Economic cutoff 2026-10-16. Revised historical inputs and assumed release buffers. Evaluation dates previously inspected. Automated labels; independent accuracy unverified. Economic baseline: U3, annual PCE inflation and annualized quarterly GDP. No causal residual share.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analysis uses 670 economic titles. NPR provides national reporting, Colorado Sun provides state-level coverage, and Hacker News contributes forum-submitted stories. This source mix brings together different parts of the economic conversation. Each title receives an automated label for adverse, mixed, or favorable economic conditions. Labels are averaged within each source and then combined with equal source weights to create a monthly tone index. There are 47 balanced media months, but only 45 match finalized sentiment outcomes under the timing rules. The first 24 form the initial training sample, leaving 21 forecast evaluations.</a:t>
            </a:r>
          </a:p>
          <a:p xmlns:a="http://schemas.openxmlformats.org/drawingml/2006/main">
            <a:r>
              <a:t>Sources: outputs/coded_corpus.csv; analyze_integrated_v7.py monthly(); wording_proxies.py. Economic cutoff 2026-10-16. Revised historical inputs and assumed release buffers. Evaluation dates previously inspected. Automated labels; independent accuracy unverified. 691 selected, 21 excluded. Minimum three titles/source/month. Missing windows remain missing. Titles measure content supply. Political mentions and attribution are separate, unvalidated dimensions.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comparison highlights a measurement problem. Agreement with automated references is 68 percent during development, but falls to 53.3 percent on a new set of 300 titles. These are different evaluation sets, so the numbers need that qualification. Still, the result warns against assuming that development performance will carry over to new economic headlines. The primary index uses a separate set of saved automated labels. Its conclusions remain tentative because errors in those labels can affect the monthly index and, in turn, the regression results.</a:t>
            </a:r>
          </a:p>
          <a:p xmlns:a="http://schemas.openxmlformats.org/drawingml/2006/main">
            <a:r>
              <a:t>Sources: outputs/calibration_diagnostics.json; transfer_validation.json; transfer_source_metrics.csv. Economic cutoff 2026-10-16. Revised historical inputs and assumed release buffers. Evaluation dates previously inspected. Automated labels; independent accuracy unverified. Hybrid: semantic random forest plus word/character TF-IDF logistic regression, equally weighted. New reference excluded from training. FinBERT 47.7% on original 300. Repeated primary coding 147/150 agreement measures same-session consistency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comparison helps explain what the tone measure represents. Housing words appear in about 31 percent of Colorado Sun titles, compared with 10 percent of Hacker News titles. Inflation-rate wording shows the opposite pattern: about 20 percent for Hacker News and 3 percent for Colorado Sun. So is that a difference in bias, or in the conditions being covered? A source covering housing hardship may sound negative because the underlying conditions are difficult. Tone therefore needs to be interpreted alongside topic selection. Equal source weights reduce the influence of collection volume, but they cannot remove differences in the issues each source covers.</a:t>
            </a:r>
          </a:p>
          <a:p xmlns:a="http://schemas.openxmlformats.org/drawingml/2006/main">
            <a:r>
              <a:t>Sources: outputs/descriptive_source_measures.csv and wording_proxies.py. Economic cutoff 2026-10-16. Revised historical inputs and assumed release buffers. Evaluation dates previously inspected. Automated labels; independent accuracy unverified. Source counts: Colorado Sun 223, Hacker News 227, NPR 220. Price-level wording shares: 11.7%, 1.8%, 5.0%. These are literal proxies, not independently validated semantic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regression results show why the comparison matters. The simple model uses unemployment, annual PCE inflation, and GDP growth. Adding news tone reduces forecast error from 12.07 to 10.82. That is roughly a 10 percent observed improvement, but its uncertainty interval includes zero. The broader model includes accumulated prices, real-income growth, and historical-era controls. Without tone, its error is 5.82. With tone, error rises slightly to 6.06. Because both use the same controls and evaluation months, this comparison isolates the additional forecasting contribution of tone. The stronger overall performance is already present without it. That substantially weakens the initial interpretation that news provides a distinct predictive signal.</a:t>
            </a:r>
          </a:p>
          <a:p xmlns:a="http://schemas.openxmlformats.org/drawingml/2006/main">
            <a:r>
              <a:t>Sources: outputs/metrics.csv and comparison_tests.csv. Economic cutoff 2026-10-16. Revised historical inputs and assumed release buffers. Evaluation dates previously inspected. Automated labels; independent accuracy unverified. Teal bars include the original automated tone measure. Full controls without tone is the matched ablation for M3.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Previous sentiment makes the test more demanding. Simply predicting last month unchanged gives an error of 4.09. Broader controls plus previous sentiment give 3.98. Adding tone gives 4.32. Recent sentiment therefore provides a strong benchmark that the original news measure does not improve on. One possible explanation is overlapping information: headlines may describe pressures already captured by the economic inputs or previous sentiment. Another is that the tone measure is noisy. The small sample cannot distinguish these explanations confidently. What it does show is that the additional forecasting benefit is not dependable in these comparisons.</a:t>
            </a:r>
          </a:p>
          <a:p xmlns:a="http://schemas.openxmlformats.org/drawingml/2006/main">
            <a:r>
              <a:t>Sources: outputs/metrics.csv. Economic cutoff 2026-10-16. Revised historical inputs and assumed release buffers. Evaluation dates previously inspected. Automated labels; independent accuracy unverified. Last month benchmark has no fitted coefficients. Estimated AR(1) is a separate model and gives 5.12.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factual example explains why tone should not automatically be interpreted as bias. In the July 2020 GDP release, a 32.9 percent annualized decline corresponds to about a 9.5 percent decline over the actual quarter. Both numbers describe the same change, but they can create different impressions without the units. The relevant question is whether the headline supplies enough context to interpret the number correctly. A tone score captures whether the economic direction sounds favorable or adverse. Establishing misleading framing requires a factual benchmark. These selected cases illustrate that distinction, but do not measure how readers respond.</a:t>
            </a:r>
          </a:p>
          <a:p xmlns:a="http://schemas.openxmlformats.org/drawingml/2006/main">
            <a:r>
              <a:t>Sources: outputs/matched_release_cases.csv; BEA July 30 2020 advance GDP release. Economic cutoff 2026-10-16. Revised historical inputs and assumed release buffers. Evaluation dates previously inspected. Automated labels; independent accuracy unverified. Official release: https://www.bea.gov/news/2020/gross-domestic-product-2nd-quarter-2020-advance-estimate-and-annual-update. Quarterly conversion about -9.49%.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Taken together, the results highlight the importance of household conditions, sentiment persistence, and the way news is measured. The source comparison shows that different outlets emphasize different economic pressures. News tone therefore becomes more meaningful when it is interpreted alongside topic selection and factual context. For forecasting, the key lesson is to assess what news adds beyond economic conditions and previous sentiment. Its apparent contribution changes once those stronger comparisons are introduced. The practical value is a framework that combines economic data with headline analysis to monitor changes in the economic conversation and investigate sentiment gaps. That provides a useful foundation for improving the measures and testing future forecasts. Thank you.</a:t>
            </a:r>
          </a:p>
          <a:p xmlns:a="http://schemas.openxmlformats.org/drawingml/2006/main">
            <a:r>
              <a:t>Sources: Report pp. 10-12; outputs/sensitivity_metrics.csv. Economic cutoff 2026-10-16. Revised historical inputs and assumed release buffers. Evaluation dates previously inspected. Automated labels; independent accuracy unverified. Dictionary dynamic RMSE 3.55 versus 3.98 without tone on same 21 dates. Proposed 600 adults, 200 per truthful framing arm. Dashboard supports monitoring, includes preliminary status and missingness.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audit/DIRECT_AI_CODEBOOK_V7.md; outputs/coded_corpus.csv; matched_release_cases.csv. Economic cutoff 2026-10-16. Revised historical inputs and assumed release buffers. Evaluation dates previously inspected. Automated labels; independent accuracy unverified. Source dates, geography tiers, duplicate flags and URLs retained. Archive gaps restrict coverage. Cognitive mechanisms such as confirmation and availability bias require exposure, recall or belief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outputs/model_parameter_audit.csv and analyze_integrated_v7.py. Economic cutoff 2026-10-16. Revised historical inputs and assumed release buffers. Evaluation dates previously inspected. Automated labels; independent accuracy unverified. M3 equation: S = a+b1 U3+b2 PCE12+b3 GDP+b4 Tone(t-2)+b5 PCE36+b6 Income12+b7 Presidency+b8 WebEra+error. Dynamic pair adds S(t-1).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outputs/associations_hac.csv and vif.csv. Economic cutoff 2026-10-16. Revised historical inputs and assumed release buffers. Evaluation dates previously inspected. Automated labels; independent accuracy unverified. Per 0.1 tone, not per percent of Americans. Full-index slopes and economic terms appear in the coefficient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outputs/associations_hac.csv, vif.csv, model_parameter_audit.csv. Economic cutoff 2026-10-16. Revised historical inputs and assumed release buffers. Evaluation dates previously inspected. Automated labels; independent accuracy unverified.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outputs/sensitivity_metrics.csv. Economic cutoff 2026-10-16. Revised historical inputs and assumed release buffers. Evaluation dates previously inspected. Automated labels; independent accuracy unverified. Seasonal terms and the three-month lag also appear in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build_inputs.py, integrated_panel.csv, baseline_forecasts.csv, forecasts.csv. Economic cutoff 2026-10-16. Revised historical inputs and assumed release buffers. Evaluation dates previously inspected. Automated labels; independent accuracy unverified.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outputs/transfer_validation.json; transfer_source_metrics.csv; direct_ai_review_summary.json. Economic cutoff 2026-10-16. Revised historical inputs and assumed release buffers. Evaluation dates previously inspected. Automated labels; independent accuracy unverified. Transfer class supports: adverse118, mixed125, favorable57. Dictionary transfer accuracy43.3% versus automated reference, weak construct agreement. Required two independent human ratings of 300 remain incomplete. Exported 300 automated labels are not independent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a:t>
            </a:r>
          </a:p>
          <a:p xmlns:a="http://schemas.openxmlformats.org/drawingml/2006/main">
            <a:r>
              <a:t>Sources: Report p. 11 causal design. Economic cutoff 2026-10-16. Revised historical inputs and assumed release buffers. Evaluation dates previously inspected. Automated labels; independent accuracy unverified. 600 consenting US adults. Stratify income, prior sentiment and party. Primary price-level versus rate contrast, baseline adjustment, prespecified exclusions and seven-day retention. No experiment has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a43b0fd27748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37ec73017d40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eb840a62d548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bd8b8218a242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f6ee9b52cb4d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f3550e385149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148EBD-36CE-4889-A15C-E25A7986E2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1951873-6EFA-43D8-937A-7EE2805A0D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298A53-2624-421F-9137-83D4860E81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AAB911-20B3-405B-A58C-855E095754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330F8E-4731-493D-8AFD-035989CCD8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B54A08-16E1-45FF-8DDD-87C317A053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404F87-736F-4CE2-8C39-3F74F77D21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849592-6A1E-4784-9A91-66410D4218F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478C8B-1B1F-4F75-8BC8-2A1926E096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D60059-7ED5-42AE-95B3-F4234A092A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119d7536ee42b6" /><Relationship Type="http://schemas.openxmlformats.org/officeDocument/2006/relationships/slideLayout" Target="/ppt/slideLayouts/slideLayout1.xml" Id="R8e28544740e34074" /><Relationship Type="http://schemas.openxmlformats.org/officeDocument/2006/relationships/slideLayout" Target="/ppt/slideLayouts/slideLayout2.xml" Id="Rbb30071b88e34457" /><Relationship Type="http://schemas.openxmlformats.org/officeDocument/2006/relationships/slideLayout" Target="/ppt/slideLayouts/slideLayout3.xml" Id="R0e252d1ff53a4607" /><Relationship Type="http://schemas.openxmlformats.org/officeDocument/2006/relationships/slideLayout" Target="/ppt/slideLayouts/slideLayout4.xml" Id="R123b222e105c497f" /><Relationship Type="http://schemas.openxmlformats.org/officeDocument/2006/relationships/slideLayout" Target="/ppt/slideLayouts/slideLayout5.xml" Id="Rccc7897ded594419" /><Relationship Type="http://schemas.openxmlformats.org/officeDocument/2006/relationships/slideLayout" Target="/ppt/slideLayouts/slideLayout6.xml" Id="R236da3889c4c49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28544740e34074"/>
    <p:sldLayoutId xmlns:r="http://schemas.openxmlformats.org/officeDocument/2006/relationships" id="2147483650" r:id="Rbb30071b88e34457"/>
    <p:sldLayoutId xmlns:r="http://schemas.openxmlformats.org/officeDocument/2006/relationships" id="2147483651" r:id="R0e252d1ff53a4607"/>
    <p:sldLayoutId xmlns:r="http://schemas.openxmlformats.org/officeDocument/2006/relationships" id="2147483652" r:id="R123b222e105c497f"/>
    <p:sldLayoutId xmlns:r="http://schemas.openxmlformats.org/officeDocument/2006/relationships" id="2147483653" r:id="Rccc7897ded594419"/>
    <p:sldLayoutId xmlns:r="http://schemas.openxmlformats.org/officeDocument/2006/relationships" id="2147483654" r:id="R236da3889c4c49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0fe66116384a70" /><Relationship Type="http://schemas.openxmlformats.org/officeDocument/2006/relationships/notesSlide" Target="/ppt/notesSlides/notesSlide1.xml" Id="R7b0c702be8424a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9a763148e414fde" /><Relationship Type="http://schemas.openxmlformats.org/officeDocument/2006/relationships/chart" Target="/ppt/slides/charts/chart1.xml" Id="R3a9ed98007a54ef7" /><Relationship Type="http://schemas.openxmlformats.org/officeDocument/2006/relationships/notesSlide" Target="/ppt/notesSlides/notesSlide2.xml" Id="R7f2a55dd289444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ced12d1b564ac9" /><Relationship Type="http://schemas.openxmlformats.org/officeDocument/2006/relationships/notesSlide" Target="/ppt/notesSlides/notesSlide3.xml" Id="R8f974f2183e841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9fae7cff71448b1" /><Relationship Type="http://schemas.openxmlformats.org/officeDocument/2006/relationships/notesSlide" Target="/ppt/notesSlides/notesSlide4.xml" Id="R0dfc7bc671ca40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4c55dcadf54a31" /><Relationship Type="http://schemas.openxmlformats.org/officeDocument/2006/relationships/chart" Target="/ppt/slides/charts/chart2.xml" Id="R6db379bba365404a" /><Relationship Type="http://schemas.openxmlformats.org/officeDocument/2006/relationships/notesSlide" Target="/ppt/notesSlides/notesSlide5.xml" Id="R70d12147981a4e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f77f9416764138" /><Relationship Type="http://schemas.openxmlformats.org/officeDocument/2006/relationships/chart" Target="/ppt/slides/charts/chart3.xml" Id="R6c2f03e6a1874644" /><Relationship Type="http://schemas.openxmlformats.org/officeDocument/2006/relationships/notesSlide" Target="/ppt/notesSlides/notesSlide6.xml" Id="R807259ddc7b247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0be4a3f20742fa" /><Relationship Type="http://schemas.openxmlformats.org/officeDocument/2006/relationships/chart" Target="/ppt/slides/charts/chart4.xml" Id="R6c669e1695404b9c" /><Relationship Type="http://schemas.openxmlformats.org/officeDocument/2006/relationships/notesSlide" Target="/ppt/notesSlides/notesSlide7.xml" Id="R0c55c67181fd49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5feca4482445fb" /><Relationship Type="http://schemas.openxmlformats.org/officeDocument/2006/relationships/notesSlide" Target="/ppt/notesSlides/notesSlide8.xml" Id="Rcde73ff7f8f94c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1bb2b889e645b3" /><Relationship Type="http://schemas.openxmlformats.org/officeDocument/2006/relationships/notesSlide" Target="/ppt/notesSlides/notesSlide9.xml" Id="Re69bcf41516b4c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2bc12d71e2c4947" /><Relationship Type="http://schemas.openxmlformats.org/officeDocument/2006/relationships/notesSlide" Target="/ppt/notesSlides/notesSlide10.xml" Id="R5978c1fd4c194d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b35d03ec504672" /><Relationship Type="http://schemas.openxmlformats.org/officeDocument/2006/relationships/notesSlide" Target="/ppt/notesSlides/notesSlide11.xml" Id="R0afef420d5ad43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84700f73c1d4bda" /><Relationship Type="http://schemas.openxmlformats.org/officeDocument/2006/relationships/notesSlide" Target="/ppt/notesSlides/notesSlide12.xml" Id="Rc8221e70abff4c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e4cb560e2f4205" /><Relationship Type="http://schemas.openxmlformats.org/officeDocument/2006/relationships/notesSlide" Target="/ppt/notesSlides/notesSlide13.xml" Id="R99f0ba45302841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0e33bcb114443c" /><Relationship Type="http://schemas.openxmlformats.org/officeDocument/2006/relationships/notesSlide" Target="/ppt/notesSlides/notesSlide14.xml" Id="Rda1aeac1264b40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8ff0468df04292" /><Relationship Type="http://schemas.openxmlformats.org/officeDocument/2006/relationships/notesSlide" Target="/ppt/notesSlides/notesSlide15.xml" Id="Rbe69367126b446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1b5c7b60242458c" /><Relationship Type="http://schemas.openxmlformats.org/officeDocument/2006/relationships/notesSlide" Target="/ppt/notesSlides/notesSlide16.xml" Id="R224ed06ea3604a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30febc060134693" /><Relationship Type="http://schemas.openxmlformats.org/officeDocument/2006/relationships/notesSlide" Target="/ppt/notesSlides/notesSlide17.xml" Id="R9a6597c775d743f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Observed sentiment</c:v>
          </c:tx>
          <c:spPr>
            <a:ln xmlns:a="http://schemas.openxmlformats.org/drawingml/2006/main" w="23813">
              <a:solidFill>
                <a:srgbClr val="142B42"/>
              </a:solidFill>
              <a:prstDash val="solid"/>
            </a:ln>
          </c:spPr>
          <c:marker>
            <c:symbol val="none"/>
          </c:marker>
          <c:cat>
            <c:strRef>
              <c:f>'Chart Data'!$A$2:$A$82</c:f>
              <c:strCache>
                <c:ptCount val="81"/>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pt idx="48">
                  <c:v>2024-01</c:v>
                </c:pt>
                <c:pt idx="49">
                  <c:v>2024-02</c:v>
                </c:pt>
                <c:pt idx="50">
                  <c:v>2024-03</c:v>
                </c:pt>
                <c:pt idx="51">
                  <c:v>2024-04</c:v>
                </c:pt>
                <c:pt idx="52">
                  <c:v>2024-05</c:v>
                </c:pt>
                <c:pt idx="53">
                  <c:v>2024-06</c:v>
                </c:pt>
                <c:pt idx="54">
                  <c:v>2024-07</c:v>
                </c:pt>
                <c:pt idx="55">
                  <c:v>2024-08</c:v>
                </c:pt>
                <c:pt idx="56">
                  <c:v>2024-09</c:v>
                </c:pt>
                <c:pt idx="57">
                  <c:v>2024-10</c:v>
                </c:pt>
                <c:pt idx="58">
                  <c:v>2024-11</c:v>
                </c:pt>
                <c:pt idx="59">
                  <c:v>2024-12</c:v>
                </c:pt>
                <c:pt idx="60">
                  <c:v>2025-01</c:v>
                </c:pt>
                <c:pt idx="61">
                  <c:v>2025-02</c:v>
                </c:pt>
                <c:pt idx="62">
                  <c:v>2025-03</c:v>
                </c:pt>
                <c:pt idx="63">
                  <c:v>2025-04</c:v>
                </c:pt>
                <c:pt idx="64">
                  <c:v>2025-05</c:v>
                </c:pt>
                <c:pt idx="65">
                  <c:v>2025-06</c:v>
                </c:pt>
                <c:pt idx="66">
                  <c:v>2025-07</c:v>
                </c:pt>
                <c:pt idx="67">
                  <c:v>2025-08</c:v>
                </c:pt>
                <c:pt idx="68">
                  <c:v>2025-09</c:v>
                </c:pt>
                <c:pt idx="69">
                  <c:v>2025-10</c:v>
                </c:pt>
                <c:pt idx="70">
                  <c:v>2025-11</c:v>
                </c:pt>
                <c:pt idx="71">
                  <c:v>2025-12</c:v>
                </c:pt>
                <c:pt idx="72">
                  <c:v>2026-01</c:v>
                </c:pt>
                <c:pt idx="73">
                  <c:v>2026-02</c:v>
                </c:pt>
                <c:pt idx="74">
                  <c:v>2026-03</c:v>
                </c:pt>
                <c:pt idx="75">
                  <c:v>2026-04</c:v>
                </c:pt>
                <c:pt idx="76">
                  <c:v>2026-05</c:v>
                </c:pt>
                <c:pt idx="77">
                  <c:v>2026-06</c:v>
                </c:pt>
                <c:pt idx="78">
                  <c:v>2026-07</c:v>
                </c:pt>
                <c:pt idx="79">
                  <c:v>2026-08</c:v>
                </c:pt>
                <c:pt idx="80">
                  <c:v>2026-09</c:v>
                </c:pt>
              </c:strCache>
            </c:strRef>
          </c:cat>
          <c:val>
            <c:numRef>
              <c:f>'Chart Data'!$B$2:$B$82</c:f>
              <c:numCache>
                <c:formatCode>General</c:formatCode>
                <c:ptCount val="81"/>
                <c:pt idx="0">
                  <c:v>99.8</c:v>
                </c:pt>
                <c:pt idx="1">
                  <c:v>101</c:v>
                </c:pt>
                <c:pt idx="2">
                  <c:v>89.1</c:v>
                </c:pt>
                <c:pt idx="3">
                  <c:v>71.8</c:v>
                </c:pt>
                <c:pt idx="4">
                  <c:v>72.3</c:v>
                </c:pt>
                <c:pt idx="5">
                  <c:v>78.1</c:v>
                </c:pt>
                <c:pt idx="6">
                  <c:v>72.5</c:v>
                </c:pt>
                <c:pt idx="7">
                  <c:v>74.1</c:v>
                </c:pt>
                <c:pt idx="8">
                  <c:v>80.4</c:v>
                </c:pt>
                <c:pt idx="9">
                  <c:v>81.8</c:v>
                </c:pt>
                <c:pt idx="10">
                  <c:v>76.9</c:v>
                </c:pt>
                <c:pt idx="11">
                  <c:v>80.7</c:v>
                </c:pt>
                <c:pt idx="12">
                  <c:v>79</c:v>
                </c:pt>
                <c:pt idx="13">
                  <c:v>76.8</c:v>
                </c:pt>
                <c:pt idx="14">
                  <c:v>84.9</c:v>
                </c:pt>
                <c:pt idx="15">
                  <c:v>88.3</c:v>
                </c:pt>
                <c:pt idx="16">
                  <c:v>82.9</c:v>
                </c:pt>
                <c:pt idx="17">
                  <c:v>85.5</c:v>
                </c:pt>
                <c:pt idx="18">
                  <c:v>81.2</c:v>
                </c:pt>
                <c:pt idx="19">
                  <c:v>70.3</c:v>
                </c:pt>
                <c:pt idx="20">
                  <c:v>72.8</c:v>
                </c:pt>
                <c:pt idx="21">
                  <c:v>71.7</c:v>
                </c:pt>
                <c:pt idx="22">
                  <c:v>67.4</c:v>
                </c:pt>
                <c:pt idx="23">
                  <c:v>70.6</c:v>
                </c:pt>
                <c:pt idx="24">
                  <c:v>67.2</c:v>
                </c:pt>
                <c:pt idx="25">
                  <c:v>62.8</c:v>
                </c:pt>
                <c:pt idx="26">
                  <c:v>59.4</c:v>
                </c:pt>
                <c:pt idx="27">
                  <c:v>65.2</c:v>
                </c:pt>
                <c:pt idx="28">
                  <c:v>58.4</c:v>
                </c:pt>
                <c:pt idx="29">
                  <c:v>50</c:v>
                </c:pt>
                <c:pt idx="30">
                  <c:v>51.5</c:v>
                </c:pt>
                <c:pt idx="31">
                  <c:v>58.2</c:v>
                </c:pt>
                <c:pt idx="32">
                  <c:v>58.6</c:v>
                </c:pt>
                <c:pt idx="33">
                  <c:v>59.9</c:v>
                </c:pt>
                <c:pt idx="34">
                  <c:v>56.7</c:v>
                </c:pt>
                <c:pt idx="35">
                  <c:v>59.8</c:v>
                </c:pt>
                <c:pt idx="36">
                  <c:v>64.9</c:v>
                </c:pt>
                <c:pt idx="37">
                  <c:v>66.9</c:v>
                </c:pt>
                <c:pt idx="38">
                  <c:v>62</c:v>
                </c:pt>
                <c:pt idx="39">
                  <c:v>63.7</c:v>
                </c:pt>
                <c:pt idx="40">
                  <c:v>59</c:v>
                </c:pt>
                <c:pt idx="41">
                  <c:v>64.2</c:v>
                </c:pt>
                <c:pt idx="42">
                  <c:v>71.5</c:v>
                </c:pt>
                <c:pt idx="43">
                  <c:v>69.4</c:v>
                </c:pt>
                <c:pt idx="44">
                  <c:v>67.8</c:v>
                </c:pt>
                <c:pt idx="45">
                  <c:v>63.8</c:v>
                </c:pt>
                <c:pt idx="46">
                  <c:v>61.3</c:v>
                </c:pt>
                <c:pt idx="47">
                  <c:v>69.7</c:v>
                </c:pt>
                <c:pt idx="48">
                  <c:v>79</c:v>
                </c:pt>
                <c:pt idx="49">
                  <c:v>76.9</c:v>
                </c:pt>
                <c:pt idx="50">
                  <c:v>79.4</c:v>
                </c:pt>
                <c:pt idx="51">
                  <c:v>77.2</c:v>
                </c:pt>
                <c:pt idx="52">
                  <c:v>69.1</c:v>
                </c:pt>
                <c:pt idx="53">
                  <c:v>68.2</c:v>
                </c:pt>
                <c:pt idx="54">
                  <c:v>66.4</c:v>
                </c:pt>
                <c:pt idx="55">
                  <c:v>67.9</c:v>
                </c:pt>
                <c:pt idx="56">
                  <c:v>70.1</c:v>
                </c:pt>
                <c:pt idx="57">
                  <c:v>70.5</c:v>
                </c:pt>
                <c:pt idx="58">
                  <c:v>71.8</c:v>
                </c:pt>
                <c:pt idx="59">
                  <c:v>74</c:v>
                </c:pt>
                <c:pt idx="60">
                  <c:v>71.7</c:v>
                </c:pt>
                <c:pt idx="61">
                  <c:v>64.7</c:v>
                </c:pt>
                <c:pt idx="62">
                  <c:v>57</c:v>
                </c:pt>
                <c:pt idx="63">
                  <c:v>52.2</c:v>
                </c:pt>
                <c:pt idx="64">
                  <c:v>52.2</c:v>
                </c:pt>
                <c:pt idx="65">
                  <c:v>60.7</c:v>
                </c:pt>
                <c:pt idx="66">
                  <c:v>61.7</c:v>
                </c:pt>
                <c:pt idx="67">
                  <c:v>58.2</c:v>
                </c:pt>
                <c:pt idx="68">
                  <c:v>55.1</c:v>
                </c:pt>
                <c:pt idx="69">
                  <c:v>53.6</c:v>
                </c:pt>
                <c:pt idx="70">
                  <c:v>51</c:v>
                </c:pt>
                <c:pt idx="71">
                  <c:v>52.9</c:v>
                </c:pt>
                <c:pt idx="72">
                  <c:v>56.4</c:v>
                </c:pt>
                <c:pt idx="73">
                  <c:v>56.6</c:v>
                </c:pt>
                <c:pt idx="74">
                  <c:v>53.3</c:v>
                </c:pt>
                <c:pt idx="75">
                  <c:v>49.8</c:v>
                </c:pt>
                <c:pt idx="76">
                  <c:v>44.8</c:v>
                </c:pt>
                <c:pt idx="77">
                  <c:v>49.5</c:v>
                </c:pt>
                <c:pt idx="78">
                  <c:v>55.2</c:v>
                </c:pt>
                <c:pt idx="79">
                  <c:v>51.7</c:v>
                </c:pt>
                <c:pt idx="80">
                  <c:v>48.1</c:v>
                </c:pt>
              </c:numCache>
            </c:numRef>
          </c:val>
          <c:smooth val="0"/>
        </c:ser>
        <c:ser>
          <c:idx val="1"/>
          <c:order val="1"/>
          <c:tx>
            <c:v>Economic prediction</c:v>
          </c:tx>
          <c:spPr>
            <a:ln xmlns:a="http://schemas.openxmlformats.org/drawingml/2006/main" w="23813">
              <a:solidFill>
                <a:srgbClr val="007F78"/>
              </a:solidFill>
              <a:prstDash val="solid"/>
            </a:ln>
          </c:spPr>
          <c:marker>
            <c:symbol val="none"/>
          </c:marker>
          <c:cat>
            <c:strRef>
              <c:f>'Chart Data'!$C$2:$C$82</c:f>
              <c:strCache>
                <c:ptCount val="81"/>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pt idx="48">
                  <c:v>2024-01</c:v>
                </c:pt>
                <c:pt idx="49">
                  <c:v>2024-02</c:v>
                </c:pt>
                <c:pt idx="50">
                  <c:v>2024-03</c:v>
                </c:pt>
                <c:pt idx="51">
                  <c:v>2024-04</c:v>
                </c:pt>
                <c:pt idx="52">
                  <c:v>2024-05</c:v>
                </c:pt>
                <c:pt idx="53">
                  <c:v>2024-06</c:v>
                </c:pt>
                <c:pt idx="54">
                  <c:v>2024-07</c:v>
                </c:pt>
                <c:pt idx="55">
                  <c:v>2024-08</c:v>
                </c:pt>
                <c:pt idx="56">
                  <c:v>2024-09</c:v>
                </c:pt>
                <c:pt idx="57">
                  <c:v>2024-10</c:v>
                </c:pt>
                <c:pt idx="58">
                  <c:v>2024-11</c:v>
                </c:pt>
                <c:pt idx="59">
                  <c:v>2024-12</c:v>
                </c:pt>
                <c:pt idx="60">
                  <c:v>2025-01</c:v>
                </c:pt>
                <c:pt idx="61">
                  <c:v>2025-02</c:v>
                </c:pt>
                <c:pt idx="62">
                  <c:v>2025-03</c:v>
                </c:pt>
                <c:pt idx="63">
                  <c:v>2025-04</c:v>
                </c:pt>
                <c:pt idx="64">
                  <c:v>2025-05</c:v>
                </c:pt>
                <c:pt idx="65">
                  <c:v>2025-06</c:v>
                </c:pt>
                <c:pt idx="66">
                  <c:v>2025-07</c:v>
                </c:pt>
                <c:pt idx="67">
                  <c:v>2025-08</c:v>
                </c:pt>
                <c:pt idx="68">
                  <c:v>2025-09</c:v>
                </c:pt>
                <c:pt idx="69">
                  <c:v>2025-10</c:v>
                </c:pt>
                <c:pt idx="70">
                  <c:v>2025-11</c:v>
                </c:pt>
                <c:pt idx="71">
                  <c:v>2025-12</c:v>
                </c:pt>
                <c:pt idx="72">
                  <c:v>2026-01</c:v>
                </c:pt>
                <c:pt idx="73">
                  <c:v>2026-02</c:v>
                </c:pt>
                <c:pt idx="74">
                  <c:v>2026-03</c:v>
                </c:pt>
                <c:pt idx="75">
                  <c:v>2026-04</c:v>
                </c:pt>
                <c:pt idx="76">
                  <c:v>2026-05</c:v>
                </c:pt>
                <c:pt idx="77">
                  <c:v>2026-06</c:v>
                </c:pt>
                <c:pt idx="78">
                  <c:v>2026-07</c:v>
                </c:pt>
                <c:pt idx="79">
                  <c:v>2026-08</c:v>
                </c:pt>
                <c:pt idx="80">
                  <c:v>2026-09</c:v>
                </c:pt>
              </c:strCache>
            </c:strRef>
          </c:cat>
          <c:val>
            <c:numRef>
              <c:f>'Chart Data'!$D$2:$D$82</c:f>
              <c:numCache>
                <c:formatCode>General</c:formatCode>
                <c:ptCount val="81"/>
                <c:pt idx="0">
                  <c:v>101.1509275968</c:v>
                </c:pt>
                <c:pt idx="1">
                  <c:v>100.9667285562</c:v>
                </c:pt>
                <c:pt idx="2">
                  <c:v>98.8065185332</c:v>
                </c:pt>
                <c:pt idx="3">
                  <c:v>98.1308200684</c:v>
                </c:pt>
                <c:pt idx="4">
                  <c:v>98.1161743034</c:v>
                </c:pt>
                <c:pt idx="5">
                  <c:v>87.9194705702</c:v>
                </c:pt>
                <c:pt idx="6">
                  <c:v>42.9942446748</c:v>
                </c:pt>
                <c:pt idx="7">
                  <c:v>56.8276110291</c:v>
                </c:pt>
                <c:pt idx="8">
                  <c:v>57.9815931218</c:v>
                </c:pt>
                <c:pt idx="9">
                  <c:v>75.5045388111</c:v>
                </c:pt>
                <c:pt idx="10">
                  <c:v>84.194758765</c:v>
                </c:pt>
                <c:pt idx="11">
                  <c:v>77.2302873348</c:v>
                </c:pt>
                <c:pt idx="12">
                  <c:v>82.0415030886</c:v>
                </c:pt>
                <c:pt idx="13">
                  <c:v>82.1109509006</c:v>
                </c:pt>
                <c:pt idx="14">
                  <c:v>84.3932275583</c:v>
                </c:pt>
                <c:pt idx="15">
                  <c:v>84.955479077</c:v>
                </c:pt>
                <c:pt idx="16">
                  <c:v>84.7904710505</c:v>
                </c:pt>
                <c:pt idx="17">
                  <c:v>82.0267348385</c:v>
                </c:pt>
                <c:pt idx="18">
                  <c:v>78.9409204925</c:v>
                </c:pt>
                <c:pt idx="19">
                  <c:v>78.9621824759</c:v>
                </c:pt>
                <c:pt idx="20">
                  <c:v>76.7608060614</c:v>
                </c:pt>
                <c:pt idx="21">
                  <c:v>77.6533507204</c:v>
                </c:pt>
                <c:pt idx="22">
                  <c:v>77.6865789722</c:v>
                </c:pt>
                <c:pt idx="23">
                  <c:v>78.0227431711</c:v>
                </c:pt>
                <c:pt idx="24">
                  <c:v>75.2153143295</c:v>
                </c:pt>
                <c:pt idx="25">
                  <c:v>72.8834069744</c:v>
                </c:pt>
                <c:pt idx="26">
                  <c:v>70.8654972499</c:v>
                </c:pt>
                <c:pt idx="27">
                  <c:v>67.9299279002</c:v>
                </c:pt>
                <c:pt idx="28">
                  <c:v>66.4528250168</c:v>
                </c:pt>
                <c:pt idx="29">
                  <c:v>64.7189416086</c:v>
                </c:pt>
                <c:pt idx="30">
                  <c:v>64.4289401313</c:v>
                </c:pt>
                <c:pt idx="31">
                  <c:v>62.4306055155</c:v>
                </c:pt>
                <c:pt idx="32">
                  <c:v>59.1390568221</c:v>
                </c:pt>
                <c:pt idx="33">
                  <c:v>61.7038820402</c:v>
                </c:pt>
                <c:pt idx="34">
                  <c:v>62.3096909073</c:v>
                </c:pt>
                <c:pt idx="35">
                  <c:v>62.0424722701</c:v>
                </c:pt>
                <c:pt idx="36">
                  <c:v>62.741148153</c:v>
                </c:pt>
                <c:pt idx="37">
                  <c:v>65.5404698476</c:v>
                </c:pt>
                <c:pt idx="38">
                  <c:v>69.0569490631</c:v>
                </c:pt>
                <c:pt idx="39">
                  <c:v>69.111424254</c:v>
                </c:pt>
                <c:pt idx="40">
                  <c:v>70.8735162329</c:v>
                </c:pt>
                <c:pt idx="41">
                  <c:v>75.4790114498</c:v>
                </c:pt>
                <c:pt idx="42">
                  <c:v>75.3041520389</c:v>
                </c:pt>
                <c:pt idx="43">
                  <c:v>77.4131255321</c:v>
                </c:pt>
                <c:pt idx="44">
                  <c:v>82.3560531732</c:v>
                </c:pt>
                <c:pt idx="45">
                  <c:v>82.3832585531</c:v>
                </c:pt>
                <c:pt idx="46">
                  <c:v>80.9181190476</c:v>
                </c:pt>
                <c:pt idx="47">
                  <c:v>80.1674657577</c:v>
                </c:pt>
                <c:pt idx="48">
                  <c:v>82.0156027144</c:v>
                </c:pt>
                <c:pt idx="49">
                  <c:v>84.0725455236</c:v>
                </c:pt>
                <c:pt idx="50">
                  <c:v>83.8866908047</c:v>
                </c:pt>
                <c:pt idx="51">
                  <c:v>84.9396057497</c:v>
                </c:pt>
                <c:pt idx="52">
                  <c:v>83.7962491635</c:v>
                </c:pt>
                <c:pt idx="53">
                  <c:v>82.7814941823</c:v>
                </c:pt>
                <c:pt idx="54">
                  <c:v>83.3850914179</c:v>
                </c:pt>
                <c:pt idx="55">
                  <c:v>84.1593174985</c:v>
                </c:pt>
                <c:pt idx="56">
                  <c:v>84.1440400208</c:v>
                </c:pt>
                <c:pt idx="57">
                  <c:v>83.5264166328</c:v>
                </c:pt>
                <c:pt idx="58">
                  <c:v>84.494501308</c:v>
                </c:pt>
                <c:pt idx="59">
                  <c:v>85.905414121</c:v>
                </c:pt>
                <c:pt idx="60">
                  <c:v>84.7987746274</c:v>
                </c:pt>
                <c:pt idx="61">
                  <c:v>83.8083047408</c:v>
                </c:pt>
                <c:pt idx="62">
                  <c:v>82.9098701896</c:v>
                </c:pt>
                <c:pt idx="63">
                  <c:v>83.0725411707</c:v>
                </c:pt>
                <c:pt idx="64">
                  <c:v>82.6110592563</c:v>
                </c:pt>
                <c:pt idx="65">
                  <c:v>84.5716177055</c:v>
                </c:pt>
                <c:pt idx="66">
                  <c:v>83.818778764</c:v>
                </c:pt>
                <c:pt idx="67">
                  <c:v>82.4426780139</c:v>
                </c:pt>
                <c:pt idx="68">
                  <c:v>81.7869155285</c:v>
                </c:pt>
                <c:pt idx="69">
                  <c:v>81.186915938</c:v>
                </c:pt>
                <c:pt idx="70">
                  <c:v>80.2803601933</c:v>
                </c:pt>
                <c:pt idx="71">
                  <c:v>79.2087264283</c:v>
                </c:pt>
                <c:pt idx="72">
                  <c:v>79.8609162403</c:v>
                </c:pt>
                <c:pt idx="73">
                  <c:v>79.0892773935</c:v>
                </c:pt>
                <c:pt idx="74">
                  <c:v>78.7472094346</c:v>
                </c:pt>
                <c:pt idx="75">
                  <c:v>79.0978758818</c:v>
                </c:pt>
                <c:pt idx="76">
                  <c:v>78.1157559163</c:v>
                </c:pt>
                <c:pt idx="77">
                  <c:v>74.3074270947</c:v>
                </c:pt>
                <c:pt idx="78">
                  <c:v>72.6654602715</c:v>
                </c:pt>
                <c:pt idx="79">
                  <c:v>70.7838964883</c:v>
                </c:pt>
                <c:pt idx="80">
                  <c:v>73.3598296315</c:v>
                </c:pt>
              </c:numCache>
            </c:numRef>
          </c:val>
          <c:smooth val="0"/>
        </c:ser>
        <c:smooth val="0"/>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72768"/>
      </c:catAx>
      <c:valAx>
        <c:axId val="48672768"/>
        <c:scaling>
          <c:orientation val="minMax"/>
          <c:max val="110"/>
          <c:min val="30"/>
        </c:scaling>
        <c:delete val="0"/>
        <c:axPos val="l"/>
        <c:numFmt formatCode="General"/>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4768A"/>
              </a:solidFill>
              <a:latin typeface="DejaVu Sans"/>
              <a:ea typeface="DejaVu Sans"/>
              <a:cs typeface="DejaVu Sans"/>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Housing wording</c:v>
          </c:tx>
          <c:spPr>
            <a:solidFill xmlns:a="http://schemas.openxmlformats.org/drawingml/2006/main">
              <a:srgbClr val="142B42"/>
            </a:solidFill>
          </c:spPr>
          <c:invertIfNegative val="0"/>
          <c:cat>
            <c:strRef>
              <c:f>'Chart Data'!$A$2:$A$4</c:f>
              <c:strCache>
                <c:ptCount val="3"/>
                <c:pt idx="0">
                  <c:v>Colorado Sun</c:v>
                </c:pt>
                <c:pt idx="1">
                  <c:v>Hacker News</c:v>
                </c:pt>
                <c:pt idx="2">
                  <c:v>NPR</c:v>
                </c:pt>
              </c:strCache>
            </c:strRef>
          </c:cat>
          <c:val>
            <c:numRef>
              <c:f>'Chart Data'!$B$2:$B$4</c:f>
              <c:numCache>
                <c:formatCode>0%</c:formatCode>
                <c:ptCount val="3"/>
                <c:pt idx="0">
                  <c:v>0.309417</c:v>
                </c:pt>
                <c:pt idx="1">
                  <c:v>0.101322</c:v>
                </c:pt>
                <c:pt idx="2">
                  <c:v>0.131818</c:v>
                </c:pt>
              </c:numCache>
            </c:numRef>
          </c:val>
        </c:ser>
        <c:ser>
          <c:idx val="1"/>
          <c:order val="1"/>
          <c:tx>
            <c:v>Inflation-rate wording</c:v>
          </c:tx>
          <c:spPr>
            <a:solidFill xmlns:a="http://schemas.openxmlformats.org/drawingml/2006/main">
              <a:srgbClr val="007F78"/>
            </a:solidFill>
          </c:spPr>
          <c:invertIfNegative val="0"/>
          <c:cat>
            <c:strRef>
              <c:f>'Chart Data'!$C$2:$C$4</c:f>
              <c:strCache>
                <c:ptCount val="3"/>
                <c:pt idx="0">
                  <c:v>Colorado Sun</c:v>
                </c:pt>
                <c:pt idx="1">
                  <c:v>Hacker News</c:v>
                </c:pt>
                <c:pt idx="2">
                  <c:v>NPR</c:v>
                </c:pt>
              </c:strCache>
            </c:strRef>
          </c:cat>
          <c:val>
            <c:numRef>
              <c:f>'Chart Data'!$D$2:$D$4</c:f>
              <c:numCache>
                <c:formatCode>0%</c:formatCode>
                <c:ptCount val="3"/>
                <c:pt idx="0">
                  <c:v>0.026906</c:v>
                </c:pt>
                <c:pt idx="1">
                  <c:v>0.202643</c:v>
                </c:pt>
                <c:pt idx="2">
                  <c:v>0.059091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142B4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72768"/>
      </c:catAx>
      <c:valAx>
        <c:axId val="48672768"/>
        <c:scaling>
          <c:orientation val="minMax"/>
          <c:max val="0.4"/>
          <c:min val="0"/>
        </c:scaling>
        <c:delete val="0"/>
        <c:axPos val="l"/>
        <c:numFmt formatCode="0%"/>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50112"/>
        <c:crossBetween val="between"/>
        <c:majorUnit val="0.1"/>
      </c:valAx>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64768A"/>
              </a:solidFill>
              <a:latin typeface="DejaVu Sans"/>
              <a:ea typeface="DejaVu Sans"/>
              <a:cs typeface="DejaVu Sans"/>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sentiment points</c:v>
          </c:tx>
          <c:spPr>
            <a:solidFill xmlns:a="http://schemas.openxmlformats.org/drawingml/2006/main">
              <a:srgbClr val="142B42"/>
            </a:solidFill>
          </c:spPr>
          <c:invertIfNegative val="0"/>
          <c:dPt>
            <c:idx val="0"/>
            <c:invertIfNegative val="0"/>
            <c:spPr>
              <a:solidFill xmlns:a="http://schemas.openxmlformats.org/drawingml/2006/main">
                <a:srgbClr val="007F78"/>
              </a:solidFill>
            </c:spPr>
          </c:dPt>
          <c:dPt>
            <c:idx val="1"/>
            <c:invertIfNegative val="0"/>
            <c:spPr>
              <a:solidFill xmlns:a="http://schemas.openxmlformats.org/drawingml/2006/main">
                <a:srgbClr val="142B42"/>
              </a:solidFill>
            </c:spPr>
          </c:dPt>
          <c:dPt>
            <c:idx val="2"/>
            <c:invertIfNegative val="0"/>
            <c:spPr>
              <a:solidFill xmlns:a="http://schemas.openxmlformats.org/drawingml/2006/main">
                <a:srgbClr val="007F78"/>
              </a:solidFill>
            </c:spPr>
          </c:dPt>
          <c:dPt>
            <c:idx val="3"/>
            <c:invertIfNegative val="0"/>
            <c:spPr>
              <a:solidFill xmlns:a="http://schemas.openxmlformats.org/drawingml/2006/main">
                <a:srgbClr val="142B42"/>
              </a:solidFill>
            </c:spPr>
          </c:dPt>
          <c:cat>
            <c:strRef>
              <c:f>'Chart Data'!$A$2:$A$5</c:f>
              <c:strCache>
                <c:ptCount val="4"/>
                <c:pt idx="0">
                  <c:v>Broader controls + tone</c:v>
                </c:pt>
                <c:pt idx="1">
                  <c:v>Broader controls</c:v>
                </c:pt>
                <c:pt idx="2">
                  <c:v>Economics + tone</c:v>
                </c:pt>
                <c:pt idx="3">
                  <c:v>Economics</c:v>
                </c:pt>
              </c:strCache>
            </c:strRef>
          </c:cat>
          <c:val>
            <c:numRef>
              <c:f>'Chart Data'!$B$2:$B$5</c:f>
              <c:numCache>
                <c:formatCode>0.0</c:formatCode>
                <c:ptCount val="4"/>
                <c:pt idx="0">
                  <c:v>6.06</c:v>
                </c:pt>
                <c:pt idx="1">
                  <c:v>5.82</c:v>
                </c:pt>
                <c:pt idx="2">
                  <c:v>10.82</c:v>
                </c:pt>
                <c:pt idx="3">
                  <c:v>12.07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142B4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72768"/>
      </c:catAx>
      <c:valAx>
        <c:axId val="48672768"/>
        <c:scaling>
          <c:orientation val="minMax"/>
          <c:max val="15"/>
          <c:min val="0"/>
        </c:scaling>
        <c:delete val="0"/>
        <c:axPos val="b"/>
        <c:numFmt formatCode="0.0"/>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50112"/>
        <c:crossBetween val="between"/>
        <c:majorUnit val="5"/>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sentiment points</c:v>
          </c:tx>
          <c:spPr>
            <a:solidFill xmlns:a="http://schemas.openxmlformats.org/drawingml/2006/main">
              <a:srgbClr val="142B42"/>
            </a:solidFill>
          </c:spPr>
          <c:invertIfNegative val="0"/>
          <c:dPt>
            <c:idx val="0"/>
            <c:invertIfNegative val="0"/>
            <c:spPr>
              <a:solidFill xmlns:a="http://schemas.openxmlformats.org/drawingml/2006/main">
                <a:srgbClr val="007F78"/>
              </a:solidFill>
            </c:spPr>
          </c:dPt>
          <c:dPt>
            <c:idx val="1"/>
            <c:invertIfNegative val="0"/>
            <c:spPr>
              <a:solidFill xmlns:a="http://schemas.openxmlformats.org/drawingml/2006/main">
                <a:srgbClr val="142B42"/>
              </a:solidFill>
            </c:spPr>
          </c:dPt>
          <c:dPt>
            <c:idx val="2"/>
            <c:invertIfNegative val="0"/>
            <c:spPr>
              <a:solidFill xmlns:a="http://schemas.openxmlformats.org/drawingml/2006/main">
                <a:srgbClr val="142B42"/>
              </a:solidFill>
            </c:spPr>
          </c:dPt>
          <c:cat>
            <c:strRef>
              <c:f>'Chart Data'!$A$2:$A$4</c:f>
              <c:strCache>
                <c:ptCount val="3"/>
                <c:pt idx="0">
                  <c:v>Controls + prior sentiment + tone</c:v>
                </c:pt>
                <c:pt idx="1">
                  <c:v>Controls + prior sentiment</c:v>
                </c:pt>
                <c:pt idx="2">
                  <c:v>Last month unchanged</c:v>
                </c:pt>
              </c:strCache>
            </c:strRef>
          </c:cat>
          <c:val>
            <c:numRef>
              <c:f>'Chart Data'!$B$2:$B$4</c:f>
              <c:numCache>
                <c:formatCode>0.0</c:formatCode>
                <c:ptCount val="3"/>
                <c:pt idx="0">
                  <c:v>4.32</c:v>
                </c:pt>
                <c:pt idx="1">
                  <c:v>3.98</c:v>
                </c:pt>
                <c:pt idx="2">
                  <c:v>4.09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b="1">
                  <a:solidFill>
                    <a:srgbClr val="142B4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72768"/>
      </c:catAx>
      <c:valAx>
        <c:axId val="48672768"/>
        <c:scaling>
          <c:orientation val="minMax"/>
          <c:max val="6"/>
          <c:min val="0"/>
        </c:scaling>
        <c:delete val="0"/>
        <c:axPos val="b"/>
        <c:numFmt formatCode="0.0"/>
        <c:majorTickMark val="none"/>
        <c:minorTickMark val="none"/>
        <c:spPr>
          <a:ln xmlns:a="http://schemas.openxmlformats.org/drawingml/2006/main" w="9525">
            <a:solidFill>
              <a:srgbClr val="DCE6EB"/>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68A"/>
                </a:solidFill>
                <a:latin typeface="DejaVu Sans"/>
                <a:ea typeface="DejaVu Sans"/>
                <a:cs typeface="DejaVu Sans"/>
              </a:defRPr>
            </a:pPr>
          </a:p>
        </c:txPr>
        <c:crossAx val="48650112"/>
        <c:crossBetween val="between"/>
        <c:majorUnit val="1"/>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B42"/>
        </a:solidFill>
      </p:bgPr>
    </p:bg>
    <p:spTree>
      <p:nvGrpSpPr>
        <p:cNvPr id="1" name=""/>
        <p:cNvGrpSpPr/>
        <p:nvPr/>
      </p:nvGrpSpPr>
      <p:grpSpPr>
        <a:xfrm xmlns:a="http://schemas.openxmlformats.org/drawingml/2006/main"/>
      </p:grpSpPr>
      <p:sp>
        <p:nvSpPr>
          <p:cNvPr id="5" name="kicker">
            <a:extLst xmlns:a="http://schemas.openxmlformats.org/drawingml/2006/main">
              <a:ext uri="{FF2B5EF4-FFF2-40B4-BE49-F238E27FC236}">
                <a16:creationId xmlns:a16="http://schemas.microsoft.com/office/drawing/2014/main" id="{E356CA2A-6522-473B-947A-572E6CD6EDEA}"/>
              </a:ext>
            </a:extLst>
          </p:cNvPr>
          <p:cNvSpPr>
            <a:spLocks xmlns:a="http://schemas.openxmlformats.org/drawingml/2006/main" noGrp="1"/>
          </p:cNvSpPr>
          <p:nvPr/>
        </p:nvSpPr>
        <p:spPr>
          <a:xfrm xmlns:a="http://schemas.openxmlformats.org/drawingml/2006/main">
            <a:off x="723900" y="52387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1">
                <a:solidFill>
                  <a:srgbClr val="A4CCC7"/>
                </a:solidFill>
                <a:latin typeface="DejaVu Sans"/>
                <a:ea typeface="DejaVu Sans"/>
                <a:cs typeface="DejaVu Sans"/>
              </a:defRPr>
            </a:defPPr>
            <a:lvl1pPr>
              <a:defRPr sz="1275" b="1">
                <a:solidFill>
                  <a:srgbClr val="A4CCC7"/>
                </a:solidFill>
                <a:latin typeface="DejaVu Sans"/>
                <a:ea typeface="DejaVu Sans"/>
                <a:cs typeface="DejaVu Sans"/>
              </a:defRPr>
            </a:lvl1pPr>
            <a:lvl2pPr>
              <a:defRPr sz="1275" b="1">
                <a:solidFill>
                  <a:srgbClr val="A4CCC7"/>
                </a:solidFill>
                <a:latin typeface="DejaVu Sans"/>
                <a:ea typeface="DejaVu Sans"/>
                <a:cs typeface="DejaVu Sans"/>
              </a:defRPr>
            </a:lvl2pPr>
            <a:lvl3pPr>
              <a:defRPr sz="1275" b="1">
                <a:solidFill>
                  <a:srgbClr val="A4CCC7"/>
                </a:solidFill>
                <a:latin typeface="DejaVu Sans"/>
                <a:ea typeface="DejaVu Sans"/>
                <a:cs typeface="DejaVu Sans"/>
              </a:defRPr>
            </a:lvl3pPr>
            <a:lvl4pPr>
              <a:defRPr sz="1275" b="1">
                <a:solidFill>
                  <a:srgbClr val="A4CCC7"/>
                </a:solidFill>
                <a:latin typeface="DejaVu Sans"/>
                <a:ea typeface="DejaVu Sans"/>
                <a:cs typeface="DejaVu Sans"/>
              </a:defRPr>
            </a:lvl4pPr>
            <a:lvl5pPr>
              <a:defRPr sz="1275" b="1">
                <a:solidFill>
                  <a:srgbClr val="A4CCC7"/>
                </a:solidFill>
                <a:latin typeface="DejaVu Sans"/>
                <a:ea typeface="DejaVu Sans"/>
                <a:cs typeface="DejaVu Sans"/>
              </a:defRPr>
            </a:lvl5pPr>
            <a:lvl6pPr>
              <a:defRPr sz="1275" b="1">
                <a:solidFill>
                  <a:srgbClr val="A4CCC7"/>
                </a:solidFill>
                <a:latin typeface="DejaVu Sans"/>
                <a:ea typeface="DejaVu Sans"/>
                <a:cs typeface="DejaVu Sans"/>
              </a:defRPr>
            </a:lvl6pPr>
            <a:lvl7pPr>
              <a:defRPr sz="1275" b="1">
                <a:solidFill>
                  <a:srgbClr val="A4CCC7"/>
                </a:solidFill>
                <a:latin typeface="DejaVu Sans"/>
                <a:ea typeface="DejaVu Sans"/>
                <a:cs typeface="DejaVu Sans"/>
              </a:defRPr>
            </a:lvl7pPr>
            <a:lvl8pPr>
              <a:defRPr sz="1275" b="1">
                <a:solidFill>
                  <a:srgbClr val="A4CCC7"/>
                </a:solidFill>
                <a:latin typeface="DejaVu Sans"/>
                <a:ea typeface="DejaVu Sans"/>
                <a:cs typeface="DejaVu Sans"/>
              </a:defRPr>
            </a:lvl8pPr>
            <a:lvl9pPr>
              <a:defRPr sz="1275" b="1">
                <a:solidFill>
                  <a:srgbClr val="A4CCC7"/>
                </a:solidFill>
                <a:latin typeface="DejaVu Sans"/>
                <a:ea typeface="DejaVu Sans"/>
                <a:cs typeface="DejaVu Sans"/>
              </a:defRPr>
            </a:lvl9pPr>
          </a:lstStyle>
          <a:p xmlns:a="http://schemas.openxmlformats.org/drawingml/2006/main">
            <a:pPr>
              <a:defRPr sz="1275" b="1">
                <a:solidFill>
                  <a:srgbClr val="A4CCC7"/>
                </a:solidFill>
                <a:latin typeface="DejaVu Sans"/>
                <a:ea typeface="DejaVu Sans"/>
                <a:cs typeface="DejaVu Sans"/>
              </a:defRPr>
            </a:pPr>
            <a:r>
              <a:rPr sz="1275" b="1">
                <a:solidFill>
                  <a:srgbClr val="A4CCC7"/>
                </a:solidFill>
                <a:latin typeface="DejaVu Sans"/>
                <a:ea typeface="DejaVu Sans"/>
                <a:cs typeface="DejaVu Sans"/>
              </a:rPr>
              <a:t>ECONOMIC NEWS AND CONSUMER SENTIMENT</a:t>
            </a:r>
          </a:p>
        </p:txBody>
      </p:sp>
      <p:sp>
        <p:nvSpPr>
          <p:cNvPr id="2" name="cover">
            <a:extLst xmlns:a="http://schemas.openxmlformats.org/drawingml/2006/main">
              <a:ext uri="{FF2B5EF4-FFF2-40B4-BE49-F238E27FC236}">
                <a16:creationId xmlns:a16="http://schemas.microsoft.com/office/drawing/2014/main" id="{54E8FE0D-A02C-423E-943E-7C6E24167876}"/>
              </a:ext>
            </a:extLst>
          </p:cNvPr>
          <p:cNvSpPr>
            <a:spLocks xmlns:a="http://schemas.openxmlformats.org/drawingml/2006/main" noGrp="1"/>
          </p:cNvSpPr>
          <p:nvPr/>
        </p:nvSpPr>
        <p:spPr>
          <a:xfrm xmlns:a="http://schemas.openxmlformats.org/drawingml/2006/main">
            <a:off x="723900" y="1524000"/>
            <a:ext cx="10668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350" b="1">
                <a:solidFill>
                  <a:srgbClr val="FFFFFF"/>
                </a:solidFill>
                <a:latin typeface="DejaVu Sans"/>
                <a:ea typeface="DejaVu Sans"/>
                <a:cs typeface="DejaVu Sans"/>
              </a:defRPr>
            </a:defPPr>
            <a:lvl1pPr>
              <a:defRPr sz="4350" b="1">
                <a:solidFill>
                  <a:srgbClr val="FFFFFF"/>
                </a:solidFill>
                <a:latin typeface="DejaVu Sans"/>
                <a:ea typeface="DejaVu Sans"/>
                <a:cs typeface="DejaVu Sans"/>
              </a:defRPr>
            </a:lvl1pPr>
            <a:lvl2pPr>
              <a:defRPr sz="4350" b="1">
                <a:solidFill>
                  <a:srgbClr val="FFFFFF"/>
                </a:solidFill>
                <a:latin typeface="DejaVu Sans"/>
                <a:ea typeface="DejaVu Sans"/>
                <a:cs typeface="DejaVu Sans"/>
              </a:defRPr>
            </a:lvl2pPr>
            <a:lvl3pPr>
              <a:defRPr sz="4350" b="1">
                <a:solidFill>
                  <a:srgbClr val="FFFFFF"/>
                </a:solidFill>
                <a:latin typeface="DejaVu Sans"/>
                <a:ea typeface="DejaVu Sans"/>
                <a:cs typeface="DejaVu Sans"/>
              </a:defRPr>
            </a:lvl3pPr>
            <a:lvl4pPr>
              <a:defRPr sz="4350" b="1">
                <a:solidFill>
                  <a:srgbClr val="FFFFFF"/>
                </a:solidFill>
                <a:latin typeface="DejaVu Sans"/>
                <a:ea typeface="DejaVu Sans"/>
                <a:cs typeface="DejaVu Sans"/>
              </a:defRPr>
            </a:lvl4pPr>
            <a:lvl5pPr>
              <a:defRPr sz="4350" b="1">
                <a:solidFill>
                  <a:srgbClr val="FFFFFF"/>
                </a:solidFill>
                <a:latin typeface="DejaVu Sans"/>
                <a:ea typeface="DejaVu Sans"/>
                <a:cs typeface="DejaVu Sans"/>
              </a:defRPr>
            </a:lvl5pPr>
            <a:lvl6pPr>
              <a:defRPr sz="4350" b="1">
                <a:solidFill>
                  <a:srgbClr val="FFFFFF"/>
                </a:solidFill>
                <a:latin typeface="DejaVu Sans"/>
                <a:ea typeface="DejaVu Sans"/>
                <a:cs typeface="DejaVu Sans"/>
              </a:defRPr>
            </a:lvl6pPr>
            <a:lvl7pPr>
              <a:defRPr sz="4350" b="1">
                <a:solidFill>
                  <a:srgbClr val="FFFFFF"/>
                </a:solidFill>
                <a:latin typeface="DejaVu Sans"/>
                <a:ea typeface="DejaVu Sans"/>
                <a:cs typeface="DejaVu Sans"/>
              </a:defRPr>
            </a:lvl7pPr>
            <a:lvl8pPr>
              <a:defRPr sz="4350" b="1">
                <a:solidFill>
                  <a:srgbClr val="FFFFFF"/>
                </a:solidFill>
                <a:latin typeface="DejaVu Sans"/>
                <a:ea typeface="DejaVu Sans"/>
                <a:cs typeface="DejaVu Sans"/>
              </a:defRPr>
            </a:lvl8pPr>
            <a:lvl9pPr>
              <a:defRPr sz="4350" b="1">
                <a:solidFill>
                  <a:srgbClr val="FFFFFF"/>
                </a:solidFill>
                <a:latin typeface="DejaVu Sans"/>
                <a:ea typeface="DejaVu Sans"/>
                <a:cs typeface="DejaVu Sans"/>
              </a:defRPr>
            </a:lvl9pPr>
          </a:lstStyle>
          <a:p xmlns:a="http://schemas.openxmlformats.org/drawingml/2006/main">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Consumer sentiment</a:t>
            </a:r>
          </a:p>
          <a:p xmlns:a="http://schemas.openxmlformats.org/drawingml/2006/main">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and economic narratives</a:t>
            </a:r>
          </a:p>
        </p:txBody>
      </p:sp>
      <p:sp>
        <p:nvSpPr>
          <p:cNvPr id="3" name="finding">
            <a:extLst xmlns:a="http://schemas.openxmlformats.org/drawingml/2006/main">
              <a:ext uri="{FF2B5EF4-FFF2-40B4-BE49-F238E27FC236}">
                <a16:creationId xmlns:a16="http://schemas.microsoft.com/office/drawing/2014/main" id="{13E9A8D1-566F-4B02-A539-7FF2CD306636}"/>
              </a:ext>
            </a:extLst>
          </p:cNvPr>
          <p:cNvSpPr>
            <a:spLocks xmlns:a="http://schemas.openxmlformats.org/drawingml/2006/main" noGrp="1"/>
          </p:cNvSpPr>
          <p:nvPr/>
        </p:nvSpPr>
        <p:spPr>
          <a:xfrm xmlns:a="http://schemas.openxmlformats.org/drawingml/2006/main">
            <a:off x="762000" y="3752850"/>
            <a:ext cx="1047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400" b="0">
                <a:solidFill>
                  <a:srgbClr val="BDE1DB"/>
                </a:solidFill>
                <a:latin typeface="DejaVu Sans"/>
                <a:ea typeface="DejaVu Sans"/>
                <a:cs typeface="DejaVu Sans"/>
              </a:defRPr>
            </a:defPPr>
            <a:lvl1pPr>
              <a:defRPr sz="2400" b="0">
                <a:solidFill>
                  <a:srgbClr val="BDE1DB"/>
                </a:solidFill>
                <a:latin typeface="DejaVu Sans"/>
                <a:ea typeface="DejaVu Sans"/>
                <a:cs typeface="DejaVu Sans"/>
              </a:defRPr>
            </a:lvl1pPr>
            <a:lvl2pPr>
              <a:defRPr sz="2400" b="0">
                <a:solidFill>
                  <a:srgbClr val="BDE1DB"/>
                </a:solidFill>
                <a:latin typeface="DejaVu Sans"/>
                <a:ea typeface="DejaVu Sans"/>
                <a:cs typeface="DejaVu Sans"/>
              </a:defRPr>
            </a:lvl2pPr>
            <a:lvl3pPr>
              <a:defRPr sz="2400" b="0">
                <a:solidFill>
                  <a:srgbClr val="BDE1DB"/>
                </a:solidFill>
                <a:latin typeface="DejaVu Sans"/>
                <a:ea typeface="DejaVu Sans"/>
                <a:cs typeface="DejaVu Sans"/>
              </a:defRPr>
            </a:lvl3pPr>
            <a:lvl4pPr>
              <a:defRPr sz="2400" b="0">
                <a:solidFill>
                  <a:srgbClr val="BDE1DB"/>
                </a:solidFill>
                <a:latin typeface="DejaVu Sans"/>
                <a:ea typeface="DejaVu Sans"/>
                <a:cs typeface="DejaVu Sans"/>
              </a:defRPr>
            </a:lvl4pPr>
            <a:lvl5pPr>
              <a:defRPr sz="2400" b="0">
                <a:solidFill>
                  <a:srgbClr val="BDE1DB"/>
                </a:solidFill>
                <a:latin typeface="DejaVu Sans"/>
                <a:ea typeface="DejaVu Sans"/>
                <a:cs typeface="DejaVu Sans"/>
              </a:defRPr>
            </a:lvl5pPr>
            <a:lvl6pPr>
              <a:defRPr sz="2400" b="0">
                <a:solidFill>
                  <a:srgbClr val="BDE1DB"/>
                </a:solidFill>
                <a:latin typeface="DejaVu Sans"/>
                <a:ea typeface="DejaVu Sans"/>
                <a:cs typeface="DejaVu Sans"/>
              </a:defRPr>
            </a:lvl6pPr>
            <a:lvl7pPr>
              <a:defRPr sz="2400" b="0">
                <a:solidFill>
                  <a:srgbClr val="BDE1DB"/>
                </a:solidFill>
                <a:latin typeface="DejaVu Sans"/>
                <a:ea typeface="DejaVu Sans"/>
                <a:cs typeface="DejaVu Sans"/>
              </a:defRPr>
            </a:lvl7pPr>
            <a:lvl8pPr>
              <a:defRPr sz="2400" b="0">
                <a:solidFill>
                  <a:srgbClr val="BDE1DB"/>
                </a:solidFill>
                <a:latin typeface="DejaVu Sans"/>
                <a:ea typeface="DejaVu Sans"/>
                <a:cs typeface="DejaVu Sans"/>
              </a:defRPr>
            </a:lvl8pPr>
            <a:lvl9pPr>
              <a:defRPr sz="2400" b="0">
                <a:solidFill>
                  <a:srgbClr val="BDE1DB"/>
                </a:solidFill>
                <a:latin typeface="DejaVu Sans"/>
                <a:ea typeface="DejaVu Sans"/>
                <a:cs typeface="DejaVu Sans"/>
              </a:defRPr>
            </a:lvl9pPr>
          </a:lstStyle>
          <a:p xmlns:a="http://schemas.openxmlformats.org/drawingml/2006/main">
            <a:pPr>
              <a:defRPr sz="2400" b="0">
                <a:solidFill>
                  <a:srgbClr val="BDE1DB"/>
                </a:solidFill>
                <a:latin typeface="DejaVu Sans"/>
                <a:ea typeface="DejaVu Sans"/>
                <a:cs typeface="DejaVu Sans"/>
              </a:defRPr>
            </a:pPr>
            <a:r>
              <a:rPr sz="2400" b="0">
                <a:solidFill>
                  <a:srgbClr val="BDE1DB"/>
                </a:solidFill>
                <a:latin typeface="DejaVu Sans"/>
                <a:ea typeface="DejaVu Sans"/>
                <a:cs typeface="DejaVu Sans"/>
              </a:rPr>
              <a:t>Original tone adds little beyond broader controls</a:t>
            </a:r>
          </a:p>
        </p:txBody>
      </p:sp>
      <p:sp>
        <p:nvSpPr>
          <p:cNvPr id="4" name="author">
            <a:extLst xmlns:a="http://schemas.openxmlformats.org/drawingml/2006/main">
              <a:ext uri="{FF2B5EF4-FFF2-40B4-BE49-F238E27FC236}">
                <a16:creationId xmlns:a16="http://schemas.microsoft.com/office/drawing/2014/main" id="{285C1B3A-71E8-4A2E-AAB2-19D8088DC5FD}"/>
              </a:ext>
            </a:extLst>
          </p:cNvPr>
          <p:cNvSpPr>
            <a:spLocks xmlns:a="http://schemas.openxmlformats.org/drawingml/2006/main" noGrp="1"/>
          </p:cNvSpPr>
          <p:nvPr/>
        </p:nvSpPr>
        <p:spPr>
          <a:xfrm xmlns:a="http://schemas.openxmlformats.org/drawingml/2006/main">
            <a:off x="762000" y="5314950"/>
            <a:ext cx="1047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725" b="0">
                <a:solidFill>
                  <a:srgbClr val="FFFFFF"/>
                </a:solidFill>
                <a:latin typeface="DejaVu Sans"/>
                <a:ea typeface="DejaVu Sans"/>
                <a:cs typeface="DejaVu Sans"/>
              </a:defRPr>
            </a:defPPr>
            <a:lvl1pPr>
              <a:defRPr sz="1725" b="0">
                <a:solidFill>
                  <a:srgbClr val="FFFFFF"/>
                </a:solidFill>
                <a:latin typeface="DejaVu Sans"/>
                <a:ea typeface="DejaVu Sans"/>
                <a:cs typeface="DejaVu Sans"/>
              </a:defRPr>
            </a:lvl1pPr>
            <a:lvl2pPr>
              <a:defRPr sz="1725" b="0">
                <a:solidFill>
                  <a:srgbClr val="FFFFFF"/>
                </a:solidFill>
                <a:latin typeface="DejaVu Sans"/>
                <a:ea typeface="DejaVu Sans"/>
                <a:cs typeface="DejaVu Sans"/>
              </a:defRPr>
            </a:lvl2pPr>
            <a:lvl3pPr>
              <a:defRPr sz="1725" b="0">
                <a:solidFill>
                  <a:srgbClr val="FFFFFF"/>
                </a:solidFill>
                <a:latin typeface="DejaVu Sans"/>
                <a:ea typeface="DejaVu Sans"/>
                <a:cs typeface="DejaVu Sans"/>
              </a:defRPr>
            </a:lvl3pPr>
            <a:lvl4pPr>
              <a:defRPr sz="1725" b="0">
                <a:solidFill>
                  <a:srgbClr val="FFFFFF"/>
                </a:solidFill>
                <a:latin typeface="DejaVu Sans"/>
                <a:ea typeface="DejaVu Sans"/>
                <a:cs typeface="DejaVu Sans"/>
              </a:defRPr>
            </a:lvl4pPr>
            <a:lvl5pPr>
              <a:defRPr sz="1725" b="0">
                <a:solidFill>
                  <a:srgbClr val="FFFFFF"/>
                </a:solidFill>
                <a:latin typeface="DejaVu Sans"/>
                <a:ea typeface="DejaVu Sans"/>
                <a:cs typeface="DejaVu Sans"/>
              </a:defRPr>
            </a:lvl5pPr>
            <a:lvl6pPr>
              <a:defRPr sz="1725" b="0">
                <a:solidFill>
                  <a:srgbClr val="FFFFFF"/>
                </a:solidFill>
                <a:latin typeface="DejaVu Sans"/>
                <a:ea typeface="DejaVu Sans"/>
                <a:cs typeface="DejaVu Sans"/>
              </a:defRPr>
            </a:lvl6pPr>
            <a:lvl7pPr>
              <a:defRPr sz="1725" b="0">
                <a:solidFill>
                  <a:srgbClr val="FFFFFF"/>
                </a:solidFill>
                <a:latin typeface="DejaVu Sans"/>
                <a:ea typeface="DejaVu Sans"/>
                <a:cs typeface="DejaVu Sans"/>
              </a:defRPr>
            </a:lvl7pPr>
            <a:lvl8pPr>
              <a:defRPr sz="1725" b="0">
                <a:solidFill>
                  <a:srgbClr val="FFFFFF"/>
                </a:solidFill>
                <a:latin typeface="DejaVu Sans"/>
                <a:ea typeface="DejaVu Sans"/>
                <a:cs typeface="DejaVu Sans"/>
              </a:defRPr>
            </a:lvl8pPr>
            <a:lvl9pPr>
              <a:defRPr sz="1725" b="0">
                <a:solidFill>
                  <a:srgbClr val="FFFFFF"/>
                </a:solidFill>
                <a:latin typeface="DejaVu Sans"/>
                <a:ea typeface="DejaVu Sans"/>
                <a:cs typeface="DejaVu Sans"/>
              </a:defRPr>
            </a:lvl9pPr>
          </a:lstStyle>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Khushi Khanna</a:t>
            </a:r>
          </a:p>
          <a:p xmlns:a="http://schemas.openxmlformats.org/drawingml/2006/main">
            <a:pPr>
              <a:defRPr sz="1725" b="0">
                <a:solidFill>
                  <a:srgbClr val="FFFFFF"/>
                </a:solidFill>
                <a:latin typeface="DejaVu Sans"/>
                <a:ea typeface="DejaVu Sans"/>
                <a:cs typeface="DejaVu Sans"/>
              </a:defRPr>
            </a:pPr>
            <a:r>
              <a:rPr sz="1725" b="0">
                <a:solidFill>
                  <a:srgbClr val="FFFFFF"/>
                </a:solidFill>
                <a:latin typeface="DejaVu Sans"/>
                <a:ea typeface="DejaVu Sans"/>
                <a:cs typeface="DejaVu Sans"/>
              </a:rPr>
              <a:t>FRE-GY 7871A / October 18, 2026</a:t>
            </a:r>
          </a:p>
        </p:txBody>
      </p:sp>
    </p:spTree>
    <p:extLst>
      <p:ext uri="{BB962C8B-B14F-4D97-AF65-F5344CB8AC3E}">
        <p14:creationId xmlns:p14="http://schemas.microsoft.com/office/powerpoint/2010/main" val="1516232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AA177CF3-1203-4FDE-80AA-D58AC4CE52EB}"/>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ECONOMIC CONTEXT</a:t>
            </a:r>
          </a:p>
        </p:txBody>
      </p:sp>
      <p:sp>
        <p:nvSpPr>
          <p:cNvPr id="2" name="title">
            <a:extLst xmlns:a="http://schemas.openxmlformats.org/drawingml/2006/main">
              <a:ext uri="{FF2B5EF4-FFF2-40B4-BE49-F238E27FC236}">
                <a16:creationId xmlns:a16="http://schemas.microsoft.com/office/drawing/2014/main" id="{6D2F384B-C10E-41DE-BEE2-A23C6A23F3F8}"/>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Consumers feel worse than the baseline predicts</a:t>
            </a:r>
          </a:p>
        </p:txBody>
      </p:sp>
      <p:sp>
        <p:nvSpPr>
          <p:cNvPr id="3" name="page">
            <a:extLst xmlns:a="http://schemas.openxmlformats.org/drawingml/2006/main">
              <a:ext uri="{FF2B5EF4-FFF2-40B4-BE49-F238E27FC236}">
                <a16:creationId xmlns:a16="http://schemas.microsoft.com/office/drawing/2014/main" id="{E9B531C0-2A5A-4E27-8280-4BC07BB2F4B0}"/>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02</a:t>
            </a:r>
          </a:p>
        </p:txBody>
      </p:sp>
      <p:graphicFrame>
        <p:nvGraphicFramePr>
          <p:cNvPr id="4" name="Chart">
            <a:extLst xmlns:a="http://schemas.openxmlformats.org/drawingml/2006/main">
              <a:ext uri="{FF2B5EF4-FFF2-40B4-BE49-F238E27FC236}">
                <a16:creationId xmlns:a16="http://schemas.microsoft.com/office/drawing/2014/main" id="{5CA5EF36-1552-4E80-98C6-1A6CE827FD92}"/>
              </a:ext>
            </a:extLst>
          </p:cNvPr>
          <p:cNvGraphicFramePr/>
          <p:nvPr/>
        </p:nvGraphicFramePr>
        <p:xfrm>
          <a:off xmlns:a="http://schemas.openxmlformats.org/drawingml/2006/main" x="666750" y="1885950"/>
          <a:ext xmlns:a="http://schemas.openxmlformats.org/drawingml/2006/main" cx="7905750" cy="3286125"/>
        </p:xfrm>
        <a:graphic xmlns:a="http://schemas.openxmlformats.org/drawingml/2006/main">
          <a:graphicData uri="http://schemas.openxmlformats.org/drawingml/2006/chart">
            <c:chart xmlns:r="http://schemas.openxmlformats.org/officeDocument/2006/relationships" xmlns:c="http://schemas.openxmlformats.org/drawingml/2006/chart" r:id="R3a9ed98007a54ef7"/>
          </a:graphicData>
        </a:graphic>
      </p:graphicFrame>
      <p:sp>
        <p:nvSpPr>
          <p:cNvPr id="5" name="first date">
            <a:extLst xmlns:a="http://schemas.openxmlformats.org/drawingml/2006/main">
              <a:ext uri="{FF2B5EF4-FFF2-40B4-BE49-F238E27FC236}">
                <a16:creationId xmlns:a16="http://schemas.microsoft.com/office/drawing/2014/main" id="{F7A079FD-3DE9-48FF-8103-A9BF8AA0025C}"/>
              </a:ext>
            </a:extLst>
          </p:cNvPr>
          <p:cNvSpPr>
            <a:spLocks xmlns:a="http://schemas.openxmlformats.org/drawingml/2006/main" noGrp="1"/>
          </p:cNvSpPr>
          <p:nvPr/>
        </p:nvSpPr>
        <p:spPr>
          <a:xfrm xmlns:a="http://schemas.openxmlformats.org/drawingml/2006/main">
            <a:off x="1266825" y="45720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4768A"/>
                </a:solidFill>
                <a:latin typeface="DejaVu Sans"/>
                <a:ea typeface="DejaVu Sans"/>
                <a:cs typeface="DejaVu Sans"/>
              </a:defRPr>
            </a:defPPr>
            <a:lvl1pPr>
              <a:defRPr sz="1275" b="0">
                <a:solidFill>
                  <a:srgbClr val="64768A"/>
                </a:solidFill>
                <a:latin typeface="DejaVu Sans"/>
                <a:ea typeface="DejaVu Sans"/>
                <a:cs typeface="DejaVu Sans"/>
              </a:defRPr>
            </a:lvl1pPr>
            <a:lvl2pPr>
              <a:defRPr sz="1275" b="0">
                <a:solidFill>
                  <a:srgbClr val="64768A"/>
                </a:solidFill>
                <a:latin typeface="DejaVu Sans"/>
                <a:ea typeface="DejaVu Sans"/>
                <a:cs typeface="DejaVu Sans"/>
              </a:defRPr>
            </a:lvl2pPr>
            <a:lvl3pPr>
              <a:defRPr sz="1275" b="0">
                <a:solidFill>
                  <a:srgbClr val="64768A"/>
                </a:solidFill>
                <a:latin typeface="DejaVu Sans"/>
                <a:ea typeface="DejaVu Sans"/>
                <a:cs typeface="DejaVu Sans"/>
              </a:defRPr>
            </a:lvl3pPr>
            <a:lvl4pPr>
              <a:defRPr sz="1275" b="0">
                <a:solidFill>
                  <a:srgbClr val="64768A"/>
                </a:solidFill>
                <a:latin typeface="DejaVu Sans"/>
                <a:ea typeface="DejaVu Sans"/>
                <a:cs typeface="DejaVu Sans"/>
              </a:defRPr>
            </a:lvl4pPr>
            <a:lvl5pPr>
              <a:defRPr sz="1275" b="0">
                <a:solidFill>
                  <a:srgbClr val="64768A"/>
                </a:solidFill>
                <a:latin typeface="DejaVu Sans"/>
                <a:ea typeface="DejaVu Sans"/>
                <a:cs typeface="DejaVu Sans"/>
              </a:defRPr>
            </a:lvl5pPr>
            <a:lvl6pPr>
              <a:defRPr sz="1275" b="0">
                <a:solidFill>
                  <a:srgbClr val="64768A"/>
                </a:solidFill>
                <a:latin typeface="DejaVu Sans"/>
                <a:ea typeface="DejaVu Sans"/>
                <a:cs typeface="DejaVu Sans"/>
              </a:defRPr>
            </a:lvl6pPr>
            <a:lvl7pPr>
              <a:defRPr sz="1275" b="0">
                <a:solidFill>
                  <a:srgbClr val="64768A"/>
                </a:solidFill>
                <a:latin typeface="DejaVu Sans"/>
                <a:ea typeface="DejaVu Sans"/>
                <a:cs typeface="DejaVu Sans"/>
              </a:defRPr>
            </a:lvl7pPr>
            <a:lvl8pPr>
              <a:defRPr sz="1275" b="0">
                <a:solidFill>
                  <a:srgbClr val="64768A"/>
                </a:solidFill>
                <a:latin typeface="DejaVu Sans"/>
                <a:ea typeface="DejaVu Sans"/>
                <a:cs typeface="DejaVu Sans"/>
              </a:defRPr>
            </a:lvl8pPr>
            <a:lvl9pPr>
              <a:defRPr sz="1275" b="0">
                <a:solidFill>
                  <a:srgbClr val="64768A"/>
                </a:solidFill>
                <a:latin typeface="DejaVu Sans"/>
                <a:ea typeface="DejaVu Sans"/>
                <a:cs typeface="DejaVu Sans"/>
              </a:defRPr>
            </a:lvl9pPr>
          </a:lstStyle>
          <a:p xmlns:a="http://schemas.openxmlformats.org/drawingml/2006/main">
            <a:pPr>
              <a:defRPr sz="1275" b="0">
                <a:solidFill>
                  <a:srgbClr val="64768A"/>
                </a:solidFill>
                <a:latin typeface="DejaVu Sans"/>
                <a:ea typeface="DejaVu Sans"/>
                <a:cs typeface="DejaVu Sans"/>
              </a:defRPr>
            </a:pPr>
            <a:r>
              <a:rPr sz="1275" b="0">
                <a:solidFill>
                  <a:srgbClr val="64768A"/>
                </a:solidFill>
                <a:latin typeface="DejaVu Sans"/>
                <a:ea typeface="DejaVu Sans"/>
                <a:cs typeface="DejaVu Sans"/>
              </a:rPr>
              <a:t>Jan 2020</a:t>
            </a:r>
          </a:p>
        </p:txBody>
      </p:sp>
      <p:sp>
        <p:nvSpPr>
          <p:cNvPr id="6" name="last date">
            <a:extLst xmlns:a="http://schemas.openxmlformats.org/drawingml/2006/main">
              <a:ext uri="{FF2B5EF4-FFF2-40B4-BE49-F238E27FC236}">
                <a16:creationId xmlns:a16="http://schemas.microsoft.com/office/drawing/2014/main" id="{435E0D8A-0F65-4134-B1CD-CCB69308A6C0}"/>
              </a:ext>
            </a:extLst>
          </p:cNvPr>
          <p:cNvSpPr>
            <a:spLocks xmlns:a="http://schemas.openxmlformats.org/drawingml/2006/main" noGrp="1"/>
          </p:cNvSpPr>
          <p:nvPr/>
        </p:nvSpPr>
        <p:spPr>
          <a:xfrm xmlns:a="http://schemas.openxmlformats.org/drawingml/2006/main">
            <a:off x="7277100" y="45720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75" b="0">
                <a:solidFill>
                  <a:srgbClr val="64768A"/>
                </a:solidFill>
                <a:latin typeface="DejaVu Sans"/>
                <a:ea typeface="DejaVu Sans"/>
                <a:cs typeface="DejaVu Sans"/>
              </a:defRPr>
            </a:defPPr>
            <a:lvl1pPr>
              <a:defRPr sz="1275" b="0">
                <a:solidFill>
                  <a:srgbClr val="64768A"/>
                </a:solidFill>
                <a:latin typeface="DejaVu Sans"/>
                <a:ea typeface="DejaVu Sans"/>
                <a:cs typeface="DejaVu Sans"/>
              </a:defRPr>
            </a:lvl1pPr>
            <a:lvl2pPr>
              <a:defRPr sz="1275" b="0">
                <a:solidFill>
                  <a:srgbClr val="64768A"/>
                </a:solidFill>
                <a:latin typeface="DejaVu Sans"/>
                <a:ea typeface="DejaVu Sans"/>
                <a:cs typeface="DejaVu Sans"/>
              </a:defRPr>
            </a:lvl2pPr>
            <a:lvl3pPr>
              <a:defRPr sz="1275" b="0">
                <a:solidFill>
                  <a:srgbClr val="64768A"/>
                </a:solidFill>
                <a:latin typeface="DejaVu Sans"/>
                <a:ea typeface="DejaVu Sans"/>
                <a:cs typeface="DejaVu Sans"/>
              </a:defRPr>
            </a:lvl3pPr>
            <a:lvl4pPr>
              <a:defRPr sz="1275" b="0">
                <a:solidFill>
                  <a:srgbClr val="64768A"/>
                </a:solidFill>
                <a:latin typeface="DejaVu Sans"/>
                <a:ea typeface="DejaVu Sans"/>
                <a:cs typeface="DejaVu Sans"/>
              </a:defRPr>
            </a:lvl4pPr>
            <a:lvl5pPr>
              <a:defRPr sz="1275" b="0">
                <a:solidFill>
                  <a:srgbClr val="64768A"/>
                </a:solidFill>
                <a:latin typeface="DejaVu Sans"/>
                <a:ea typeface="DejaVu Sans"/>
                <a:cs typeface="DejaVu Sans"/>
              </a:defRPr>
            </a:lvl5pPr>
            <a:lvl6pPr>
              <a:defRPr sz="1275" b="0">
                <a:solidFill>
                  <a:srgbClr val="64768A"/>
                </a:solidFill>
                <a:latin typeface="DejaVu Sans"/>
                <a:ea typeface="DejaVu Sans"/>
                <a:cs typeface="DejaVu Sans"/>
              </a:defRPr>
            </a:lvl6pPr>
            <a:lvl7pPr>
              <a:defRPr sz="1275" b="0">
                <a:solidFill>
                  <a:srgbClr val="64768A"/>
                </a:solidFill>
                <a:latin typeface="DejaVu Sans"/>
                <a:ea typeface="DejaVu Sans"/>
                <a:cs typeface="DejaVu Sans"/>
              </a:defRPr>
            </a:lvl7pPr>
            <a:lvl8pPr>
              <a:defRPr sz="1275" b="0">
                <a:solidFill>
                  <a:srgbClr val="64768A"/>
                </a:solidFill>
                <a:latin typeface="DejaVu Sans"/>
                <a:ea typeface="DejaVu Sans"/>
                <a:cs typeface="DejaVu Sans"/>
              </a:defRPr>
            </a:lvl8pPr>
            <a:lvl9pPr>
              <a:defRPr sz="1275" b="0">
                <a:solidFill>
                  <a:srgbClr val="64768A"/>
                </a:solidFill>
                <a:latin typeface="DejaVu Sans"/>
                <a:ea typeface="DejaVu Sans"/>
                <a:cs typeface="DejaVu Sans"/>
              </a:defRPr>
            </a:lvl9pPr>
          </a:lstStyle>
          <a:p xmlns:a="http://schemas.openxmlformats.org/drawingml/2006/main">
            <a:pPr>
              <a:defRPr sz="1275" b="0">
                <a:solidFill>
                  <a:srgbClr val="64768A"/>
                </a:solidFill>
                <a:latin typeface="DejaVu Sans"/>
                <a:ea typeface="DejaVu Sans"/>
                <a:cs typeface="DejaVu Sans"/>
              </a:defRPr>
            </a:pPr>
            <a:r>
              <a:rPr sz="1275" b="0">
                <a:solidFill>
                  <a:srgbClr val="64768A"/>
                </a:solidFill>
                <a:latin typeface="DejaVu Sans"/>
                <a:ea typeface="DejaVu Sans"/>
                <a:cs typeface="DejaVu Sans"/>
              </a:rPr>
              <a:t>Sep 2026</a:t>
            </a:r>
          </a:p>
        </p:txBody>
      </p:sp>
      <p:sp>
        <p:nvSpPr>
          <p:cNvPr id="7" name="gap estimate">
            <a:extLst xmlns:a="http://schemas.openxmlformats.org/drawingml/2006/main">
              <a:ext uri="{FF2B5EF4-FFF2-40B4-BE49-F238E27FC236}">
                <a16:creationId xmlns:a16="http://schemas.microsoft.com/office/drawing/2014/main" id="{C028F40D-F1A0-4914-A14C-744025171046}"/>
              </a:ext>
            </a:extLst>
          </p:cNvPr>
          <p:cNvSpPr>
            <a:spLocks xmlns:a="http://schemas.openxmlformats.org/drawingml/2006/main" noGrp="1"/>
          </p:cNvSpPr>
          <p:nvPr/>
        </p:nvSpPr>
        <p:spPr>
          <a:xfrm xmlns:a="http://schemas.openxmlformats.org/drawingml/2006/main">
            <a:off x="8953500" y="2247900"/>
            <a:ext cx="257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975" b="1">
                <a:solidFill>
                  <a:srgbClr val="142B42"/>
                </a:solidFill>
                <a:latin typeface="DejaVu Sans"/>
                <a:ea typeface="DejaVu Sans"/>
                <a:cs typeface="DejaVu Sans"/>
              </a:defRPr>
            </a:defPPr>
            <a:lvl1pPr>
              <a:defRPr sz="3975" b="1">
                <a:solidFill>
                  <a:srgbClr val="142B42"/>
                </a:solidFill>
                <a:latin typeface="DejaVu Sans"/>
                <a:ea typeface="DejaVu Sans"/>
                <a:cs typeface="DejaVu Sans"/>
              </a:defRPr>
            </a:lvl1pPr>
            <a:lvl2pPr>
              <a:defRPr sz="3975" b="1">
                <a:solidFill>
                  <a:srgbClr val="142B42"/>
                </a:solidFill>
                <a:latin typeface="DejaVu Sans"/>
                <a:ea typeface="DejaVu Sans"/>
                <a:cs typeface="DejaVu Sans"/>
              </a:defRPr>
            </a:lvl2pPr>
            <a:lvl3pPr>
              <a:defRPr sz="3975" b="1">
                <a:solidFill>
                  <a:srgbClr val="142B42"/>
                </a:solidFill>
                <a:latin typeface="DejaVu Sans"/>
                <a:ea typeface="DejaVu Sans"/>
                <a:cs typeface="DejaVu Sans"/>
              </a:defRPr>
            </a:lvl3pPr>
            <a:lvl4pPr>
              <a:defRPr sz="3975" b="1">
                <a:solidFill>
                  <a:srgbClr val="142B42"/>
                </a:solidFill>
                <a:latin typeface="DejaVu Sans"/>
                <a:ea typeface="DejaVu Sans"/>
                <a:cs typeface="DejaVu Sans"/>
              </a:defRPr>
            </a:lvl4pPr>
            <a:lvl5pPr>
              <a:defRPr sz="3975" b="1">
                <a:solidFill>
                  <a:srgbClr val="142B42"/>
                </a:solidFill>
                <a:latin typeface="DejaVu Sans"/>
                <a:ea typeface="DejaVu Sans"/>
                <a:cs typeface="DejaVu Sans"/>
              </a:defRPr>
            </a:lvl5pPr>
            <a:lvl6pPr>
              <a:defRPr sz="3975" b="1">
                <a:solidFill>
                  <a:srgbClr val="142B42"/>
                </a:solidFill>
                <a:latin typeface="DejaVu Sans"/>
                <a:ea typeface="DejaVu Sans"/>
                <a:cs typeface="DejaVu Sans"/>
              </a:defRPr>
            </a:lvl6pPr>
            <a:lvl7pPr>
              <a:defRPr sz="3975" b="1">
                <a:solidFill>
                  <a:srgbClr val="142B42"/>
                </a:solidFill>
                <a:latin typeface="DejaVu Sans"/>
                <a:ea typeface="DejaVu Sans"/>
                <a:cs typeface="DejaVu Sans"/>
              </a:defRPr>
            </a:lvl7pPr>
            <a:lvl8pPr>
              <a:defRPr sz="3975" b="1">
                <a:solidFill>
                  <a:srgbClr val="142B42"/>
                </a:solidFill>
                <a:latin typeface="DejaVu Sans"/>
                <a:ea typeface="DejaVu Sans"/>
                <a:cs typeface="DejaVu Sans"/>
              </a:defRPr>
            </a:lvl8pPr>
            <a:lvl9pPr>
              <a:defRPr sz="3975" b="1">
                <a:solidFill>
                  <a:srgbClr val="142B42"/>
                </a:solidFill>
                <a:latin typeface="DejaVu Sans"/>
                <a:ea typeface="DejaVu Sans"/>
                <a:cs typeface="DejaVu Sans"/>
              </a:defRPr>
            </a:lvl9pPr>
          </a:lstStyle>
          <a:p xmlns:a="http://schemas.openxmlformats.org/drawingml/2006/main">
            <a:pPr>
              <a:defRPr sz="3975" b="1">
                <a:solidFill>
                  <a:srgbClr val="142B42"/>
                </a:solidFill>
                <a:latin typeface="DejaVu Sans"/>
                <a:ea typeface="DejaVu Sans"/>
                <a:cs typeface="DejaVu Sans"/>
              </a:defRPr>
            </a:pPr>
            <a:r>
              <a:rPr sz="3975" b="1">
                <a:solidFill>
                  <a:srgbClr val="142B42"/>
                </a:solidFill>
                <a:latin typeface="DejaVu Sans"/>
                <a:ea typeface="DejaVu Sans"/>
                <a:cs typeface="DejaVu Sans"/>
              </a:rPr>
              <a:t>-14.85</a:t>
            </a:r>
          </a:p>
        </p:txBody>
      </p:sp>
      <p:sp>
        <p:nvSpPr>
          <p:cNvPr id="8" name="gap unit">
            <a:extLst xmlns:a="http://schemas.openxmlformats.org/drawingml/2006/main">
              <a:ext uri="{FF2B5EF4-FFF2-40B4-BE49-F238E27FC236}">
                <a16:creationId xmlns:a16="http://schemas.microsoft.com/office/drawing/2014/main" id="{CBDC2611-CF3A-4989-BF5F-E94675D0EBF5}"/>
              </a:ext>
            </a:extLst>
          </p:cNvPr>
          <p:cNvSpPr>
            <a:spLocks xmlns:a="http://schemas.openxmlformats.org/drawingml/2006/main" noGrp="1"/>
          </p:cNvSpPr>
          <p:nvPr/>
        </p:nvSpPr>
        <p:spPr>
          <a:xfrm xmlns:a="http://schemas.openxmlformats.org/drawingml/2006/main">
            <a:off x="9001125" y="30956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64768A"/>
                </a:solidFill>
                <a:latin typeface="DejaVu Sans"/>
                <a:ea typeface="DejaVu Sans"/>
                <a:cs typeface="DejaVu Sans"/>
              </a:defRPr>
            </a:defPPr>
            <a:lvl1pPr>
              <a:defRPr sz="1950" b="0">
                <a:solidFill>
                  <a:srgbClr val="64768A"/>
                </a:solidFill>
                <a:latin typeface="DejaVu Sans"/>
                <a:ea typeface="DejaVu Sans"/>
                <a:cs typeface="DejaVu Sans"/>
              </a:defRPr>
            </a:lvl1pPr>
            <a:lvl2pPr>
              <a:defRPr sz="1950" b="0">
                <a:solidFill>
                  <a:srgbClr val="64768A"/>
                </a:solidFill>
                <a:latin typeface="DejaVu Sans"/>
                <a:ea typeface="DejaVu Sans"/>
                <a:cs typeface="DejaVu Sans"/>
              </a:defRPr>
            </a:lvl2pPr>
            <a:lvl3pPr>
              <a:defRPr sz="1950" b="0">
                <a:solidFill>
                  <a:srgbClr val="64768A"/>
                </a:solidFill>
                <a:latin typeface="DejaVu Sans"/>
                <a:ea typeface="DejaVu Sans"/>
                <a:cs typeface="DejaVu Sans"/>
              </a:defRPr>
            </a:lvl3pPr>
            <a:lvl4pPr>
              <a:defRPr sz="1950" b="0">
                <a:solidFill>
                  <a:srgbClr val="64768A"/>
                </a:solidFill>
                <a:latin typeface="DejaVu Sans"/>
                <a:ea typeface="DejaVu Sans"/>
                <a:cs typeface="DejaVu Sans"/>
              </a:defRPr>
            </a:lvl4pPr>
            <a:lvl5pPr>
              <a:defRPr sz="1950" b="0">
                <a:solidFill>
                  <a:srgbClr val="64768A"/>
                </a:solidFill>
                <a:latin typeface="DejaVu Sans"/>
                <a:ea typeface="DejaVu Sans"/>
                <a:cs typeface="DejaVu Sans"/>
              </a:defRPr>
            </a:lvl5pPr>
            <a:lvl6pPr>
              <a:defRPr sz="1950" b="0">
                <a:solidFill>
                  <a:srgbClr val="64768A"/>
                </a:solidFill>
                <a:latin typeface="DejaVu Sans"/>
                <a:ea typeface="DejaVu Sans"/>
                <a:cs typeface="DejaVu Sans"/>
              </a:defRPr>
            </a:lvl6pPr>
            <a:lvl7pPr>
              <a:defRPr sz="1950" b="0">
                <a:solidFill>
                  <a:srgbClr val="64768A"/>
                </a:solidFill>
                <a:latin typeface="DejaVu Sans"/>
                <a:ea typeface="DejaVu Sans"/>
                <a:cs typeface="DejaVu Sans"/>
              </a:defRPr>
            </a:lvl7pPr>
            <a:lvl8pPr>
              <a:defRPr sz="1950" b="0">
                <a:solidFill>
                  <a:srgbClr val="64768A"/>
                </a:solidFill>
                <a:latin typeface="DejaVu Sans"/>
                <a:ea typeface="DejaVu Sans"/>
                <a:cs typeface="DejaVu Sans"/>
              </a:defRPr>
            </a:lvl8pPr>
            <a:lvl9pPr>
              <a:defRPr sz="1950" b="0">
                <a:solidFill>
                  <a:srgbClr val="64768A"/>
                </a:solidFill>
                <a:latin typeface="DejaVu Sans"/>
                <a:ea typeface="DejaVu Sans"/>
                <a:cs typeface="DejaVu Sans"/>
              </a:defRPr>
            </a:lvl9pPr>
          </a:lstStyle>
          <a:p xmlns:a="http://schemas.openxmlformats.org/drawingml/2006/main">
            <a:pPr>
              <a:defRPr sz="1950" b="0">
                <a:solidFill>
                  <a:srgbClr val="64768A"/>
                </a:solidFill>
                <a:latin typeface="DejaVu Sans"/>
                <a:ea typeface="DejaVu Sans"/>
                <a:cs typeface="DejaVu Sans"/>
              </a:defRPr>
            </a:pPr>
            <a:r>
              <a:rPr sz="1950" b="0">
                <a:solidFill>
                  <a:srgbClr val="64768A"/>
                </a:solidFill>
                <a:latin typeface="DejaVu Sans"/>
                <a:ea typeface="DejaVu Sans"/>
                <a:cs typeface="DejaVu Sans"/>
              </a:rPr>
              <a:t>index points</a:t>
            </a:r>
          </a:p>
        </p:txBody>
      </p:sp>
      <p:sp>
        <p:nvSpPr>
          <p:cNvPr id="9" name="gap period">
            <a:extLst xmlns:a="http://schemas.openxmlformats.org/drawingml/2006/main">
              <a:ext uri="{FF2B5EF4-FFF2-40B4-BE49-F238E27FC236}">
                <a16:creationId xmlns:a16="http://schemas.microsoft.com/office/drawing/2014/main" id="{EAB96D49-15E5-4857-9D47-6B03CAEE17C2}"/>
              </a:ext>
            </a:extLst>
          </p:cNvPr>
          <p:cNvSpPr>
            <a:spLocks xmlns:a="http://schemas.openxmlformats.org/drawingml/2006/main" noGrp="1"/>
          </p:cNvSpPr>
          <p:nvPr/>
        </p:nvSpPr>
        <p:spPr>
          <a:xfrm xmlns:a="http://schemas.openxmlformats.org/drawingml/2006/main">
            <a:off x="9001125" y="3810000"/>
            <a:ext cx="257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64768A"/>
                </a:solidFill>
                <a:latin typeface="DejaVu Sans"/>
                <a:ea typeface="DejaVu Sans"/>
                <a:cs typeface="DejaVu Sans"/>
              </a:defRPr>
            </a:defPPr>
            <a:lvl1pPr>
              <a:defRPr sz="1800" b="0">
                <a:solidFill>
                  <a:srgbClr val="64768A"/>
                </a:solidFill>
                <a:latin typeface="DejaVu Sans"/>
                <a:ea typeface="DejaVu Sans"/>
                <a:cs typeface="DejaVu Sans"/>
              </a:defRPr>
            </a:lvl1pPr>
            <a:lvl2pPr>
              <a:defRPr sz="1800" b="0">
                <a:solidFill>
                  <a:srgbClr val="64768A"/>
                </a:solidFill>
                <a:latin typeface="DejaVu Sans"/>
                <a:ea typeface="DejaVu Sans"/>
                <a:cs typeface="DejaVu Sans"/>
              </a:defRPr>
            </a:lvl2pPr>
            <a:lvl3pPr>
              <a:defRPr sz="1800" b="0">
                <a:solidFill>
                  <a:srgbClr val="64768A"/>
                </a:solidFill>
                <a:latin typeface="DejaVu Sans"/>
                <a:ea typeface="DejaVu Sans"/>
                <a:cs typeface="DejaVu Sans"/>
              </a:defRPr>
            </a:lvl3pPr>
            <a:lvl4pPr>
              <a:defRPr sz="1800" b="0">
                <a:solidFill>
                  <a:srgbClr val="64768A"/>
                </a:solidFill>
                <a:latin typeface="DejaVu Sans"/>
                <a:ea typeface="DejaVu Sans"/>
                <a:cs typeface="DejaVu Sans"/>
              </a:defRPr>
            </a:lvl4pPr>
            <a:lvl5pPr>
              <a:defRPr sz="1800" b="0">
                <a:solidFill>
                  <a:srgbClr val="64768A"/>
                </a:solidFill>
                <a:latin typeface="DejaVu Sans"/>
                <a:ea typeface="DejaVu Sans"/>
                <a:cs typeface="DejaVu Sans"/>
              </a:defRPr>
            </a:lvl5pPr>
            <a:lvl6pPr>
              <a:defRPr sz="1800" b="0">
                <a:solidFill>
                  <a:srgbClr val="64768A"/>
                </a:solidFill>
                <a:latin typeface="DejaVu Sans"/>
                <a:ea typeface="DejaVu Sans"/>
                <a:cs typeface="DejaVu Sans"/>
              </a:defRPr>
            </a:lvl6pPr>
            <a:lvl7pPr>
              <a:defRPr sz="1800" b="0">
                <a:solidFill>
                  <a:srgbClr val="64768A"/>
                </a:solidFill>
                <a:latin typeface="DejaVu Sans"/>
                <a:ea typeface="DejaVu Sans"/>
                <a:cs typeface="DejaVu Sans"/>
              </a:defRPr>
            </a:lvl7pPr>
            <a:lvl8pPr>
              <a:defRPr sz="1800" b="0">
                <a:solidFill>
                  <a:srgbClr val="64768A"/>
                </a:solidFill>
                <a:latin typeface="DejaVu Sans"/>
                <a:ea typeface="DejaVu Sans"/>
                <a:cs typeface="DejaVu Sans"/>
              </a:defRPr>
            </a:lvl8pPr>
            <a:lvl9pPr>
              <a:defRPr sz="1800" b="0">
                <a:solidFill>
                  <a:srgbClr val="64768A"/>
                </a:solidFill>
                <a:latin typeface="DejaVu Sans"/>
                <a:ea typeface="DejaVu Sans"/>
                <a:cs typeface="DejaVu Sans"/>
              </a:defRPr>
            </a:lvl9pPr>
          </a:lstStyle>
          <a:p xmlns:a="http://schemas.openxmlformats.org/drawingml/2006/main">
            <a:pPr>
              <a:defRPr sz="1800" b="0">
                <a:solidFill>
                  <a:srgbClr val="64768A"/>
                </a:solidFill>
                <a:latin typeface="DejaVu Sans"/>
                <a:ea typeface="DejaVu Sans"/>
                <a:cs typeface="DejaVu Sans"/>
              </a:defRPr>
            </a:pPr>
            <a:r>
              <a:rPr sz="1800" b="0">
                <a:solidFill>
                  <a:srgbClr val="64768A"/>
                </a:solidFill>
                <a:latin typeface="DejaVu Sans"/>
                <a:ea typeface="DejaVu Sans"/>
                <a:cs typeface="DejaVu Sans"/>
              </a:rPr>
              <a:t>Average gap</a:t>
            </a:r>
          </a:p>
          <a:p xmlns:a="http://schemas.openxmlformats.org/drawingml/2006/main">
            <a:pPr>
              <a:defRPr sz="1800" b="0">
                <a:solidFill>
                  <a:srgbClr val="64768A"/>
                </a:solidFill>
                <a:latin typeface="DejaVu Sans"/>
                <a:ea typeface="DejaVu Sans"/>
                <a:cs typeface="DejaVu Sans"/>
              </a:defRPr>
            </a:pPr>
            <a:r>
              <a:rPr sz="1800" b="0">
                <a:solidFill>
                  <a:srgbClr val="64768A"/>
                </a:solidFill>
                <a:latin typeface="DejaVu Sans"/>
                <a:ea typeface="DejaVu Sans"/>
                <a:cs typeface="DejaVu Sans"/>
              </a:rPr>
              <a:t>since January 2022</a:t>
            </a:r>
          </a:p>
        </p:txBody>
      </p:sp>
      <p:sp>
        <p:nvSpPr>
          <p:cNvPr id="10" name="reading">
            <a:extLst xmlns:a="http://schemas.openxmlformats.org/drawingml/2006/main">
              <a:ext uri="{FF2B5EF4-FFF2-40B4-BE49-F238E27FC236}">
                <a16:creationId xmlns:a16="http://schemas.microsoft.com/office/drawing/2014/main" id="{00CC246B-2C81-4BAF-B885-E4E0AB6E90FD}"/>
              </a:ext>
            </a:extLst>
          </p:cNvPr>
          <p:cNvSpPr>
            <a:spLocks xmlns:a="http://schemas.openxmlformats.org/drawingml/2006/main" noGrp="1"/>
          </p:cNvSpPr>
          <p:nvPr/>
        </p:nvSpPr>
        <p:spPr>
          <a:xfrm xmlns:a="http://schemas.openxmlformats.org/drawingml/2006/main">
            <a:off x="762000" y="540067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007F78"/>
                </a:solidFill>
                <a:latin typeface="DejaVu Sans"/>
                <a:ea typeface="DejaVu Sans"/>
                <a:cs typeface="DejaVu Sans"/>
              </a:defRPr>
            </a:defPPr>
            <a:lvl1pPr>
              <a:defRPr sz="2175" b="1">
                <a:solidFill>
                  <a:srgbClr val="007F78"/>
                </a:solidFill>
                <a:latin typeface="DejaVu Sans"/>
                <a:ea typeface="DejaVu Sans"/>
                <a:cs typeface="DejaVu Sans"/>
              </a:defRPr>
            </a:lvl1pPr>
            <a:lvl2pPr>
              <a:defRPr sz="2175" b="1">
                <a:solidFill>
                  <a:srgbClr val="007F78"/>
                </a:solidFill>
                <a:latin typeface="DejaVu Sans"/>
                <a:ea typeface="DejaVu Sans"/>
                <a:cs typeface="DejaVu Sans"/>
              </a:defRPr>
            </a:lvl2pPr>
            <a:lvl3pPr>
              <a:defRPr sz="2175" b="1">
                <a:solidFill>
                  <a:srgbClr val="007F78"/>
                </a:solidFill>
                <a:latin typeface="DejaVu Sans"/>
                <a:ea typeface="DejaVu Sans"/>
                <a:cs typeface="DejaVu Sans"/>
              </a:defRPr>
            </a:lvl3pPr>
            <a:lvl4pPr>
              <a:defRPr sz="2175" b="1">
                <a:solidFill>
                  <a:srgbClr val="007F78"/>
                </a:solidFill>
                <a:latin typeface="DejaVu Sans"/>
                <a:ea typeface="DejaVu Sans"/>
                <a:cs typeface="DejaVu Sans"/>
              </a:defRPr>
            </a:lvl4pPr>
            <a:lvl5pPr>
              <a:defRPr sz="2175" b="1">
                <a:solidFill>
                  <a:srgbClr val="007F78"/>
                </a:solidFill>
                <a:latin typeface="DejaVu Sans"/>
                <a:ea typeface="DejaVu Sans"/>
                <a:cs typeface="DejaVu Sans"/>
              </a:defRPr>
            </a:lvl5pPr>
            <a:lvl6pPr>
              <a:defRPr sz="2175" b="1">
                <a:solidFill>
                  <a:srgbClr val="007F78"/>
                </a:solidFill>
                <a:latin typeface="DejaVu Sans"/>
                <a:ea typeface="DejaVu Sans"/>
                <a:cs typeface="DejaVu Sans"/>
              </a:defRPr>
            </a:lvl6pPr>
            <a:lvl7pPr>
              <a:defRPr sz="2175" b="1">
                <a:solidFill>
                  <a:srgbClr val="007F78"/>
                </a:solidFill>
                <a:latin typeface="DejaVu Sans"/>
                <a:ea typeface="DejaVu Sans"/>
                <a:cs typeface="DejaVu Sans"/>
              </a:defRPr>
            </a:lvl7pPr>
            <a:lvl8pPr>
              <a:defRPr sz="2175" b="1">
                <a:solidFill>
                  <a:srgbClr val="007F78"/>
                </a:solidFill>
                <a:latin typeface="DejaVu Sans"/>
                <a:ea typeface="DejaVu Sans"/>
                <a:cs typeface="DejaVu Sans"/>
              </a:defRPr>
            </a:lvl8pPr>
            <a:lvl9pPr>
              <a:defRPr sz="2175" b="1">
                <a:solidFill>
                  <a:srgbClr val="007F78"/>
                </a:solidFill>
                <a:latin typeface="DejaVu Sans"/>
                <a:ea typeface="DejaVu Sans"/>
                <a:cs typeface="DejaVu Sans"/>
              </a:defRPr>
            </a:lvl9pPr>
          </a:lstStyle>
          <a:p xmlns:a="http://schemas.openxmlformats.org/drawingml/2006/main">
            <a:pPr>
              <a:defRPr sz="2175" b="1">
                <a:solidFill>
                  <a:srgbClr val="007F78"/>
                </a:solidFill>
                <a:latin typeface="DejaVu Sans"/>
                <a:ea typeface="DejaVu Sans"/>
                <a:cs typeface="DejaVu Sans"/>
              </a:defRPr>
            </a:pPr>
            <a:r>
              <a:rPr sz="2175" b="1">
                <a:solidFill>
                  <a:srgbClr val="007F78"/>
                </a:solidFill>
                <a:latin typeface="DejaVu Sans"/>
                <a:ea typeface="DejaVu Sans"/>
                <a:cs typeface="DejaVu Sans"/>
              </a:rPr>
              <a:t>The gap motivates the question. Its cause remains uncertain.</a:t>
            </a:r>
          </a:p>
        </p:txBody>
      </p:sp>
      <p:sp>
        <p:nvSpPr>
          <p:cNvPr id="11" name="source and scope">
            <a:extLst xmlns:a="http://schemas.openxmlformats.org/drawingml/2006/main">
              <a:ext uri="{FF2B5EF4-FFF2-40B4-BE49-F238E27FC236}">
                <a16:creationId xmlns:a16="http://schemas.microsoft.com/office/drawing/2014/main" id="{40AD1E6E-5E4F-459A-9D2C-36136E4288F6}"/>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Michigan sentiment index. Separate 81-month test. Gap = observed minus predicted sentiment. Revised economic data.</a:t>
            </a:r>
          </a:p>
        </p:txBody>
      </p:sp>
    </p:spTree>
    <p:extLst>
      <p:ext uri="{BB962C8B-B14F-4D97-AF65-F5344CB8AC3E}">
        <p14:creationId xmlns:p14="http://schemas.microsoft.com/office/powerpoint/2010/main" val="19212884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063B0740-5522-4A86-9AB9-A91312D6B588}"/>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DATA AND MEASUREMENT</a:t>
            </a:r>
          </a:p>
        </p:txBody>
      </p:sp>
      <p:sp>
        <p:nvSpPr>
          <p:cNvPr id="2" name="title">
            <a:extLst xmlns:a="http://schemas.openxmlformats.org/drawingml/2006/main">
              <a:ext uri="{FF2B5EF4-FFF2-40B4-BE49-F238E27FC236}">
                <a16:creationId xmlns:a16="http://schemas.microsoft.com/office/drawing/2014/main" id="{2C1F68B9-DC7F-4671-9FB1-D0189B424B77}"/>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How economic news was measured</a:t>
            </a:r>
          </a:p>
        </p:txBody>
      </p:sp>
      <p:sp>
        <p:nvSpPr>
          <p:cNvPr id="3" name="page">
            <a:extLst xmlns:a="http://schemas.openxmlformats.org/drawingml/2006/main">
              <a:ext uri="{FF2B5EF4-FFF2-40B4-BE49-F238E27FC236}">
                <a16:creationId xmlns:a16="http://schemas.microsoft.com/office/drawing/2014/main" id="{3E09BC17-61D9-45B7-A779-E727F545ACE9}"/>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03</a:t>
            </a:r>
          </a:p>
        </p:txBody>
      </p:sp>
      <p:sp>
        <p:nvSpPr>
          <p:cNvPr id="4" name="count economic titles">
            <a:extLst xmlns:a="http://schemas.openxmlformats.org/drawingml/2006/main">
              <a:ext uri="{FF2B5EF4-FFF2-40B4-BE49-F238E27FC236}">
                <a16:creationId xmlns:a16="http://schemas.microsoft.com/office/drawing/2014/main" id="{85C22526-102A-42A2-8696-A5AB7000ACBC}"/>
              </a:ext>
            </a:extLst>
          </p:cNvPr>
          <p:cNvSpPr>
            <a:spLocks xmlns:a="http://schemas.openxmlformats.org/drawingml/2006/main" noGrp="1"/>
          </p:cNvSpPr>
          <p:nvPr/>
        </p:nvSpPr>
        <p:spPr>
          <a:xfrm xmlns:a="http://schemas.openxmlformats.org/drawingml/2006/main">
            <a:off x="762000" y="1847850"/>
            <a:ext cx="295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900" b="1">
                <a:solidFill>
                  <a:srgbClr val="007F78"/>
                </a:solidFill>
                <a:latin typeface="DejaVu Sans"/>
                <a:ea typeface="DejaVu Sans"/>
                <a:cs typeface="DejaVu Sans"/>
              </a:defRPr>
            </a:defPPr>
            <a:lvl1pPr>
              <a:defRPr sz="3900" b="1">
                <a:solidFill>
                  <a:srgbClr val="007F78"/>
                </a:solidFill>
                <a:latin typeface="DejaVu Sans"/>
                <a:ea typeface="DejaVu Sans"/>
                <a:cs typeface="DejaVu Sans"/>
              </a:defRPr>
            </a:lvl1pPr>
            <a:lvl2pPr>
              <a:defRPr sz="3900" b="1">
                <a:solidFill>
                  <a:srgbClr val="007F78"/>
                </a:solidFill>
                <a:latin typeface="DejaVu Sans"/>
                <a:ea typeface="DejaVu Sans"/>
                <a:cs typeface="DejaVu Sans"/>
              </a:defRPr>
            </a:lvl2pPr>
            <a:lvl3pPr>
              <a:defRPr sz="3900" b="1">
                <a:solidFill>
                  <a:srgbClr val="007F78"/>
                </a:solidFill>
                <a:latin typeface="DejaVu Sans"/>
                <a:ea typeface="DejaVu Sans"/>
                <a:cs typeface="DejaVu Sans"/>
              </a:defRPr>
            </a:lvl3pPr>
            <a:lvl4pPr>
              <a:defRPr sz="3900" b="1">
                <a:solidFill>
                  <a:srgbClr val="007F78"/>
                </a:solidFill>
                <a:latin typeface="DejaVu Sans"/>
                <a:ea typeface="DejaVu Sans"/>
                <a:cs typeface="DejaVu Sans"/>
              </a:defRPr>
            </a:lvl4pPr>
            <a:lvl5pPr>
              <a:defRPr sz="3900" b="1">
                <a:solidFill>
                  <a:srgbClr val="007F78"/>
                </a:solidFill>
                <a:latin typeface="DejaVu Sans"/>
                <a:ea typeface="DejaVu Sans"/>
                <a:cs typeface="DejaVu Sans"/>
              </a:defRPr>
            </a:lvl5pPr>
            <a:lvl6pPr>
              <a:defRPr sz="3900" b="1">
                <a:solidFill>
                  <a:srgbClr val="007F78"/>
                </a:solidFill>
                <a:latin typeface="DejaVu Sans"/>
                <a:ea typeface="DejaVu Sans"/>
                <a:cs typeface="DejaVu Sans"/>
              </a:defRPr>
            </a:lvl6pPr>
            <a:lvl7pPr>
              <a:defRPr sz="3900" b="1">
                <a:solidFill>
                  <a:srgbClr val="007F78"/>
                </a:solidFill>
                <a:latin typeface="DejaVu Sans"/>
                <a:ea typeface="DejaVu Sans"/>
                <a:cs typeface="DejaVu Sans"/>
              </a:defRPr>
            </a:lvl7pPr>
            <a:lvl8pPr>
              <a:defRPr sz="3900" b="1">
                <a:solidFill>
                  <a:srgbClr val="007F78"/>
                </a:solidFill>
                <a:latin typeface="DejaVu Sans"/>
                <a:ea typeface="DejaVu Sans"/>
                <a:cs typeface="DejaVu Sans"/>
              </a:defRPr>
            </a:lvl8pPr>
            <a:lvl9pPr>
              <a:defRPr sz="3900" b="1">
                <a:solidFill>
                  <a:srgbClr val="007F78"/>
                </a:solidFill>
                <a:latin typeface="DejaVu Sans"/>
                <a:ea typeface="DejaVu Sans"/>
                <a:cs typeface="DejaVu Sans"/>
              </a:defRPr>
            </a:lvl9pPr>
          </a:lstStyle>
          <a:p xmlns:a="http://schemas.openxmlformats.org/drawingml/2006/main">
            <a:pPr>
              <a:defRPr sz="3900" b="1">
                <a:solidFill>
                  <a:srgbClr val="007F78"/>
                </a:solidFill>
                <a:latin typeface="DejaVu Sans"/>
                <a:ea typeface="DejaVu Sans"/>
                <a:cs typeface="DejaVu Sans"/>
              </a:defRPr>
            </a:pPr>
            <a:r>
              <a:rPr sz="3900" b="1">
                <a:solidFill>
                  <a:srgbClr val="007F78"/>
                </a:solidFill>
                <a:latin typeface="DejaVu Sans"/>
                <a:ea typeface="DejaVu Sans"/>
                <a:cs typeface="DejaVu Sans"/>
              </a:rPr>
              <a:t>670</a:t>
            </a:r>
          </a:p>
        </p:txBody>
      </p:sp>
      <p:sp>
        <p:nvSpPr>
          <p:cNvPr id="5" name="unit economic titles">
            <a:extLst xmlns:a="http://schemas.openxmlformats.org/drawingml/2006/main">
              <a:ext uri="{FF2B5EF4-FFF2-40B4-BE49-F238E27FC236}">
                <a16:creationId xmlns:a16="http://schemas.microsoft.com/office/drawing/2014/main" id="{606EF873-7359-4C18-91E4-B1C6B93426C0}"/>
              </a:ext>
            </a:extLst>
          </p:cNvPr>
          <p:cNvSpPr>
            <a:spLocks xmlns:a="http://schemas.openxmlformats.org/drawingml/2006/main" noGrp="1"/>
          </p:cNvSpPr>
          <p:nvPr/>
        </p:nvSpPr>
        <p:spPr>
          <a:xfrm xmlns:a="http://schemas.openxmlformats.org/drawingml/2006/main">
            <a:off x="762000" y="26193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4768A"/>
                </a:solidFill>
                <a:latin typeface="DejaVu Sans"/>
                <a:ea typeface="DejaVu Sans"/>
                <a:cs typeface="DejaVu Sans"/>
              </a:defRPr>
            </a:defPPr>
            <a:lvl1pPr>
              <a:defRPr sz="1875" b="0">
                <a:solidFill>
                  <a:srgbClr val="64768A"/>
                </a:solidFill>
                <a:latin typeface="DejaVu Sans"/>
                <a:ea typeface="DejaVu Sans"/>
                <a:cs typeface="DejaVu Sans"/>
              </a:defRPr>
            </a:lvl1pPr>
            <a:lvl2pPr>
              <a:defRPr sz="1875" b="0">
                <a:solidFill>
                  <a:srgbClr val="64768A"/>
                </a:solidFill>
                <a:latin typeface="DejaVu Sans"/>
                <a:ea typeface="DejaVu Sans"/>
                <a:cs typeface="DejaVu Sans"/>
              </a:defRPr>
            </a:lvl2pPr>
            <a:lvl3pPr>
              <a:defRPr sz="1875" b="0">
                <a:solidFill>
                  <a:srgbClr val="64768A"/>
                </a:solidFill>
                <a:latin typeface="DejaVu Sans"/>
                <a:ea typeface="DejaVu Sans"/>
                <a:cs typeface="DejaVu Sans"/>
              </a:defRPr>
            </a:lvl3pPr>
            <a:lvl4pPr>
              <a:defRPr sz="1875" b="0">
                <a:solidFill>
                  <a:srgbClr val="64768A"/>
                </a:solidFill>
                <a:latin typeface="DejaVu Sans"/>
                <a:ea typeface="DejaVu Sans"/>
                <a:cs typeface="DejaVu Sans"/>
              </a:defRPr>
            </a:lvl4pPr>
            <a:lvl5pPr>
              <a:defRPr sz="1875" b="0">
                <a:solidFill>
                  <a:srgbClr val="64768A"/>
                </a:solidFill>
                <a:latin typeface="DejaVu Sans"/>
                <a:ea typeface="DejaVu Sans"/>
                <a:cs typeface="DejaVu Sans"/>
              </a:defRPr>
            </a:lvl5pPr>
            <a:lvl6pPr>
              <a:defRPr sz="1875" b="0">
                <a:solidFill>
                  <a:srgbClr val="64768A"/>
                </a:solidFill>
                <a:latin typeface="DejaVu Sans"/>
                <a:ea typeface="DejaVu Sans"/>
                <a:cs typeface="DejaVu Sans"/>
              </a:defRPr>
            </a:lvl6pPr>
            <a:lvl7pPr>
              <a:defRPr sz="1875" b="0">
                <a:solidFill>
                  <a:srgbClr val="64768A"/>
                </a:solidFill>
                <a:latin typeface="DejaVu Sans"/>
                <a:ea typeface="DejaVu Sans"/>
                <a:cs typeface="DejaVu Sans"/>
              </a:defRPr>
            </a:lvl7pPr>
            <a:lvl8pPr>
              <a:defRPr sz="1875" b="0">
                <a:solidFill>
                  <a:srgbClr val="64768A"/>
                </a:solidFill>
                <a:latin typeface="DejaVu Sans"/>
                <a:ea typeface="DejaVu Sans"/>
                <a:cs typeface="DejaVu Sans"/>
              </a:defRPr>
            </a:lvl8pPr>
            <a:lvl9pPr>
              <a:defRPr sz="1875" b="0">
                <a:solidFill>
                  <a:srgbClr val="64768A"/>
                </a:solidFill>
                <a:latin typeface="DejaVu Sans"/>
                <a:ea typeface="DejaVu Sans"/>
                <a:cs typeface="DejaVu Sans"/>
              </a:defRPr>
            </a:lvl9pPr>
          </a:lstStyle>
          <a:p xmlns:a="http://schemas.openxmlformats.org/drawingml/2006/main">
            <a:pPr>
              <a:defRPr sz="1875" b="0">
                <a:solidFill>
                  <a:srgbClr val="64768A"/>
                </a:solidFill>
                <a:latin typeface="DejaVu Sans"/>
                <a:ea typeface="DejaVu Sans"/>
                <a:cs typeface="DejaVu Sans"/>
              </a:defRPr>
            </a:pPr>
            <a:r>
              <a:rPr sz="1875" b="0">
                <a:solidFill>
                  <a:srgbClr val="64768A"/>
                </a:solidFill>
                <a:latin typeface="DejaVu Sans"/>
                <a:ea typeface="DejaVu Sans"/>
                <a:cs typeface="DejaVu Sans"/>
              </a:rPr>
              <a:t>economic titles</a:t>
            </a:r>
          </a:p>
        </p:txBody>
      </p:sp>
      <p:sp>
        <p:nvSpPr>
          <p:cNvPr id="6" name="count balanced months">
            <a:extLst xmlns:a="http://schemas.openxmlformats.org/drawingml/2006/main">
              <a:ext uri="{FF2B5EF4-FFF2-40B4-BE49-F238E27FC236}">
                <a16:creationId xmlns:a16="http://schemas.microsoft.com/office/drawing/2014/main" id="{0E2369C0-4494-4C1C-A6A8-87E8E97505B0}"/>
              </a:ext>
            </a:extLst>
          </p:cNvPr>
          <p:cNvSpPr>
            <a:spLocks xmlns:a="http://schemas.openxmlformats.org/drawingml/2006/main" noGrp="1"/>
          </p:cNvSpPr>
          <p:nvPr/>
        </p:nvSpPr>
        <p:spPr>
          <a:xfrm xmlns:a="http://schemas.openxmlformats.org/drawingml/2006/main">
            <a:off x="4762500" y="1847850"/>
            <a:ext cx="295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900" b="1">
                <a:solidFill>
                  <a:srgbClr val="007F78"/>
                </a:solidFill>
                <a:latin typeface="DejaVu Sans"/>
                <a:ea typeface="DejaVu Sans"/>
                <a:cs typeface="DejaVu Sans"/>
              </a:defRPr>
            </a:defPPr>
            <a:lvl1pPr>
              <a:defRPr sz="3900" b="1">
                <a:solidFill>
                  <a:srgbClr val="007F78"/>
                </a:solidFill>
                <a:latin typeface="DejaVu Sans"/>
                <a:ea typeface="DejaVu Sans"/>
                <a:cs typeface="DejaVu Sans"/>
              </a:defRPr>
            </a:lvl1pPr>
            <a:lvl2pPr>
              <a:defRPr sz="3900" b="1">
                <a:solidFill>
                  <a:srgbClr val="007F78"/>
                </a:solidFill>
                <a:latin typeface="DejaVu Sans"/>
                <a:ea typeface="DejaVu Sans"/>
                <a:cs typeface="DejaVu Sans"/>
              </a:defRPr>
            </a:lvl2pPr>
            <a:lvl3pPr>
              <a:defRPr sz="3900" b="1">
                <a:solidFill>
                  <a:srgbClr val="007F78"/>
                </a:solidFill>
                <a:latin typeface="DejaVu Sans"/>
                <a:ea typeface="DejaVu Sans"/>
                <a:cs typeface="DejaVu Sans"/>
              </a:defRPr>
            </a:lvl3pPr>
            <a:lvl4pPr>
              <a:defRPr sz="3900" b="1">
                <a:solidFill>
                  <a:srgbClr val="007F78"/>
                </a:solidFill>
                <a:latin typeface="DejaVu Sans"/>
                <a:ea typeface="DejaVu Sans"/>
                <a:cs typeface="DejaVu Sans"/>
              </a:defRPr>
            </a:lvl4pPr>
            <a:lvl5pPr>
              <a:defRPr sz="3900" b="1">
                <a:solidFill>
                  <a:srgbClr val="007F78"/>
                </a:solidFill>
                <a:latin typeface="DejaVu Sans"/>
                <a:ea typeface="DejaVu Sans"/>
                <a:cs typeface="DejaVu Sans"/>
              </a:defRPr>
            </a:lvl5pPr>
            <a:lvl6pPr>
              <a:defRPr sz="3900" b="1">
                <a:solidFill>
                  <a:srgbClr val="007F78"/>
                </a:solidFill>
                <a:latin typeface="DejaVu Sans"/>
                <a:ea typeface="DejaVu Sans"/>
                <a:cs typeface="DejaVu Sans"/>
              </a:defRPr>
            </a:lvl6pPr>
            <a:lvl7pPr>
              <a:defRPr sz="3900" b="1">
                <a:solidFill>
                  <a:srgbClr val="007F78"/>
                </a:solidFill>
                <a:latin typeface="DejaVu Sans"/>
                <a:ea typeface="DejaVu Sans"/>
                <a:cs typeface="DejaVu Sans"/>
              </a:defRPr>
            </a:lvl7pPr>
            <a:lvl8pPr>
              <a:defRPr sz="3900" b="1">
                <a:solidFill>
                  <a:srgbClr val="007F78"/>
                </a:solidFill>
                <a:latin typeface="DejaVu Sans"/>
                <a:ea typeface="DejaVu Sans"/>
                <a:cs typeface="DejaVu Sans"/>
              </a:defRPr>
            </a:lvl8pPr>
            <a:lvl9pPr>
              <a:defRPr sz="3900" b="1">
                <a:solidFill>
                  <a:srgbClr val="007F78"/>
                </a:solidFill>
                <a:latin typeface="DejaVu Sans"/>
                <a:ea typeface="DejaVu Sans"/>
                <a:cs typeface="DejaVu Sans"/>
              </a:defRPr>
            </a:lvl9pPr>
          </a:lstStyle>
          <a:p xmlns:a="http://schemas.openxmlformats.org/drawingml/2006/main">
            <a:pPr>
              <a:defRPr sz="3900" b="1">
                <a:solidFill>
                  <a:srgbClr val="007F78"/>
                </a:solidFill>
                <a:latin typeface="DejaVu Sans"/>
                <a:ea typeface="DejaVu Sans"/>
                <a:cs typeface="DejaVu Sans"/>
              </a:defRPr>
            </a:pPr>
            <a:r>
              <a:rPr sz="3900" b="1">
                <a:solidFill>
                  <a:srgbClr val="007F78"/>
                </a:solidFill>
                <a:latin typeface="DejaVu Sans"/>
                <a:ea typeface="DejaVu Sans"/>
                <a:cs typeface="DejaVu Sans"/>
              </a:rPr>
              <a:t>47</a:t>
            </a:r>
          </a:p>
        </p:txBody>
      </p:sp>
      <p:sp>
        <p:nvSpPr>
          <p:cNvPr id="7" name="unit balanced months">
            <a:extLst xmlns:a="http://schemas.openxmlformats.org/drawingml/2006/main">
              <a:ext uri="{FF2B5EF4-FFF2-40B4-BE49-F238E27FC236}">
                <a16:creationId xmlns:a16="http://schemas.microsoft.com/office/drawing/2014/main" id="{F70F84F4-F219-41D5-9FA7-BBC0A413EEDD}"/>
              </a:ext>
            </a:extLst>
          </p:cNvPr>
          <p:cNvSpPr>
            <a:spLocks xmlns:a="http://schemas.openxmlformats.org/drawingml/2006/main" noGrp="1"/>
          </p:cNvSpPr>
          <p:nvPr/>
        </p:nvSpPr>
        <p:spPr>
          <a:xfrm xmlns:a="http://schemas.openxmlformats.org/drawingml/2006/main">
            <a:off x="4762500" y="26193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4768A"/>
                </a:solidFill>
                <a:latin typeface="DejaVu Sans"/>
                <a:ea typeface="DejaVu Sans"/>
                <a:cs typeface="DejaVu Sans"/>
              </a:defRPr>
            </a:defPPr>
            <a:lvl1pPr>
              <a:defRPr sz="1875" b="0">
                <a:solidFill>
                  <a:srgbClr val="64768A"/>
                </a:solidFill>
                <a:latin typeface="DejaVu Sans"/>
                <a:ea typeface="DejaVu Sans"/>
                <a:cs typeface="DejaVu Sans"/>
              </a:defRPr>
            </a:lvl1pPr>
            <a:lvl2pPr>
              <a:defRPr sz="1875" b="0">
                <a:solidFill>
                  <a:srgbClr val="64768A"/>
                </a:solidFill>
                <a:latin typeface="DejaVu Sans"/>
                <a:ea typeface="DejaVu Sans"/>
                <a:cs typeface="DejaVu Sans"/>
              </a:defRPr>
            </a:lvl2pPr>
            <a:lvl3pPr>
              <a:defRPr sz="1875" b="0">
                <a:solidFill>
                  <a:srgbClr val="64768A"/>
                </a:solidFill>
                <a:latin typeface="DejaVu Sans"/>
                <a:ea typeface="DejaVu Sans"/>
                <a:cs typeface="DejaVu Sans"/>
              </a:defRPr>
            </a:lvl3pPr>
            <a:lvl4pPr>
              <a:defRPr sz="1875" b="0">
                <a:solidFill>
                  <a:srgbClr val="64768A"/>
                </a:solidFill>
                <a:latin typeface="DejaVu Sans"/>
                <a:ea typeface="DejaVu Sans"/>
                <a:cs typeface="DejaVu Sans"/>
              </a:defRPr>
            </a:lvl4pPr>
            <a:lvl5pPr>
              <a:defRPr sz="1875" b="0">
                <a:solidFill>
                  <a:srgbClr val="64768A"/>
                </a:solidFill>
                <a:latin typeface="DejaVu Sans"/>
                <a:ea typeface="DejaVu Sans"/>
                <a:cs typeface="DejaVu Sans"/>
              </a:defRPr>
            </a:lvl5pPr>
            <a:lvl6pPr>
              <a:defRPr sz="1875" b="0">
                <a:solidFill>
                  <a:srgbClr val="64768A"/>
                </a:solidFill>
                <a:latin typeface="DejaVu Sans"/>
                <a:ea typeface="DejaVu Sans"/>
                <a:cs typeface="DejaVu Sans"/>
              </a:defRPr>
            </a:lvl6pPr>
            <a:lvl7pPr>
              <a:defRPr sz="1875" b="0">
                <a:solidFill>
                  <a:srgbClr val="64768A"/>
                </a:solidFill>
                <a:latin typeface="DejaVu Sans"/>
                <a:ea typeface="DejaVu Sans"/>
                <a:cs typeface="DejaVu Sans"/>
              </a:defRPr>
            </a:lvl7pPr>
            <a:lvl8pPr>
              <a:defRPr sz="1875" b="0">
                <a:solidFill>
                  <a:srgbClr val="64768A"/>
                </a:solidFill>
                <a:latin typeface="DejaVu Sans"/>
                <a:ea typeface="DejaVu Sans"/>
                <a:cs typeface="DejaVu Sans"/>
              </a:defRPr>
            </a:lvl8pPr>
            <a:lvl9pPr>
              <a:defRPr sz="1875" b="0">
                <a:solidFill>
                  <a:srgbClr val="64768A"/>
                </a:solidFill>
                <a:latin typeface="DejaVu Sans"/>
                <a:ea typeface="DejaVu Sans"/>
                <a:cs typeface="DejaVu Sans"/>
              </a:defRPr>
            </a:lvl9pPr>
          </a:lstStyle>
          <a:p xmlns:a="http://schemas.openxmlformats.org/drawingml/2006/main">
            <a:pPr>
              <a:defRPr sz="1875" b="0">
                <a:solidFill>
                  <a:srgbClr val="64768A"/>
                </a:solidFill>
                <a:latin typeface="DejaVu Sans"/>
                <a:ea typeface="DejaVu Sans"/>
                <a:cs typeface="DejaVu Sans"/>
              </a:defRPr>
            </a:pPr>
            <a:r>
              <a:rPr sz="1875" b="0">
                <a:solidFill>
                  <a:srgbClr val="64768A"/>
                </a:solidFill>
                <a:latin typeface="DejaVu Sans"/>
                <a:ea typeface="DejaVu Sans"/>
                <a:cs typeface="DejaVu Sans"/>
              </a:rPr>
              <a:t>balanced months</a:t>
            </a:r>
          </a:p>
        </p:txBody>
      </p:sp>
      <p:sp>
        <p:nvSpPr>
          <p:cNvPr id="8" name="count forecast targets">
            <a:extLst xmlns:a="http://schemas.openxmlformats.org/drawingml/2006/main">
              <a:ext uri="{FF2B5EF4-FFF2-40B4-BE49-F238E27FC236}">
                <a16:creationId xmlns:a16="http://schemas.microsoft.com/office/drawing/2014/main" id="{36FC4395-D68D-47E0-9C3C-E83C1C9D9C47}"/>
              </a:ext>
            </a:extLst>
          </p:cNvPr>
          <p:cNvSpPr>
            <a:spLocks xmlns:a="http://schemas.openxmlformats.org/drawingml/2006/main" noGrp="1"/>
          </p:cNvSpPr>
          <p:nvPr/>
        </p:nvSpPr>
        <p:spPr>
          <a:xfrm xmlns:a="http://schemas.openxmlformats.org/drawingml/2006/main">
            <a:off x="8572500" y="1847850"/>
            <a:ext cx="295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900" b="1">
                <a:solidFill>
                  <a:srgbClr val="007F78"/>
                </a:solidFill>
                <a:latin typeface="DejaVu Sans"/>
                <a:ea typeface="DejaVu Sans"/>
                <a:cs typeface="DejaVu Sans"/>
              </a:defRPr>
            </a:defPPr>
            <a:lvl1pPr>
              <a:defRPr sz="3900" b="1">
                <a:solidFill>
                  <a:srgbClr val="007F78"/>
                </a:solidFill>
                <a:latin typeface="DejaVu Sans"/>
                <a:ea typeface="DejaVu Sans"/>
                <a:cs typeface="DejaVu Sans"/>
              </a:defRPr>
            </a:lvl1pPr>
            <a:lvl2pPr>
              <a:defRPr sz="3900" b="1">
                <a:solidFill>
                  <a:srgbClr val="007F78"/>
                </a:solidFill>
                <a:latin typeface="DejaVu Sans"/>
                <a:ea typeface="DejaVu Sans"/>
                <a:cs typeface="DejaVu Sans"/>
              </a:defRPr>
            </a:lvl2pPr>
            <a:lvl3pPr>
              <a:defRPr sz="3900" b="1">
                <a:solidFill>
                  <a:srgbClr val="007F78"/>
                </a:solidFill>
                <a:latin typeface="DejaVu Sans"/>
                <a:ea typeface="DejaVu Sans"/>
                <a:cs typeface="DejaVu Sans"/>
              </a:defRPr>
            </a:lvl3pPr>
            <a:lvl4pPr>
              <a:defRPr sz="3900" b="1">
                <a:solidFill>
                  <a:srgbClr val="007F78"/>
                </a:solidFill>
                <a:latin typeface="DejaVu Sans"/>
                <a:ea typeface="DejaVu Sans"/>
                <a:cs typeface="DejaVu Sans"/>
              </a:defRPr>
            </a:lvl4pPr>
            <a:lvl5pPr>
              <a:defRPr sz="3900" b="1">
                <a:solidFill>
                  <a:srgbClr val="007F78"/>
                </a:solidFill>
                <a:latin typeface="DejaVu Sans"/>
                <a:ea typeface="DejaVu Sans"/>
                <a:cs typeface="DejaVu Sans"/>
              </a:defRPr>
            </a:lvl5pPr>
            <a:lvl6pPr>
              <a:defRPr sz="3900" b="1">
                <a:solidFill>
                  <a:srgbClr val="007F78"/>
                </a:solidFill>
                <a:latin typeface="DejaVu Sans"/>
                <a:ea typeface="DejaVu Sans"/>
                <a:cs typeface="DejaVu Sans"/>
              </a:defRPr>
            </a:lvl6pPr>
            <a:lvl7pPr>
              <a:defRPr sz="3900" b="1">
                <a:solidFill>
                  <a:srgbClr val="007F78"/>
                </a:solidFill>
                <a:latin typeface="DejaVu Sans"/>
                <a:ea typeface="DejaVu Sans"/>
                <a:cs typeface="DejaVu Sans"/>
              </a:defRPr>
            </a:lvl7pPr>
            <a:lvl8pPr>
              <a:defRPr sz="3900" b="1">
                <a:solidFill>
                  <a:srgbClr val="007F78"/>
                </a:solidFill>
                <a:latin typeface="DejaVu Sans"/>
                <a:ea typeface="DejaVu Sans"/>
                <a:cs typeface="DejaVu Sans"/>
              </a:defRPr>
            </a:lvl8pPr>
            <a:lvl9pPr>
              <a:defRPr sz="3900" b="1">
                <a:solidFill>
                  <a:srgbClr val="007F78"/>
                </a:solidFill>
                <a:latin typeface="DejaVu Sans"/>
                <a:ea typeface="DejaVu Sans"/>
                <a:cs typeface="DejaVu Sans"/>
              </a:defRPr>
            </a:lvl9pPr>
          </a:lstStyle>
          <a:p xmlns:a="http://schemas.openxmlformats.org/drawingml/2006/main">
            <a:pPr>
              <a:defRPr sz="3900" b="1">
                <a:solidFill>
                  <a:srgbClr val="007F78"/>
                </a:solidFill>
                <a:latin typeface="DejaVu Sans"/>
                <a:ea typeface="DejaVu Sans"/>
                <a:cs typeface="DejaVu Sans"/>
              </a:defRPr>
            </a:pPr>
            <a:r>
              <a:rPr sz="3900" b="1">
                <a:solidFill>
                  <a:srgbClr val="007F78"/>
                </a:solidFill>
                <a:latin typeface="DejaVu Sans"/>
                <a:ea typeface="DejaVu Sans"/>
                <a:cs typeface="DejaVu Sans"/>
              </a:rPr>
              <a:t>21</a:t>
            </a:r>
          </a:p>
        </p:txBody>
      </p:sp>
      <p:sp>
        <p:nvSpPr>
          <p:cNvPr id="9" name="unit forecast targets">
            <a:extLst xmlns:a="http://schemas.openxmlformats.org/drawingml/2006/main">
              <a:ext uri="{FF2B5EF4-FFF2-40B4-BE49-F238E27FC236}">
                <a16:creationId xmlns:a16="http://schemas.microsoft.com/office/drawing/2014/main" id="{80E1AAD3-1C42-4B52-8932-C40B32085919}"/>
              </a:ext>
            </a:extLst>
          </p:cNvPr>
          <p:cNvSpPr>
            <a:spLocks xmlns:a="http://schemas.openxmlformats.org/drawingml/2006/main" noGrp="1"/>
          </p:cNvSpPr>
          <p:nvPr/>
        </p:nvSpPr>
        <p:spPr>
          <a:xfrm xmlns:a="http://schemas.openxmlformats.org/drawingml/2006/main">
            <a:off x="8572500" y="26193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64768A"/>
                </a:solidFill>
                <a:latin typeface="DejaVu Sans"/>
                <a:ea typeface="DejaVu Sans"/>
                <a:cs typeface="DejaVu Sans"/>
              </a:defRPr>
            </a:defPPr>
            <a:lvl1pPr>
              <a:defRPr sz="1875" b="0">
                <a:solidFill>
                  <a:srgbClr val="64768A"/>
                </a:solidFill>
                <a:latin typeface="DejaVu Sans"/>
                <a:ea typeface="DejaVu Sans"/>
                <a:cs typeface="DejaVu Sans"/>
              </a:defRPr>
            </a:lvl1pPr>
            <a:lvl2pPr>
              <a:defRPr sz="1875" b="0">
                <a:solidFill>
                  <a:srgbClr val="64768A"/>
                </a:solidFill>
                <a:latin typeface="DejaVu Sans"/>
                <a:ea typeface="DejaVu Sans"/>
                <a:cs typeface="DejaVu Sans"/>
              </a:defRPr>
            </a:lvl2pPr>
            <a:lvl3pPr>
              <a:defRPr sz="1875" b="0">
                <a:solidFill>
                  <a:srgbClr val="64768A"/>
                </a:solidFill>
                <a:latin typeface="DejaVu Sans"/>
                <a:ea typeface="DejaVu Sans"/>
                <a:cs typeface="DejaVu Sans"/>
              </a:defRPr>
            </a:lvl3pPr>
            <a:lvl4pPr>
              <a:defRPr sz="1875" b="0">
                <a:solidFill>
                  <a:srgbClr val="64768A"/>
                </a:solidFill>
                <a:latin typeface="DejaVu Sans"/>
                <a:ea typeface="DejaVu Sans"/>
                <a:cs typeface="DejaVu Sans"/>
              </a:defRPr>
            </a:lvl4pPr>
            <a:lvl5pPr>
              <a:defRPr sz="1875" b="0">
                <a:solidFill>
                  <a:srgbClr val="64768A"/>
                </a:solidFill>
                <a:latin typeface="DejaVu Sans"/>
                <a:ea typeface="DejaVu Sans"/>
                <a:cs typeface="DejaVu Sans"/>
              </a:defRPr>
            </a:lvl5pPr>
            <a:lvl6pPr>
              <a:defRPr sz="1875" b="0">
                <a:solidFill>
                  <a:srgbClr val="64768A"/>
                </a:solidFill>
                <a:latin typeface="DejaVu Sans"/>
                <a:ea typeface="DejaVu Sans"/>
                <a:cs typeface="DejaVu Sans"/>
              </a:defRPr>
            </a:lvl6pPr>
            <a:lvl7pPr>
              <a:defRPr sz="1875" b="0">
                <a:solidFill>
                  <a:srgbClr val="64768A"/>
                </a:solidFill>
                <a:latin typeface="DejaVu Sans"/>
                <a:ea typeface="DejaVu Sans"/>
                <a:cs typeface="DejaVu Sans"/>
              </a:defRPr>
            </a:lvl7pPr>
            <a:lvl8pPr>
              <a:defRPr sz="1875" b="0">
                <a:solidFill>
                  <a:srgbClr val="64768A"/>
                </a:solidFill>
                <a:latin typeface="DejaVu Sans"/>
                <a:ea typeface="DejaVu Sans"/>
                <a:cs typeface="DejaVu Sans"/>
              </a:defRPr>
            </a:lvl8pPr>
            <a:lvl9pPr>
              <a:defRPr sz="1875" b="0">
                <a:solidFill>
                  <a:srgbClr val="64768A"/>
                </a:solidFill>
                <a:latin typeface="DejaVu Sans"/>
                <a:ea typeface="DejaVu Sans"/>
                <a:cs typeface="DejaVu Sans"/>
              </a:defRPr>
            </a:lvl9pPr>
          </a:lstStyle>
          <a:p xmlns:a="http://schemas.openxmlformats.org/drawingml/2006/main">
            <a:pPr>
              <a:defRPr sz="1875" b="0">
                <a:solidFill>
                  <a:srgbClr val="64768A"/>
                </a:solidFill>
                <a:latin typeface="DejaVu Sans"/>
                <a:ea typeface="DejaVu Sans"/>
                <a:cs typeface="DejaVu Sans"/>
              </a:defRPr>
            </a:pPr>
            <a:r>
              <a:rPr sz="1875" b="0">
                <a:solidFill>
                  <a:srgbClr val="64768A"/>
                </a:solidFill>
                <a:latin typeface="DejaVu Sans"/>
                <a:ea typeface="DejaVu Sans"/>
                <a:cs typeface="DejaVu Sans"/>
              </a:rPr>
              <a:t>forecast targets</a:t>
            </a:r>
          </a:p>
        </p:txBody>
      </p:sp>
      <p:sp>
        <p:nvSpPr>
          <p:cNvPr id="10" name="direction">
            <a:extLst xmlns:a="http://schemas.openxmlformats.org/drawingml/2006/main">
              <a:ext uri="{FF2B5EF4-FFF2-40B4-BE49-F238E27FC236}">
                <a16:creationId xmlns:a16="http://schemas.microsoft.com/office/drawing/2014/main" id="{13A57481-E40D-41F2-B0FE-66C669BA1DAF}"/>
              </a:ext>
            </a:extLst>
          </p:cNvPr>
          <p:cNvSpPr>
            <a:spLocks xmlns:a="http://schemas.openxmlformats.org/drawingml/2006/main" noGrp="1"/>
          </p:cNvSpPr>
          <p:nvPr/>
        </p:nvSpPr>
        <p:spPr>
          <a:xfrm xmlns:a="http://schemas.openxmlformats.org/drawingml/2006/main">
            <a:off x="762000" y="347662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142B42"/>
                </a:solidFill>
                <a:latin typeface="DejaVu Sans"/>
                <a:ea typeface="DejaVu Sans"/>
                <a:cs typeface="DejaVu Sans"/>
              </a:defRPr>
            </a:defPPr>
            <a:lvl1pPr>
              <a:defRPr sz="2175" b="1">
                <a:solidFill>
                  <a:srgbClr val="142B42"/>
                </a:solidFill>
                <a:latin typeface="DejaVu Sans"/>
                <a:ea typeface="DejaVu Sans"/>
                <a:cs typeface="DejaVu Sans"/>
              </a:defRPr>
            </a:lvl1pPr>
            <a:lvl2pPr>
              <a:defRPr sz="2175" b="1">
                <a:solidFill>
                  <a:srgbClr val="142B42"/>
                </a:solidFill>
                <a:latin typeface="DejaVu Sans"/>
                <a:ea typeface="DejaVu Sans"/>
                <a:cs typeface="DejaVu Sans"/>
              </a:defRPr>
            </a:lvl2pPr>
            <a:lvl3pPr>
              <a:defRPr sz="2175" b="1">
                <a:solidFill>
                  <a:srgbClr val="142B42"/>
                </a:solidFill>
                <a:latin typeface="DejaVu Sans"/>
                <a:ea typeface="DejaVu Sans"/>
                <a:cs typeface="DejaVu Sans"/>
              </a:defRPr>
            </a:lvl3pPr>
            <a:lvl4pPr>
              <a:defRPr sz="2175" b="1">
                <a:solidFill>
                  <a:srgbClr val="142B42"/>
                </a:solidFill>
                <a:latin typeface="DejaVu Sans"/>
                <a:ea typeface="DejaVu Sans"/>
                <a:cs typeface="DejaVu Sans"/>
              </a:defRPr>
            </a:lvl4pPr>
            <a:lvl5pPr>
              <a:defRPr sz="2175" b="1">
                <a:solidFill>
                  <a:srgbClr val="142B42"/>
                </a:solidFill>
                <a:latin typeface="DejaVu Sans"/>
                <a:ea typeface="DejaVu Sans"/>
                <a:cs typeface="DejaVu Sans"/>
              </a:defRPr>
            </a:lvl5pPr>
            <a:lvl6pPr>
              <a:defRPr sz="2175" b="1">
                <a:solidFill>
                  <a:srgbClr val="142B42"/>
                </a:solidFill>
                <a:latin typeface="DejaVu Sans"/>
                <a:ea typeface="DejaVu Sans"/>
                <a:cs typeface="DejaVu Sans"/>
              </a:defRPr>
            </a:lvl6pPr>
            <a:lvl7pPr>
              <a:defRPr sz="2175" b="1">
                <a:solidFill>
                  <a:srgbClr val="142B42"/>
                </a:solidFill>
                <a:latin typeface="DejaVu Sans"/>
                <a:ea typeface="DejaVu Sans"/>
                <a:cs typeface="DejaVu Sans"/>
              </a:defRPr>
            </a:lvl7pPr>
            <a:lvl8pPr>
              <a:defRPr sz="2175" b="1">
                <a:solidFill>
                  <a:srgbClr val="142B42"/>
                </a:solidFill>
                <a:latin typeface="DejaVu Sans"/>
                <a:ea typeface="DejaVu Sans"/>
                <a:cs typeface="DejaVu Sans"/>
              </a:defRPr>
            </a:lvl8pPr>
            <a:lvl9pPr>
              <a:defRPr sz="2175" b="1">
                <a:solidFill>
                  <a:srgbClr val="142B42"/>
                </a:solidFill>
                <a:latin typeface="DejaVu Sans"/>
                <a:ea typeface="DejaVu Sans"/>
                <a:cs typeface="DejaVu Sans"/>
              </a:defRPr>
            </a:lvl9pPr>
          </a:lstStyle>
          <a:p xmlns:a="http://schemas.openxmlformats.org/drawingml/2006/main">
            <a:pPr>
              <a:defRPr sz="2175" b="1">
                <a:solidFill>
                  <a:srgbClr val="142B42"/>
                </a:solidFill>
                <a:latin typeface="DejaVu Sans"/>
                <a:ea typeface="DejaVu Sans"/>
                <a:cs typeface="DejaVu Sans"/>
              </a:defRPr>
            </a:pPr>
            <a:r>
              <a:rPr sz="2175" b="1">
                <a:solidFill>
                  <a:srgbClr val="142B42"/>
                </a:solidFill>
                <a:latin typeface="DejaVu Sans"/>
                <a:ea typeface="DejaVu Sans"/>
                <a:cs typeface="DejaVu Sans"/>
              </a:rPr>
              <a:t>Economic direction: -1 adverse, 0 mixed, +1 favorable</a:t>
            </a:r>
          </a:p>
        </p:txBody>
      </p:sp>
      <p:sp>
        <p:nvSpPr>
          <p:cNvPr id="11" name="aggregation">
            <a:extLst xmlns:a="http://schemas.openxmlformats.org/drawingml/2006/main">
              <a:ext uri="{FF2B5EF4-FFF2-40B4-BE49-F238E27FC236}">
                <a16:creationId xmlns:a16="http://schemas.microsoft.com/office/drawing/2014/main" id="{A23B8C2C-B02D-45BD-B32D-0CC089A0B31E}"/>
              </a:ext>
            </a:extLst>
          </p:cNvPr>
          <p:cNvSpPr>
            <a:spLocks xmlns:a="http://schemas.openxmlformats.org/drawingml/2006/main" noGrp="1"/>
          </p:cNvSpPr>
          <p:nvPr/>
        </p:nvSpPr>
        <p:spPr>
          <a:xfrm xmlns:a="http://schemas.openxmlformats.org/drawingml/2006/main">
            <a:off x="762000" y="41433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007F78"/>
                </a:solidFill>
                <a:latin typeface="DejaVu Sans"/>
                <a:ea typeface="DejaVu Sans"/>
                <a:cs typeface="DejaVu Sans"/>
              </a:defRPr>
            </a:defPPr>
            <a:lvl1pPr>
              <a:defRPr sz="2100" b="0">
                <a:solidFill>
                  <a:srgbClr val="007F78"/>
                </a:solidFill>
                <a:latin typeface="DejaVu Sans"/>
                <a:ea typeface="DejaVu Sans"/>
                <a:cs typeface="DejaVu Sans"/>
              </a:defRPr>
            </a:lvl1pPr>
            <a:lvl2pPr>
              <a:defRPr sz="2100" b="0">
                <a:solidFill>
                  <a:srgbClr val="007F78"/>
                </a:solidFill>
                <a:latin typeface="DejaVu Sans"/>
                <a:ea typeface="DejaVu Sans"/>
                <a:cs typeface="DejaVu Sans"/>
              </a:defRPr>
            </a:lvl2pPr>
            <a:lvl3pPr>
              <a:defRPr sz="2100" b="0">
                <a:solidFill>
                  <a:srgbClr val="007F78"/>
                </a:solidFill>
                <a:latin typeface="DejaVu Sans"/>
                <a:ea typeface="DejaVu Sans"/>
                <a:cs typeface="DejaVu Sans"/>
              </a:defRPr>
            </a:lvl3pPr>
            <a:lvl4pPr>
              <a:defRPr sz="2100" b="0">
                <a:solidFill>
                  <a:srgbClr val="007F78"/>
                </a:solidFill>
                <a:latin typeface="DejaVu Sans"/>
                <a:ea typeface="DejaVu Sans"/>
                <a:cs typeface="DejaVu Sans"/>
              </a:defRPr>
            </a:lvl4pPr>
            <a:lvl5pPr>
              <a:defRPr sz="2100" b="0">
                <a:solidFill>
                  <a:srgbClr val="007F78"/>
                </a:solidFill>
                <a:latin typeface="DejaVu Sans"/>
                <a:ea typeface="DejaVu Sans"/>
                <a:cs typeface="DejaVu Sans"/>
              </a:defRPr>
            </a:lvl5pPr>
            <a:lvl6pPr>
              <a:defRPr sz="2100" b="0">
                <a:solidFill>
                  <a:srgbClr val="007F78"/>
                </a:solidFill>
                <a:latin typeface="DejaVu Sans"/>
                <a:ea typeface="DejaVu Sans"/>
                <a:cs typeface="DejaVu Sans"/>
              </a:defRPr>
            </a:lvl6pPr>
            <a:lvl7pPr>
              <a:defRPr sz="2100" b="0">
                <a:solidFill>
                  <a:srgbClr val="007F78"/>
                </a:solidFill>
                <a:latin typeface="DejaVu Sans"/>
                <a:ea typeface="DejaVu Sans"/>
                <a:cs typeface="DejaVu Sans"/>
              </a:defRPr>
            </a:lvl7pPr>
            <a:lvl8pPr>
              <a:defRPr sz="2100" b="0">
                <a:solidFill>
                  <a:srgbClr val="007F78"/>
                </a:solidFill>
                <a:latin typeface="DejaVu Sans"/>
                <a:ea typeface="DejaVu Sans"/>
                <a:cs typeface="DejaVu Sans"/>
              </a:defRPr>
            </a:lvl8pPr>
            <a:lvl9pPr>
              <a:defRPr sz="2100" b="0">
                <a:solidFill>
                  <a:srgbClr val="007F78"/>
                </a:solidFill>
                <a:latin typeface="DejaVu Sans"/>
                <a:ea typeface="DejaVu Sans"/>
                <a:cs typeface="DejaVu Sans"/>
              </a:defRPr>
            </a:lvl9pPr>
          </a:lstStyle>
          <a:p xmlns:a="http://schemas.openxmlformats.org/drawingml/2006/main">
            <a:pPr>
              <a:defRPr sz="2100" b="0">
                <a:solidFill>
                  <a:srgbClr val="007F78"/>
                </a:solidFill>
                <a:latin typeface="DejaVu Sans"/>
                <a:ea typeface="DejaVu Sans"/>
                <a:cs typeface="DejaVu Sans"/>
              </a:defRPr>
            </a:pPr>
            <a:r>
              <a:rPr sz="2100" b="0">
                <a:solidFill>
                  <a:srgbClr val="007F78"/>
                </a:solidFill>
                <a:latin typeface="DejaVu Sans"/>
                <a:ea typeface="DejaVu Sans"/>
                <a:cs typeface="DejaVu Sans"/>
              </a:rPr>
              <a:t>Mean within each source, then equal source weights</a:t>
            </a:r>
          </a:p>
        </p:txBody>
      </p:sp>
      <p:sp>
        <p:nvSpPr>
          <p:cNvPr id="12" name="dimensions">
            <a:extLst xmlns:a="http://schemas.openxmlformats.org/drawingml/2006/main">
              <a:ext uri="{FF2B5EF4-FFF2-40B4-BE49-F238E27FC236}">
                <a16:creationId xmlns:a16="http://schemas.microsoft.com/office/drawing/2014/main" id="{FCA25632-D8F9-434B-B47B-874EFA3C4A1B}"/>
              </a:ext>
            </a:extLst>
          </p:cNvPr>
          <p:cNvSpPr>
            <a:spLocks xmlns:a="http://schemas.openxmlformats.org/drawingml/2006/main" noGrp="1"/>
          </p:cNvSpPr>
          <p:nvPr/>
        </p:nvSpPr>
        <p:spPr>
          <a:xfrm xmlns:a="http://schemas.openxmlformats.org/drawingml/2006/main">
            <a:off x="762000" y="48387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42B42"/>
                </a:solidFill>
                <a:latin typeface="DejaVu Sans"/>
                <a:ea typeface="DejaVu Sans"/>
                <a:cs typeface="DejaVu Sans"/>
              </a:defRPr>
            </a:defPPr>
            <a:lvl1pPr>
              <a:defRPr sz="1950" b="0">
                <a:solidFill>
                  <a:srgbClr val="142B42"/>
                </a:solidFill>
                <a:latin typeface="DejaVu Sans"/>
                <a:ea typeface="DejaVu Sans"/>
                <a:cs typeface="DejaVu Sans"/>
              </a:defRPr>
            </a:lvl1pPr>
            <a:lvl2pPr>
              <a:defRPr sz="1950" b="0">
                <a:solidFill>
                  <a:srgbClr val="142B42"/>
                </a:solidFill>
                <a:latin typeface="DejaVu Sans"/>
                <a:ea typeface="DejaVu Sans"/>
                <a:cs typeface="DejaVu Sans"/>
              </a:defRPr>
            </a:lvl2pPr>
            <a:lvl3pPr>
              <a:defRPr sz="1950" b="0">
                <a:solidFill>
                  <a:srgbClr val="142B42"/>
                </a:solidFill>
                <a:latin typeface="DejaVu Sans"/>
                <a:ea typeface="DejaVu Sans"/>
                <a:cs typeface="DejaVu Sans"/>
              </a:defRPr>
            </a:lvl3pPr>
            <a:lvl4pPr>
              <a:defRPr sz="1950" b="0">
                <a:solidFill>
                  <a:srgbClr val="142B42"/>
                </a:solidFill>
                <a:latin typeface="DejaVu Sans"/>
                <a:ea typeface="DejaVu Sans"/>
                <a:cs typeface="DejaVu Sans"/>
              </a:defRPr>
            </a:lvl4pPr>
            <a:lvl5pPr>
              <a:defRPr sz="1950" b="0">
                <a:solidFill>
                  <a:srgbClr val="142B42"/>
                </a:solidFill>
                <a:latin typeface="DejaVu Sans"/>
                <a:ea typeface="DejaVu Sans"/>
                <a:cs typeface="DejaVu Sans"/>
              </a:defRPr>
            </a:lvl5pPr>
            <a:lvl6pPr>
              <a:defRPr sz="1950" b="0">
                <a:solidFill>
                  <a:srgbClr val="142B42"/>
                </a:solidFill>
                <a:latin typeface="DejaVu Sans"/>
                <a:ea typeface="DejaVu Sans"/>
                <a:cs typeface="DejaVu Sans"/>
              </a:defRPr>
            </a:lvl6pPr>
            <a:lvl7pPr>
              <a:defRPr sz="1950" b="0">
                <a:solidFill>
                  <a:srgbClr val="142B42"/>
                </a:solidFill>
                <a:latin typeface="DejaVu Sans"/>
                <a:ea typeface="DejaVu Sans"/>
                <a:cs typeface="DejaVu Sans"/>
              </a:defRPr>
            </a:lvl7pPr>
            <a:lvl8pPr>
              <a:defRPr sz="1950" b="0">
                <a:solidFill>
                  <a:srgbClr val="142B42"/>
                </a:solidFill>
                <a:latin typeface="DejaVu Sans"/>
                <a:ea typeface="DejaVu Sans"/>
                <a:cs typeface="DejaVu Sans"/>
              </a:defRPr>
            </a:lvl8pPr>
            <a:lvl9pPr>
              <a:defRPr sz="1950" b="0">
                <a:solidFill>
                  <a:srgbClr val="142B42"/>
                </a:solidFill>
                <a:latin typeface="DejaVu Sans"/>
                <a:ea typeface="DejaVu Sans"/>
                <a:cs typeface="DejaVu Sans"/>
              </a:defRPr>
            </a:lvl9pPr>
          </a:lstStyle>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Topic and price framing: fixed wording rules</a:t>
            </a:r>
          </a:p>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Factual checks: selected titles matched to official releases</a:t>
            </a:r>
          </a:p>
        </p:txBody>
      </p:sp>
      <p:sp>
        <p:nvSpPr>
          <p:cNvPr id="13" name="source and scope">
            <a:extLst xmlns:a="http://schemas.openxmlformats.org/drawingml/2006/main">
              <a:ext uri="{FF2B5EF4-FFF2-40B4-BE49-F238E27FC236}">
                <a16:creationId xmlns:a16="http://schemas.microsoft.com/office/drawing/2014/main" id="{E881D9DC-AEBA-45A4-8685-8B1A31AA4DBB}"/>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NPR 220 / Colorado Sun 223 / Hacker News 227. Frozen automated tone labels. Timing leaves 45 usable observations.</a:t>
            </a:r>
          </a:p>
        </p:txBody>
      </p:sp>
    </p:spTree>
    <p:extLst>
      <p:ext uri="{BB962C8B-B14F-4D97-AF65-F5344CB8AC3E}">
        <p14:creationId xmlns:p14="http://schemas.microsoft.com/office/powerpoint/2010/main" val="3039658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3DBCB35-EB3B-4F35-81FA-AD87D946DAA4}"/>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CLASSIFIER CHECK</a:t>
            </a:r>
          </a:p>
        </p:txBody>
      </p:sp>
      <p:sp>
        <p:nvSpPr>
          <p:cNvPr id="2" name="title">
            <a:extLst xmlns:a="http://schemas.openxmlformats.org/drawingml/2006/main">
              <a:ext uri="{FF2B5EF4-FFF2-40B4-BE49-F238E27FC236}">
                <a16:creationId xmlns:a16="http://schemas.microsoft.com/office/drawing/2014/main" id="{C6735A4E-4CD1-48A3-BF51-2E0235C42615}"/>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Performance drops on new titles</a:t>
            </a:r>
          </a:p>
        </p:txBody>
      </p:sp>
      <p:sp>
        <p:nvSpPr>
          <p:cNvPr id="3" name="page">
            <a:extLst xmlns:a="http://schemas.openxmlformats.org/drawingml/2006/main">
              <a:ext uri="{FF2B5EF4-FFF2-40B4-BE49-F238E27FC236}">
                <a16:creationId xmlns:a16="http://schemas.microsoft.com/office/drawing/2014/main" id="{0DD18147-B158-4EAC-8B02-FA75B68BBF59}"/>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04</a:t>
            </a:r>
          </a:p>
        </p:txBody>
      </p:sp>
      <p:sp>
        <p:nvSpPr>
          <p:cNvPr id="4" name="model">
            <a:extLst xmlns:a="http://schemas.openxmlformats.org/drawingml/2006/main">
              <a:ext uri="{FF2B5EF4-FFF2-40B4-BE49-F238E27FC236}">
                <a16:creationId xmlns:a16="http://schemas.microsoft.com/office/drawing/2014/main" id="{6F754901-708D-4975-91E8-347E8C984D56}"/>
              </a:ext>
            </a:extLst>
          </p:cNvPr>
          <p:cNvSpPr>
            <a:spLocks xmlns:a="http://schemas.openxmlformats.org/drawingml/2006/main" noGrp="1"/>
          </p:cNvSpPr>
          <p:nvPr/>
        </p:nvSpPr>
        <p:spPr>
          <a:xfrm xmlns:a="http://schemas.openxmlformats.org/drawingml/2006/main">
            <a:off x="762000" y="180975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64768A"/>
                </a:solidFill>
                <a:latin typeface="DejaVu Sans"/>
                <a:ea typeface="DejaVu Sans"/>
                <a:cs typeface="DejaVu Sans"/>
              </a:defRPr>
            </a:defPPr>
            <a:lvl1pPr>
              <a:defRPr sz="2100" b="0">
                <a:solidFill>
                  <a:srgbClr val="64768A"/>
                </a:solidFill>
                <a:latin typeface="DejaVu Sans"/>
                <a:ea typeface="DejaVu Sans"/>
                <a:cs typeface="DejaVu Sans"/>
              </a:defRPr>
            </a:lvl1pPr>
            <a:lvl2pPr>
              <a:defRPr sz="2100" b="0">
                <a:solidFill>
                  <a:srgbClr val="64768A"/>
                </a:solidFill>
                <a:latin typeface="DejaVu Sans"/>
                <a:ea typeface="DejaVu Sans"/>
                <a:cs typeface="DejaVu Sans"/>
              </a:defRPr>
            </a:lvl2pPr>
            <a:lvl3pPr>
              <a:defRPr sz="2100" b="0">
                <a:solidFill>
                  <a:srgbClr val="64768A"/>
                </a:solidFill>
                <a:latin typeface="DejaVu Sans"/>
                <a:ea typeface="DejaVu Sans"/>
                <a:cs typeface="DejaVu Sans"/>
              </a:defRPr>
            </a:lvl3pPr>
            <a:lvl4pPr>
              <a:defRPr sz="2100" b="0">
                <a:solidFill>
                  <a:srgbClr val="64768A"/>
                </a:solidFill>
                <a:latin typeface="DejaVu Sans"/>
                <a:ea typeface="DejaVu Sans"/>
                <a:cs typeface="DejaVu Sans"/>
              </a:defRPr>
            </a:lvl4pPr>
            <a:lvl5pPr>
              <a:defRPr sz="2100" b="0">
                <a:solidFill>
                  <a:srgbClr val="64768A"/>
                </a:solidFill>
                <a:latin typeface="DejaVu Sans"/>
                <a:ea typeface="DejaVu Sans"/>
                <a:cs typeface="DejaVu Sans"/>
              </a:defRPr>
            </a:lvl5pPr>
            <a:lvl6pPr>
              <a:defRPr sz="2100" b="0">
                <a:solidFill>
                  <a:srgbClr val="64768A"/>
                </a:solidFill>
                <a:latin typeface="DejaVu Sans"/>
                <a:ea typeface="DejaVu Sans"/>
                <a:cs typeface="DejaVu Sans"/>
              </a:defRPr>
            </a:lvl6pPr>
            <a:lvl7pPr>
              <a:defRPr sz="2100" b="0">
                <a:solidFill>
                  <a:srgbClr val="64768A"/>
                </a:solidFill>
                <a:latin typeface="DejaVu Sans"/>
                <a:ea typeface="DejaVu Sans"/>
                <a:cs typeface="DejaVu Sans"/>
              </a:defRPr>
            </a:lvl7pPr>
            <a:lvl8pPr>
              <a:defRPr sz="2100" b="0">
                <a:solidFill>
                  <a:srgbClr val="64768A"/>
                </a:solidFill>
                <a:latin typeface="DejaVu Sans"/>
                <a:ea typeface="DejaVu Sans"/>
                <a:cs typeface="DejaVu Sans"/>
              </a:defRPr>
            </a:lvl8pPr>
            <a:lvl9pPr>
              <a:defRPr sz="2100" b="0">
                <a:solidFill>
                  <a:srgbClr val="64768A"/>
                </a:solidFill>
                <a:latin typeface="DejaVu Sans"/>
                <a:ea typeface="DejaVu Sans"/>
                <a:cs typeface="DejaVu Sans"/>
              </a:defRPr>
            </a:lvl9pPr>
          </a:lstStyle>
          <a:p xmlns:a="http://schemas.openxmlformats.org/drawingml/2006/main">
            <a:pPr>
              <a:defRPr sz="2100" b="0">
                <a:solidFill>
                  <a:srgbClr val="64768A"/>
                </a:solidFill>
                <a:latin typeface="DejaVu Sans"/>
                <a:ea typeface="DejaVu Sans"/>
                <a:cs typeface="DejaVu Sans"/>
              </a:defRPr>
            </a:pPr>
            <a:r>
              <a:rPr sz="2100" b="0">
                <a:solidFill>
                  <a:srgbClr val="64768A"/>
                </a:solidFill>
                <a:latin typeface="DejaVu Sans"/>
                <a:ea typeface="DejaVu Sans"/>
                <a:cs typeface="DejaVu Sans"/>
              </a:rPr>
              <a:t>Hybrid semantic and conventional text classifier</a:t>
            </a:r>
          </a:p>
        </p:txBody>
      </p:sp>
      <p:sp>
        <p:nvSpPr>
          <p:cNvPr id="5" name="development">
            <a:extLst xmlns:a="http://schemas.openxmlformats.org/drawingml/2006/main">
              <a:ext uri="{FF2B5EF4-FFF2-40B4-BE49-F238E27FC236}">
                <a16:creationId xmlns:a16="http://schemas.microsoft.com/office/drawing/2014/main" id="{A24C9F6B-2240-4690-8D12-AAC545AB4906}"/>
              </a:ext>
            </a:extLst>
          </p:cNvPr>
          <p:cNvSpPr>
            <a:spLocks xmlns:a="http://schemas.openxmlformats.org/drawingml/2006/main" noGrp="1"/>
          </p:cNvSpPr>
          <p:nvPr/>
        </p:nvSpPr>
        <p:spPr>
          <a:xfrm xmlns:a="http://schemas.openxmlformats.org/drawingml/2006/main">
            <a:off x="762000" y="2619375"/>
            <a:ext cx="4476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800" b="1">
                <a:solidFill>
                  <a:srgbClr val="142B42"/>
                </a:solidFill>
                <a:latin typeface="DejaVu Sans"/>
                <a:ea typeface="DejaVu Sans"/>
                <a:cs typeface="DejaVu Sans"/>
              </a:defRPr>
            </a:defPPr>
            <a:lvl1pPr>
              <a:defRPr sz="4800" b="1">
                <a:solidFill>
                  <a:srgbClr val="142B42"/>
                </a:solidFill>
                <a:latin typeface="DejaVu Sans"/>
                <a:ea typeface="DejaVu Sans"/>
                <a:cs typeface="DejaVu Sans"/>
              </a:defRPr>
            </a:lvl1pPr>
            <a:lvl2pPr>
              <a:defRPr sz="4800" b="1">
                <a:solidFill>
                  <a:srgbClr val="142B42"/>
                </a:solidFill>
                <a:latin typeface="DejaVu Sans"/>
                <a:ea typeface="DejaVu Sans"/>
                <a:cs typeface="DejaVu Sans"/>
              </a:defRPr>
            </a:lvl2pPr>
            <a:lvl3pPr>
              <a:defRPr sz="4800" b="1">
                <a:solidFill>
                  <a:srgbClr val="142B42"/>
                </a:solidFill>
                <a:latin typeface="DejaVu Sans"/>
                <a:ea typeface="DejaVu Sans"/>
                <a:cs typeface="DejaVu Sans"/>
              </a:defRPr>
            </a:lvl3pPr>
            <a:lvl4pPr>
              <a:defRPr sz="4800" b="1">
                <a:solidFill>
                  <a:srgbClr val="142B42"/>
                </a:solidFill>
                <a:latin typeface="DejaVu Sans"/>
                <a:ea typeface="DejaVu Sans"/>
                <a:cs typeface="DejaVu Sans"/>
              </a:defRPr>
            </a:lvl4pPr>
            <a:lvl5pPr>
              <a:defRPr sz="4800" b="1">
                <a:solidFill>
                  <a:srgbClr val="142B42"/>
                </a:solidFill>
                <a:latin typeface="DejaVu Sans"/>
                <a:ea typeface="DejaVu Sans"/>
                <a:cs typeface="DejaVu Sans"/>
              </a:defRPr>
            </a:lvl5pPr>
            <a:lvl6pPr>
              <a:defRPr sz="4800" b="1">
                <a:solidFill>
                  <a:srgbClr val="142B42"/>
                </a:solidFill>
                <a:latin typeface="DejaVu Sans"/>
                <a:ea typeface="DejaVu Sans"/>
                <a:cs typeface="DejaVu Sans"/>
              </a:defRPr>
            </a:lvl6pPr>
            <a:lvl7pPr>
              <a:defRPr sz="4800" b="1">
                <a:solidFill>
                  <a:srgbClr val="142B42"/>
                </a:solidFill>
                <a:latin typeface="DejaVu Sans"/>
                <a:ea typeface="DejaVu Sans"/>
                <a:cs typeface="DejaVu Sans"/>
              </a:defRPr>
            </a:lvl7pPr>
            <a:lvl8pPr>
              <a:defRPr sz="4800" b="1">
                <a:solidFill>
                  <a:srgbClr val="142B42"/>
                </a:solidFill>
                <a:latin typeface="DejaVu Sans"/>
                <a:ea typeface="DejaVu Sans"/>
                <a:cs typeface="DejaVu Sans"/>
              </a:defRPr>
            </a:lvl8pPr>
            <a:lvl9pPr>
              <a:defRPr sz="4800" b="1">
                <a:solidFill>
                  <a:srgbClr val="142B42"/>
                </a:solidFill>
                <a:latin typeface="DejaVu Sans"/>
                <a:ea typeface="DejaVu Sans"/>
                <a:cs typeface="DejaVu Sans"/>
              </a:defRPr>
            </a:lvl9pPr>
          </a:lstStyle>
          <a:p xmlns:a="http://schemas.openxmlformats.org/drawingml/2006/main">
            <a:pPr>
              <a:defRPr sz="4800" b="1">
                <a:solidFill>
                  <a:srgbClr val="142B42"/>
                </a:solidFill>
                <a:latin typeface="DejaVu Sans"/>
                <a:ea typeface="DejaVu Sans"/>
                <a:cs typeface="DejaVu Sans"/>
              </a:defRPr>
            </a:pPr>
            <a:r>
              <a:rPr sz="4800" b="1">
                <a:solidFill>
                  <a:srgbClr val="142B42"/>
                </a:solidFill>
                <a:latin typeface="DejaVu Sans"/>
                <a:ea typeface="DejaVu Sans"/>
                <a:cs typeface="DejaVu Sans"/>
              </a:rPr>
              <a:t>68.0%</a:t>
            </a:r>
          </a:p>
        </p:txBody>
      </p:sp>
      <p:sp>
        <p:nvSpPr>
          <p:cNvPr id="6" name="development label">
            <a:extLst xmlns:a="http://schemas.openxmlformats.org/drawingml/2006/main">
              <a:ext uri="{FF2B5EF4-FFF2-40B4-BE49-F238E27FC236}">
                <a16:creationId xmlns:a16="http://schemas.microsoft.com/office/drawing/2014/main" id="{F6C20D0C-D05D-440B-9524-7E5682C270EF}"/>
              </a:ext>
            </a:extLst>
          </p:cNvPr>
          <p:cNvSpPr>
            <a:spLocks xmlns:a="http://schemas.openxmlformats.org/drawingml/2006/main" noGrp="1"/>
          </p:cNvSpPr>
          <p:nvPr/>
        </p:nvSpPr>
        <p:spPr>
          <a:xfrm xmlns:a="http://schemas.openxmlformats.org/drawingml/2006/main">
            <a:off x="809625" y="3705225"/>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4768A"/>
                </a:solidFill>
                <a:latin typeface="DejaVu Sans"/>
                <a:ea typeface="DejaVu Sans"/>
                <a:cs typeface="DejaVu Sans"/>
              </a:defRPr>
            </a:defPPr>
            <a:lvl1pPr>
              <a:defRPr sz="2025" b="0">
                <a:solidFill>
                  <a:srgbClr val="64768A"/>
                </a:solidFill>
                <a:latin typeface="DejaVu Sans"/>
                <a:ea typeface="DejaVu Sans"/>
                <a:cs typeface="DejaVu Sans"/>
              </a:defRPr>
            </a:lvl1pPr>
            <a:lvl2pPr>
              <a:defRPr sz="2025" b="0">
                <a:solidFill>
                  <a:srgbClr val="64768A"/>
                </a:solidFill>
                <a:latin typeface="DejaVu Sans"/>
                <a:ea typeface="DejaVu Sans"/>
                <a:cs typeface="DejaVu Sans"/>
              </a:defRPr>
            </a:lvl2pPr>
            <a:lvl3pPr>
              <a:defRPr sz="2025" b="0">
                <a:solidFill>
                  <a:srgbClr val="64768A"/>
                </a:solidFill>
                <a:latin typeface="DejaVu Sans"/>
                <a:ea typeface="DejaVu Sans"/>
                <a:cs typeface="DejaVu Sans"/>
              </a:defRPr>
            </a:lvl3pPr>
            <a:lvl4pPr>
              <a:defRPr sz="2025" b="0">
                <a:solidFill>
                  <a:srgbClr val="64768A"/>
                </a:solidFill>
                <a:latin typeface="DejaVu Sans"/>
                <a:ea typeface="DejaVu Sans"/>
                <a:cs typeface="DejaVu Sans"/>
              </a:defRPr>
            </a:lvl4pPr>
            <a:lvl5pPr>
              <a:defRPr sz="2025" b="0">
                <a:solidFill>
                  <a:srgbClr val="64768A"/>
                </a:solidFill>
                <a:latin typeface="DejaVu Sans"/>
                <a:ea typeface="DejaVu Sans"/>
                <a:cs typeface="DejaVu Sans"/>
              </a:defRPr>
            </a:lvl5pPr>
            <a:lvl6pPr>
              <a:defRPr sz="2025" b="0">
                <a:solidFill>
                  <a:srgbClr val="64768A"/>
                </a:solidFill>
                <a:latin typeface="DejaVu Sans"/>
                <a:ea typeface="DejaVu Sans"/>
                <a:cs typeface="DejaVu Sans"/>
              </a:defRPr>
            </a:lvl6pPr>
            <a:lvl7pPr>
              <a:defRPr sz="2025" b="0">
                <a:solidFill>
                  <a:srgbClr val="64768A"/>
                </a:solidFill>
                <a:latin typeface="DejaVu Sans"/>
                <a:ea typeface="DejaVu Sans"/>
                <a:cs typeface="DejaVu Sans"/>
              </a:defRPr>
            </a:lvl7pPr>
            <a:lvl8pPr>
              <a:defRPr sz="2025" b="0">
                <a:solidFill>
                  <a:srgbClr val="64768A"/>
                </a:solidFill>
                <a:latin typeface="DejaVu Sans"/>
                <a:ea typeface="DejaVu Sans"/>
                <a:cs typeface="DejaVu Sans"/>
              </a:defRPr>
            </a:lvl8pPr>
            <a:lvl9pPr>
              <a:defRPr sz="2025" b="0">
                <a:solidFill>
                  <a:srgbClr val="64768A"/>
                </a:solidFill>
                <a:latin typeface="DejaVu Sans"/>
                <a:ea typeface="DejaVu Sans"/>
                <a:cs typeface="DejaVu Sans"/>
              </a:defRPr>
            </a:lvl9pPr>
          </a:lstStyle>
          <a:p xmlns:a="http://schemas.openxmlformats.org/drawingml/2006/main">
            <a:pPr>
              <a:defRPr sz="2025" b="0">
                <a:solidFill>
                  <a:srgbClr val="64768A"/>
                </a:solidFill>
                <a:latin typeface="DejaVu Sans"/>
                <a:ea typeface="DejaVu Sans"/>
                <a:cs typeface="DejaVu Sans"/>
              </a:defRPr>
            </a:pPr>
            <a:r>
              <a:rPr sz="2025" b="0">
                <a:solidFill>
                  <a:srgbClr val="64768A"/>
                </a:solidFill>
                <a:latin typeface="DejaVu Sans"/>
                <a:ea typeface="DejaVu Sans"/>
                <a:cs typeface="DejaVu Sans"/>
              </a:rPr>
              <a:t>Grouped development</a:t>
            </a:r>
          </a:p>
          <a:p xmlns:a="http://schemas.openxmlformats.org/drawingml/2006/main">
            <a:pPr>
              <a:defRPr sz="2025" b="0">
                <a:solidFill>
                  <a:srgbClr val="64768A"/>
                </a:solidFill>
                <a:latin typeface="DejaVu Sans"/>
                <a:ea typeface="DejaVu Sans"/>
                <a:cs typeface="DejaVu Sans"/>
              </a:defRPr>
            </a:pPr>
            <a:r>
              <a:rPr sz="2025" b="0">
                <a:solidFill>
                  <a:srgbClr val="64768A"/>
                </a:solidFill>
                <a:latin typeface="DejaVu Sans"/>
                <a:ea typeface="DejaVu Sans"/>
                <a:cs typeface="DejaVu Sans"/>
              </a:rPr>
              <a:t>automated reference / 300 titles</a:t>
            </a:r>
          </a:p>
        </p:txBody>
      </p:sp>
      <p:sp>
        <p:nvSpPr>
          <p:cNvPr id="7" name="transfer">
            <a:extLst xmlns:a="http://schemas.openxmlformats.org/drawingml/2006/main">
              <a:ext uri="{FF2B5EF4-FFF2-40B4-BE49-F238E27FC236}">
                <a16:creationId xmlns:a16="http://schemas.microsoft.com/office/drawing/2014/main" id="{DC10B2A6-EA26-4375-9A9E-3B1E987F7F8E}"/>
              </a:ext>
            </a:extLst>
          </p:cNvPr>
          <p:cNvSpPr>
            <a:spLocks xmlns:a="http://schemas.openxmlformats.org/drawingml/2006/main" noGrp="1"/>
          </p:cNvSpPr>
          <p:nvPr/>
        </p:nvSpPr>
        <p:spPr>
          <a:xfrm xmlns:a="http://schemas.openxmlformats.org/drawingml/2006/main">
            <a:off x="6667500" y="2619375"/>
            <a:ext cx="4286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800" b="1">
                <a:solidFill>
                  <a:srgbClr val="007F78"/>
                </a:solidFill>
                <a:latin typeface="DejaVu Sans"/>
                <a:ea typeface="DejaVu Sans"/>
                <a:cs typeface="DejaVu Sans"/>
              </a:defRPr>
            </a:defPPr>
            <a:lvl1pPr>
              <a:defRPr sz="4800" b="1">
                <a:solidFill>
                  <a:srgbClr val="007F78"/>
                </a:solidFill>
                <a:latin typeface="DejaVu Sans"/>
                <a:ea typeface="DejaVu Sans"/>
                <a:cs typeface="DejaVu Sans"/>
              </a:defRPr>
            </a:lvl1pPr>
            <a:lvl2pPr>
              <a:defRPr sz="4800" b="1">
                <a:solidFill>
                  <a:srgbClr val="007F78"/>
                </a:solidFill>
                <a:latin typeface="DejaVu Sans"/>
                <a:ea typeface="DejaVu Sans"/>
                <a:cs typeface="DejaVu Sans"/>
              </a:defRPr>
            </a:lvl2pPr>
            <a:lvl3pPr>
              <a:defRPr sz="4800" b="1">
                <a:solidFill>
                  <a:srgbClr val="007F78"/>
                </a:solidFill>
                <a:latin typeface="DejaVu Sans"/>
                <a:ea typeface="DejaVu Sans"/>
                <a:cs typeface="DejaVu Sans"/>
              </a:defRPr>
            </a:lvl3pPr>
            <a:lvl4pPr>
              <a:defRPr sz="4800" b="1">
                <a:solidFill>
                  <a:srgbClr val="007F78"/>
                </a:solidFill>
                <a:latin typeface="DejaVu Sans"/>
                <a:ea typeface="DejaVu Sans"/>
                <a:cs typeface="DejaVu Sans"/>
              </a:defRPr>
            </a:lvl4pPr>
            <a:lvl5pPr>
              <a:defRPr sz="4800" b="1">
                <a:solidFill>
                  <a:srgbClr val="007F78"/>
                </a:solidFill>
                <a:latin typeface="DejaVu Sans"/>
                <a:ea typeface="DejaVu Sans"/>
                <a:cs typeface="DejaVu Sans"/>
              </a:defRPr>
            </a:lvl5pPr>
            <a:lvl6pPr>
              <a:defRPr sz="4800" b="1">
                <a:solidFill>
                  <a:srgbClr val="007F78"/>
                </a:solidFill>
                <a:latin typeface="DejaVu Sans"/>
                <a:ea typeface="DejaVu Sans"/>
                <a:cs typeface="DejaVu Sans"/>
              </a:defRPr>
            </a:lvl6pPr>
            <a:lvl7pPr>
              <a:defRPr sz="4800" b="1">
                <a:solidFill>
                  <a:srgbClr val="007F78"/>
                </a:solidFill>
                <a:latin typeface="DejaVu Sans"/>
                <a:ea typeface="DejaVu Sans"/>
                <a:cs typeface="DejaVu Sans"/>
              </a:defRPr>
            </a:lvl7pPr>
            <a:lvl8pPr>
              <a:defRPr sz="4800" b="1">
                <a:solidFill>
                  <a:srgbClr val="007F78"/>
                </a:solidFill>
                <a:latin typeface="DejaVu Sans"/>
                <a:ea typeface="DejaVu Sans"/>
                <a:cs typeface="DejaVu Sans"/>
              </a:defRPr>
            </a:lvl8pPr>
            <a:lvl9pPr>
              <a:defRPr sz="4800" b="1">
                <a:solidFill>
                  <a:srgbClr val="007F78"/>
                </a:solidFill>
                <a:latin typeface="DejaVu Sans"/>
                <a:ea typeface="DejaVu Sans"/>
                <a:cs typeface="DejaVu Sans"/>
              </a:defRPr>
            </a:lvl9pPr>
          </a:lstStyle>
          <a:p xmlns:a="http://schemas.openxmlformats.org/drawingml/2006/main">
            <a:pPr>
              <a:defRPr sz="4800" b="1">
                <a:solidFill>
                  <a:srgbClr val="007F78"/>
                </a:solidFill>
                <a:latin typeface="DejaVu Sans"/>
                <a:ea typeface="DejaVu Sans"/>
                <a:cs typeface="DejaVu Sans"/>
              </a:defRPr>
            </a:pPr>
            <a:r>
              <a:rPr sz="4800" b="1">
                <a:solidFill>
                  <a:srgbClr val="007F78"/>
                </a:solidFill>
                <a:latin typeface="DejaVu Sans"/>
                <a:ea typeface="DejaVu Sans"/>
                <a:cs typeface="DejaVu Sans"/>
              </a:rPr>
              <a:t>53.3%</a:t>
            </a:r>
          </a:p>
        </p:txBody>
      </p:sp>
      <p:sp>
        <p:nvSpPr>
          <p:cNvPr id="8" name="transfer label">
            <a:extLst xmlns:a="http://schemas.openxmlformats.org/drawingml/2006/main">
              <a:ext uri="{FF2B5EF4-FFF2-40B4-BE49-F238E27FC236}">
                <a16:creationId xmlns:a16="http://schemas.microsoft.com/office/drawing/2014/main" id="{95F6200F-DEFD-48FA-9955-81CD6008FB2B}"/>
              </a:ext>
            </a:extLst>
          </p:cNvPr>
          <p:cNvSpPr>
            <a:spLocks xmlns:a="http://schemas.openxmlformats.org/drawingml/2006/main" noGrp="1"/>
          </p:cNvSpPr>
          <p:nvPr/>
        </p:nvSpPr>
        <p:spPr>
          <a:xfrm xmlns:a="http://schemas.openxmlformats.org/drawingml/2006/main">
            <a:off x="6715125" y="370522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4768A"/>
                </a:solidFill>
                <a:latin typeface="DejaVu Sans"/>
                <a:ea typeface="DejaVu Sans"/>
                <a:cs typeface="DejaVu Sans"/>
              </a:defRPr>
            </a:defPPr>
            <a:lvl1pPr>
              <a:defRPr sz="2025" b="0">
                <a:solidFill>
                  <a:srgbClr val="64768A"/>
                </a:solidFill>
                <a:latin typeface="DejaVu Sans"/>
                <a:ea typeface="DejaVu Sans"/>
                <a:cs typeface="DejaVu Sans"/>
              </a:defRPr>
            </a:lvl1pPr>
            <a:lvl2pPr>
              <a:defRPr sz="2025" b="0">
                <a:solidFill>
                  <a:srgbClr val="64768A"/>
                </a:solidFill>
                <a:latin typeface="DejaVu Sans"/>
                <a:ea typeface="DejaVu Sans"/>
                <a:cs typeface="DejaVu Sans"/>
              </a:defRPr>
            </a:lvl2pPr>
            <a:lvl3pPr>
              <a:defRPr sz="2025" b="0">
                <a:solidFill>
                  <a:srgbClr val="64768A"/>
                </a:solidFill>
                <a:latin typeface="DejaVu Sans"/>
                <a:ea typeface="DejaVu Sans"/>
                <a:cs typeface="DejaVu Sans"/>
              </a:defRPr>
            </a:lvl3pPr>
            <a:lvl4pPr>
              <a:defRPr sz="2025" b="0">
                <a:solidFill>
                  <a:srgbClr val="64768A"/>
                </a:solidFill>
                <a:latin typeface="DejaVu Sans"/>
                <a:ea typeface="DejaVu Sans"/>
                <a:cs typeface="DejaVu Sans"/>
              </a:defRPr>
            </a:lvl4pPr>
            <a:lvl5pPr>
              <a:defRPr sz="2025" b="0">
                <a:solidFill>
                  <a:srgbClr val="64768A"/>
                </a:solidFill>
                <a:latin typeface="DejaVu Sans"/>
                <a:ea typeface="DejaVu Sans"/>
                <a:cs typeface="DejaVu Sans"/>
              </a:defRPr>
            </a:lvl5pPr>
            <a:lvl6pPr>
              <a:defRPr sz="2025" b="0">
                <a:solidFill>
                  <a:srgbClr val="64768A"/>
                </a:solidFill>
                <a:latin typeface="DejaVu Sans"/>
                <a:ea typeface="DejaVu Sans"/>
                <a:cs typeface="DejaVu Sans"/>
              </a:defRPr>
            </a:lvl6pPr>
            <a:lvl7pPr>
              <a:defRPr sz="2025" b="0">
                <a:solidFill>
                  <a:srgbClr val="64768A"/>
                </a:solidFill>
                <a:latin typeface="DejaVu Sans"/>
                <a:ea typeface="DejaVu Sans"/>
                <a:cs typeface="DejaVu Sans"/>
              </a:defRPr>
            </a:lvl7pPr>
            <a:lvl8pPr>
              <a:defRPr sz="2025" b="0">
                <a:solidFill>
                  <a:srgbClr val="64768A"/>
                </a:solidFill>
                <a:latin typeface="DejaVu Sans"/>
                <a:ea typeface="DejaVu Sans"/>
                <a:cs typeface="DejaVu Sans"/>
              </a:defRPr>
            </a:lvl8pPr>
            <a:lvl9pPr>
              <a:defRPr sz="2025" b="0">
                <a:solidFill>
                  <a:srgbClr val="64768A"/>
                </a:solidFill>
                <a:latin typeface="DejaVu Sans"/>
                <a:ea typeface="DejaVu Sans"/>
                <a:cs typeface="DejaVu Sans"/>
              </a:defRPr>
            </a:lvl9pPr>
          </a:lstStyle>
          <a:p xmlns:a="http://schemas.openxmlformats.org/drawingml/2006/main">
            <a:pPr>
              <a:defRPr sz="2025" b="0">
                <a:solidFill>
                  <a:srgbClr val="64768A"/>
                </a:solidFill>
                <a:latin typeface="DejaVu Sans"/>
                <a:ea typeface="DejaVu Sans"/>
                <a:cs typeface="DejaVu Sans"/>
              </a:defRPr>
            </a:pPr>
            <a:r>
              <a:rPr sz="2025" b="0">
                <a:solidFill>
                  <a:srgbClr val="64768A"/>
                </a:solidFill>
                <a:latin typeface="DejaVu Sans"/>
                <a:ea typeface="DejaVu Sans"/>
                <a:cs typeface="DejaVu Sans"/>
              </a:rPr>
              <a:t>New-title transfer</a:t>
            </a:r>
          </a:p>
          <a:p xmlns:a="http://schemas.openxmlformats.org/drawingml/2006/main">
            <a:pPr>
              <a:defRPr sz="2025" b="0">
                <a:solidFill>
                  <a:srgbClr val="64768A"/>
                </a:solidFill>
                <a:latin typeface="DejaVu Sans"/>
                <a:ea typeface="DejaVu Sans"/>
                <a:cs typeface="DejaVu Sans"/>
              </a:defRPr>
            </a:pPr>
            <a:r>
              <a:rPr sz="2025" b="0">
                <a:solidFill>
                  <a:srgbClr val="64768A"/>
                </a:solidFill>
                <a:latin typeface="DejaVu Sans"/>
                <a:ea typeface="DejaVu Sans"/>
                <a:cs typeface="DejaVu Sans"/>
              </a:rPr>
              <a:t>automated reference / 300 titles</a:t>
            </a:r>
          </a:p>
        </p:txBody>
      </p:sp>
      <p:sp>
        <p:nvSpPr>
          <p:cNvPr id="9" name="primary">
            <a:extLst xmlns:a="http://schemas.openxmlformats.org/drawingml/2006/main">
              <a:ext uri="{FF2B5EF4-FFF2-40B4-BE49-F238E27FC236}">
                <a16:creationId xmlns:a16="http://schemas.microsoft.com/office/drawing/2014/main" id="{E73BBC04-3A80-4CD8-8B99-1805FFD40E18}"/>
              </a:ext>
            </a:extLst>
          </p:cNvPr>
          <p:cNvSpPr>
            <a:spLocks xmlns:a="http://schemas.openxmlformats.org/drawingml/2006/main" noGrp="1"/>
          </p:cNvSpPr>
          <p:nvPr/>
        </p:nvSpPr>
        <p:spPr>
          <a:xfrm xmlns:a="http://schemas.openxmlformats.org/drawingml/2006/main">
            <a:off x="762000" y="5019675"/>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B96E45"/>
                </a:solidFill>
                <a:latin typeface="DejaVu Sans"/>
                <a:ea typeface="DejaVu Sans"/>
                <a:cs typeface="DejaVu Sans"/>
              </a:defRPr>
            </a:defPPr>
            <a:lvl1pPr>
              <a:defRPr sz="2175" b="1">
                <a:solidFill>
                  <a:srgbClr val="B96E45"/>
                </a:solidFill>
                <a:latin typeface="DejaVu Sans"/>
                <a:ea typeface="DejaVu Sans"/>
                <a:cs typeface="DejaVu Sans"/>
              </a:defRPr>
            </a:lvl1pPr>
            <a:lvl2pPr>
              <a:defRPr sz="2175" b="1">
                <a:solidFill>
                  <a:srgbClr val="B96E45"/>
                </a:solidFill>
                <a:latin typeface="DejaVu Sans"/>
                <a:ea typeface="DejaVu Sans"/>
                <a:cs typeface="DejaVu Sans"/>
              </a:defRPr>
            </a:lvl2pPr>
            <a:lvl3pPr>
              <a:defRPr sz="2175" b="1">
                <a:solidFill>
                  <a:srgbClr val="B96E45"/>
                </a:solidFill>
                <a:latin typeface="DejaVu Sans"/>
                <a:ea typeface="DejaVu Sans"/>
                <a:cs typeface="DejaVu Sans"/>
              </a:defRPr>
            </a:lvl3pPr>
            <a:lvl4pPr>
              <a:defRPr sz="2175" b="1">
                <a:solidFill>
                  <a:srgbClr val="B96E45"/>
                </a:solidFill>
                <a:latin typeface="DejaVu Sans"/>
                <a:ea typeface="DejaVu Sans"/>
                <a:cs typeface="DejaVu Sans"/>
              </a:defRPr>
            </a:lvl4pPr>
            <a:lvl5pPr>
              <a:defRPr sz="2175" b="1">
                <a:solidFill>
                  <a:srgbClr val="B96E45"/>
                </a:solidFill>
                <a:latin typeface="DejaVu Sans"/>
                <a:ea typeface="DejaVu Sans"/>
                <a:cs typeface="DejaVu Sans"/>
              </a:defRPr>
            </a:lvl5pPr>
            <a:lvl6pPr>
              <a:defRPr sz="2175" b="1">
                <a:solidFill>
                  <a:srgbClr val="B96E45"/>
                </a:solidFill>
                <a:latin typeface="DejaVu Sans"/>
                <a:ea typeface="DejaVu Sans"/>
                <a:cs typeface="DejaVu Sans"/>
              </a:defRPr>
            </a:lvl6pPr>
            <a:lvl7pPr>
              <a:defRPr sz="2175" b="1">
                <a:solidFill>
                  <a:srgbClr val="B96E45"/>
                </a:solidFill>
                <a:latin typeface="DejaVu Sans"/>
                <a:ea typeface="DejaVu Sans"/>
                <a:cs typeface="DejaVu Sans"/>
              </a:defRPr>
            </a:lvl7pPr>
            <a:lvl8pPr>
              <a:defRPr sz="2175" b="1">
                <a:solidFill>
                  <a:srgbClr val="B96E45"/>
                </a:solidFill>
                <a:latin typeface="DejaVu Sans"/>
                <a:ea typeface="DejaVu Sans"/>
                <a:cs typeface="DejaVu Sans"/>
              </a:defRPr>
            </a:lvl8pPr>
            <a:lvl9pPr>
              <a:defRPr sz="2175" b="1">
                <a:solidFill>
                  <a:srgbClr val="B96E45"/>
                </a:solidFill>
                <a:latin typeface="DejaVu Sans"/>
                <a:ea typeface="DejaVu Sans"/>
                <a:cs typeface="DejaVu Sans"/>
              </a:defRPr>
            </a:lvl9pPr>
          </a:lstStyle>
          <a:p xmlns:a="http://schemas.openxmlformats.org/drawingml/2006/main">
            <a:pPr>
              <a:defRPr sz="2175" b="1">
                <a:solidFill>
                  <a:srgbClr val="B96E45"/>
                </a:solidFill>
                <a:latin typeface="DejaVu Sans"/>
                <a:ea typeface="DejaVu Sans"/>
                <a:cs typeface="DejaVu Sans"/>
              </a:defRPr>
            </a:pPr>
            <a:r>
              <a:rPr sz="2175" b="1">
                <a:solidFill>
                  <a:srgbClr val="B96E45"/>
                </a:solidFill>
                <a:latin typeface="DejaVu Sans"/>
                <a:ea typeface="DejaVu Sans"/>
                <a:cs typeface="DejaVu Sans"/>
              </a:rPr>
              <a:t>Primary index: frozen automated title coding</a:t>
            </a:r>
          </a:p>
          <a:p xmlns:a="http://schemas.openxmlformats.org/drawingml/2006/main">
            <a:pPr>
              <a:defRPr sz="2175" b="1">
                <a:solidFill>
                  <a:srgbClr val="B96E45"/>
                </a:solidFill>
                <a:latin typeface="DejaVu Sans"/>
                <a:ea typeface="DejaVu Sans"/>
                <a:cs typeface="DejaVu Sans"/>
              </a:defRPr>
            </a:pPr>
            <a:r>
              <a:rPr sz="2175" b="1">
                <a:solidFill>
                  <a:srgbClr val="B96E45"/>
                </a:solidFill>
                <a:latin typeface="DejaVu Sans"/>
                <a:ea typeface="DejaVu Sans"/>
                <a:cs typeface="DejaVu Sans"/>
              </a:rPr>
              <a:t>Independent accuracy remains unverified</a:t>
            </a:r>
          </a:p>
        </p:txBody>
      </p:sp>
      <p:sp>
        <p:nvSpPr>
          <p:cNvPr id="10" name="source and scope">
            <a:extLst xmlns:a="http://schemas.openxmlformats.org/drawingml/2006/main">
              <a:ext uri="{FF2B5EF4-FFF2-40B4-BE49-F238E27FC236}">
                <a16:creationId xmlns:a16="http://schemas.microsoft.com/office/drawing/2014/main" id="{C9C152E1-BCAB-42B4-82B7-A6B76A2FA839}"/>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Different evaluation sets. Related stories grouped during development. Percentages measure agreement with automated references.</a:t>
            </a:r>
          </a:p>
        </p:txBody>
      </p:sp>
    </p:spTree>
    <p:extLst>
      <p:ext uri="{BB962C8B-B14F-4D97-AF65-F5344CB8AC3E}">
        <p14:creationId xmlns:p14="http://schemas.microsoft.com/office/powerpoint/2010/main" val="17976240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8C51E82-F9D1-4F10-A1DB-44C77E46AEAB}"/>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SOURCE COMPARISON</a:t>
            </a:r>
          </a:p>
        </p:txBody>
      </p:sp>
      <p:sp>
        <p:nvSpPr>
          <p:cNvPr id="2" name="title">
            <a:extLst xmlns:a="http://schemas.openxmlformats.org/drawingml/2006/main">
              <a:ext uri="{FF2B5EF4-FFF2-40B4-BE49-F238E27FC236}">
                <a16:creationId xmlns:a16="http://schemas.microsoft.com/office/drawing/2014/main" id="{5E1FDBAB-1E56-413A-B98F-AEB9BFE131E2}"/>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Sources emphasize different economic issues</a:t>
            </a:r>
          </a:p>
        </p:txBody>
      </p:sp>
      <p:sp>
        <p:nvSpPr>
          <p:cNvPr id="3" name="page">
            <a:extLst xmlns:a="http://schemas.openxmlformats.org/drawingml/2006/main">
              <a:ext uri="{FF2B5EF4-FFF2-40B4-BE49-F238E27FC236}">
                <a16:creationId xmlns:a16="http://schemas.microsoft.com/office/drawing/2014/main" id="{82489CA9-2516-4C82-991F-BBD3345C812C}"/>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05</a:t>
            </a:r>
          </a:p>
        </p:txBody>
      </p:sp>
      <p:graphicFrame>
        <p:nvGraphicFramePr>
          <p:cNvPr id="4" name="Chart">
            <a:extLst xmlns:a="http://schemas.openxmlformats.org/drawingml/2006/main">
              <a:ext uri="{FF2B5EF4-FFF2-40B4-BE49-F238E27FC236}">
                <a16:creationId xmlns:a16="http://schemas.microsoft.com/office/drawing/2014/main" id="{06824F5E-634D-43E1-BF7A-E74FE30CEA2B}"/>
              </a:ext>
            </a:extLst>
          </p:cNvPr>
          <p:cNvGraphicFramePr/>
          <p:nvPr/>
        </p:nvGraphicFramePr>
        <p:xfrm>
          <a:off xmlns:a="http://schemas.openxmlformats.org/drawingml/2006/main" x="714375" y="1857375"/>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6db379bba365404a"/>
          </a:graphicData>
        </a:graphic>
      </p:graphicFrame>
      <p:sp>
        <p:nvSpPr>
          <p:cNvPr id="5" name="reading">
            <a:extLst xmlns:a="http://schemas.openxmlformats.org/drawingml/2006/main">
              <a:ext uri="{FF2B5EF4-FFF2-40B4-BE49-F238E27FC236}">
                <a16:creationId xmlns:a16="http://schemas.microsoft.com/office/drawing/2014/main" id="{D4F3A5ED-2FE8-48BC-A970-64C8549BF920}"/>
              </a:ext>
            </a:extLst>
          </p:cNvPr>
          <p:cNvSpPr>
            <a:spLocks xmlns:a="http://schemas.openxmlformats.org/drawingml/2006/main" noGrp="1"/>
          </p:cNvSpPr>
          <p:nvPr/>
        </p:nvSpPr>
        <p:spPr>
          <a:xfrm xmlns:a="http://schemas.openxmlformats.org/drawingml/2006/main">
            <a:off x="762000" y="54102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1">
                <a:solidFill>
                  <a:srgbClr val="007F78"/>
                </a:solidFill>
                <a:latin typeface="DejaVu Sans"/>
                <a:ea typeface="DejaVu Sans"/>
                <a:cs typeface="DejaVu Sans"/>
              </a:defRPr>
            </a:defPPr>
            <a:lvl1pPr>
              <a:defRPr sz="2250" b="1">
                <a:solidFill>
                  <a:srgbClr val="007F78"/>
                </a:solidFill>
                <a:latin typeface="DejaVu Sans"/>
                <a:ea typeface="DejaVu Sans"/>
                <a:cs typeface="DejaVu Sans"/>
              </a:defRPr>
            </a:lvl1pPr>
            <a:lvl2pPr>
              <a:defRPr sz="2250" b="1">
                <a:solidFill>
                  <a:srgbClr val="007F78"/>
                </a:solidFill>
                <a:latin typeface="DejaVu Sans"/>
                <a:ea typeface="DejaVu Sans"/>
                <a:cs typeface="DejaVu Sans"/>
              </a:defRPr>
            </a:lvl2pPr>
            <a:lvl3pPr>
              <a:defRPr sz="2250" b="1">
                <a:solidFill>
                  <a:srgbClr val="007F78"/>
                </a:solidFill>
                <a:latin typeface="DejaVu Sans"/>
                <a:ea typeface="DejaVu Sans"/>
                <a:cs typeface="DejaVu Sans"/>
              </a:defRPr>
            </a:lvl3pPr>
            <a:lvl4pPr>
              <a:defRPr sz="2250" b="1">
                <a:solidFill>
                  <a:srgbClr val="007F78"/>
                </a:solidFill>
                <a:latin typeface="DejaVu Sans"/>
                <a:ea typeface="DejaVu Sans"/>
                <a:cs typeface="DejaVu Sans"/>
              </a:defRPr>
            </a:lvl4pPr>
            <a:lvl5pPr>
              <a:defRPr sz="2250" b="1">
                <a:solidFill>
                  <a:srgbClr val="007F78"/>
                </a:solidFill>
                <a:latin typeface="DejaVu Sans"/>
                <a:ea typeface="DejaVu Sans"/>
                <a:cs typeface="DejaVu Sans"/>
              </a:defRPr>
            </a:lvl5pPr>
            <a:lvl6pPr>
              <a:defRPr sz="2250" b="1">
                <a:solidFill>
                  <a:srgbClr val="007F78"/>
                </a:solidFill>
                <a:latin typeface="DejaVu Sans"/>
                <a:ea typeface="DejaVu Sans"/>
                <a:cs typeface="DejaVu Sans"/>
              </a:defRPr>
            </a:lvl6pPr>
            <a:lvl7pPr>
              <a:defRPr sz="2250" b="1">
                <a:solidFill>
                  <a:srgbClr val="007F78"/>
                </a:solidFill>
                <a:latin typeface="DejaVu Sans"/>
                <a:ea typeface="DejaVu Sans"/>
                <a:cs typeface="DejaVu Sans"/>
              </a:defRPr>
            </a:lvl7pPr>
            <a:lvl8pPr>
              <a:defRPr sz="2250" b="1">
                <a:solidFill>
                  <a:srgbClr val="007F78"/>
                </a:solidFill>
                <a:latin typeface="DejaVu Sans"/>
                <a:ea typeface="DejaVu Sans"/>
                <a:cs typeface="DejaVu Sans"/>
              </a:defRPr>
            </a:lvl8pPr>
            <a:lvl9pPr>
              <a:defRPr sz="2250" b="1">
                <a:solidFill>
                  <a:srgbClr val="007F78"/>
                </a:solidFill>
                <a:latin typeface="DejaVu Sans"/>
                <a:ea typeface="DejaVu Sans"/>
                <a:cs typeface="DejaVu Sans"/>
              </a:defRPr>
            </a:lvl9pPr>
          </a:lstStyle>
          <a:p xmlns:a="http://schemas.openxmlformats.org/drawingml/2006/main">
            <a:pPr>
              <a:defRPr sz="2250" b="1">
                <a:solidFill>
                  <a:srgbClr val="007F78"/>
                </a:solidFill>
                <a:latin typeface="DejaVu Sans"/>
                <a:ea typeface="DejaVu Sans"/>
                <a:cs typeface="DejaVu Sans"/>
              </a:defRPr>
            </a:pPr>
            <a:r>
              <a:rPr sz="2250" b="1">
                <a:solidFill>
                  <a:srgbClr val="007F78"/>
                </a:solidFill>
                <a:latin typeface="DejaVu Sans"/>
                <a:ea typeface="DejaVu Sans"/>
                <a:cs typeface="DejaVu Sans"/>
              </a:rPr>
              <a:t>Topic mix affects what a tone index represents</a:t>
            </a:r>
          </a:p>
        </p:txBody>
      </p:sp>
      <p:sp>
        <p:nvSpPr>
          <p:cNvPr id="6" name="source and scope">
            <a:extLst xmlns:a="http://schemas.openxmlformats.org/drawingml/2006/main">
              <a:ext uri="{FF2B5EF4-FFF2-40B4-BE49-F238E27FC236}">
                <a16:creationId xmlns:a16="http://schemas.microsoft.com/office/drawing/2014/main" id="{A306A8EF-FFD9-4E48-89B6-C9DD4057A0D1}"/>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Percent of sampled titles with fixed vocabulary matches. Categories overlap. Selected coverage does not represent the whole media agenda.</a:t>
            </a:r>
          </a:p>
        </p:txBody>
      </p:sp>
    </p:spTree>
    <p:extLst>
      <p:ext uri="{BB962C8B-B14F-4D97-AF65-F5344CB8AC3E}">
        <p14:creationId xmlns:p14="http://schemas.microsoft.com/office/powerpoint/2010/main" val="14988439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BD1B4995-A157-4454-A7DB-AE5354EB9E55}"/>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FORECAST RESULTS</a:t>
            </a:r>
          </a:p>
        </p:txBody>
      </p:sp>
      <p:sp>
        <p:nvSpPr>
          <p:cNvPr id="2" name="title">
            <a:extLst xmlns:a="http://schemas.openxmlformats.org/drawingml/2006/main">
              <a:ext uri="{FF2B5EF4-FFF2-40B4-BE49-F238E27FC236}">
                <a16:creationId xmlns:a16="http://schemas.microsoft.com/office/drawing/2014/main" id="{698C023F-D793-4E2C-88B3-EAAB45EE62BD}"/>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News helps only the narrower model</a:t>
            </a:r>
          </a:p>
        </p:txBody>
      </p:sp>
      <p:sp>
        <p:nvSpPr>
          <p:cNvPr id="3" name="page">
            <a:extLst xmlns:a="http://schemas.openxmlformats.org/drawingml/2006/main">
              <a:ext uri="{FF2B5EF4-FFF2-40B4-BE49-F238E27FC236}">
                <a16:creationId xmlns:a16="http://schemas.microsoft.com/office/drawing/2014/main" id="{352C22C2-C664-41F9-B0C8-3C297C98B01F}"/>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06</a:t>
            </a:r>
          </a:p>
        </p:txBody>
      </p:sp>
      <p:graphicFrame>
        <p:nvGraphicFramePr>
          <p:cNvPr id="4" name="Chart">
            <a:extLst xmlns:a="http://schemas.openxmlformats.org/drawingml/2006/main">
              <a:ext uri="{FF2B5EF4-FFF2-40B4-BE49-F238E27FC236}">
                <a16:creationId xmlns:a16="http://schemas.microsoft.com/office/drawing/2014/main" id="{206E3BC2-B0F5-40B7-BBC7-4B8E227C62AF}"/>
              </a:ext>
            </a:extLst>
          </p:cNvPr>
          <p:cNvGraphicFramePr/>
          <p:nvPr/>
        </p:nvGraphicFramePr>
        <p:xfrm>
          <a:off xmlns:a="http://schemas.openxmlformats.org/drawingml/2006/main" x="714375" y="1809750"/>
          <a:ext xmlns:a="http://schemas.openxmlformats.org/drawingml/2006/main" cx="10572750" cy="3190875"/>
        </p:xfrm>
        <a:graphic xmlns:a="http://schemas.openxmlformats.org/drawingml/2006/main">
          <a:graphicData uri="http://schemas.openxmlformats.org/drawingml/2006/chart">
            <c:chart xmlns:r="http://schemas.openxmlformats.org/officeDocument/2006/relationships" xmlns:c="http://schemas.openxmlformats.org/drawingml/2006/chart" r:id="R6c2f03e6a1874644"/>
          </a:graphicData>
        </a:graphic>
      </p:graphicFrame>
      <p:sp>
        <p:nvSpPr>
          <p:cNvPr id="5" name="finding">
            <a:extLst xmlns:a="http://schemas.openxmlformats.org/drawingml/2006/main">
              <a:ext uri="{FF2B5EF4-FFF2-40B4-BE49-F238E27FC236}">
                <a16:creationId xmlns:a16="http://schemas.microsoft.com/office/drawing/2014/main" id="{9D0B6C4C-D678-40BD-AC9E-02115733280F}"/>
              </a:ext>
            </a:extLst>
          </p:cNvPr>
          <p:cNvSpPr>
            <a:spLocks xmlns:a="http://schemas.openxmlformats.org/drawingml/2006/main" noGrp="1"/>
          </p:cNvSpPr>
          <p:nvPr/>
        </p:nvSpPr>
        <p:spPr>
          <a:xfrm xmlns:a="http://schemas.openxmlformats.org/drawingml/2006/main">
            <a:off x="762000" y="52863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007F78"/>
                </a:solidFill>
                <a:latin typeface="DejaVu Sans"/>
                <a:ea typeface="DejaVu Sans"/>
                <a:cs typeface="DejaVu Sans"/>
              </a:defRPr>
            </a:defPPr>
            <a:lvl1pPr>
              <a:defRPr sz="2175" b="1">
                <a:solidFill>
                  <a:srgbClr val="007F78"/>
                </a:solidFill>
                <a:latin typeface="DejaVu Sans"/>
                <a:ea typeface="DejaVu Sans"/>
                <a:cs typeface="DejaVu Sans"/>
              </a:defRPr>
            </a:lvl1pPr>
            <a:lvl2pPr>
              <a:defRPr sz="2175" b="1">
                <a:solidFill>
                  <a:srgbClr val="007F78"/>
                </a:solidFill>
                <a:latin typeface="DejaVu Sans"/>
                <a:ea typeface="DejaVu Sans"/>
                <a:cs typeface="DejaVu Sans"/>
              </a:defRPr>
            </a:lvl2pPr>
            <a:lvl3pPr>
              <a:defRPr sz="2175" b="1">
                <a:solidFill>
                  <a:srgbClr val="007F78"/>
                </a:solidFill>
                <a:latin typeface="DejaVu Sans"/>
                <a:ea typeface="DejaVu Sans"/>
                <a:cs typeface="DejaVu Sans"/>
              </a:defRPr>
            </a:lvl3pPr>
            <a:lvl4pPr>
              <a:defRPr sz="2175" b="1">
                <a:solidFill>
                  <a:srgbClr val="007F78"/>
                </a:solidFill>
                <a:latin typeface="DejaVu Sans"/>
                <a:ea typeface="DejaVu Sans"/>
                <a:cs typeface="DejaVu Sans"/>
              </a:defRPr>
            </a:lvl4pPr>
            <a:lvl5pPr>
              <a:defRPr sz="2175" b="1">
                <a:solidFill>
                  <a:srgbClr val="007F78"/>
                </a:solidFill>
                <a:latin typeface="DejaVu Sans"/>
                <a:ea typeface="DejaVu Sans"/>
                <a:cs typeface="DejaVu Sans"/>
              </a:defRPr>
            </a:lvl5pPr>
            <a:lvl6pPr>
              <a:defRPr sz="2175" b="1">
                <a:solidFill>
                  <a:srgbClr val="007F78"/>
                </a:solidFill>
                <a:latin typeface="DejaVu Sans"/>
                <a:ea typeface="DejaVu Sans"/>
                <a:cs typeface="DejaVu Sans"/>
              </a:defRPr>
            </a:lvl6pPr>
            <a:lvl7pPr>
              <a:defRPr sz="2175" b="1">
                <a:solidFill>
                  <a:srgbClr val="007F78"/>
                </a:solidFill>
                <a:latin typeface="DejaVu Sans"/>
                <a:ea typeface="DejaVu Sans"/>
                <a:cs typeface="DejaVu Sans"/>
              </a:defRPr>
            </a:lvl7pPr>
            <a:lvl8pPr>
              <a:defRPr sz="2175" b="1">
                <a:solidFill>
                  <a:srgbClr val="007F78"/>
                </a:solidFill>
                <a:latin typeface="DejaVu Sans"/>
                <a:ea typeface="DejaVu Sans"/>
                <a:cs typeface="DejaVu Sans"/>
              </a:defRPr>
            </a:lvl8pPr>
            <a:lvl9pPr>
              <a:defRPr sz="2175" b="1">
                <a:solidFill>
                  <a:srgbClr val="007F78"/>
                </a:solidFill>
                <a:latin typeface="DejaVu Sans"/>
                <a:ea typeface="DejaVu Sans"/>
                <a:cs typeface="DejaVu Sans"/>
              </a:defRPr>
            </a:lvl9pPr>
          </a:lstStyle>
          <a:p xmlns:a="http://schemas.openxmlformats.org/drawingml/2006/main">
            <a:pPr>
              <a:defRPr sz="2175" b="1">
                <a:solidFill>
                  <a:srgbClr val="007F78"/>
                </a:solidFill>
                <a:latin typeface="DejaVu Sans"/>
                <a:ea typeface="DejaVu Sans"/>
                <a:cs typeface="DejaVu Sans"/>
              </a:defRPr>
            </a:pPr>
            <a:r>
              <a:rPr sz="2175" b="1">
                <a:solidFill>
                  <a:srgbClr val="007F78"/>
                </a:solidFill>
                <a:latin typeface="DejaVu Sans"/>
                <a:ea typeface="DejaVu Sans"/>
                <a:cs typeface="DejaVu Sans"/>
              </a:rPr>
              <a:t>Broader controls account for the larger improvement.</a:t>
            </a:r>
          </a:p>
        </p:txBody>
      </p:sp>
      <p:sp>
        <p:nvSpPr>
          <p:cNvPr id="6" name="source and scope">
            <a:extLst xmlns:a="http://schemas.openxmlformats.org/drawingml/2006/main">
              <a:ext uri="{FF2B5EF4-FFF2-40B4-BE49-F238E27FC236}">
                <a16:creationId xmlns:a16="http://schemas.microsoft.com/office/drawing/2014/main" id="{2180D1AC-DA86-42E3-97E3-92B8B09661FE}"/>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Forecast error (RMSE), lower is better. Same 21 targets. Narrow-model gain: 1.25 points, 95% interval -1.02 to +3.34.</a:t>
            </a:r>
          </a:p>
        </p:txBody>
      </p:sp>
    </p:spTree>
    <p:extLst>
      <p:ext uri="{BB962C8B-B14F-4D97-AF65-F5344CB8AC3E}">
        <p14:creationId xmlns:p14="http://schemas.microsoft.com/office/powerpoint/2010/main" val="16759282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7541D49-C93F-47C5-A1E2-46C0A1D6CB3A}"/>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WHAT IMPROVES PREDICTION?</a:t>
            </a:r>
          </a:p>
        </p:txBody>
      </p:sp>
      <p:sp>
        <p:nvSpPr>
          <p:cNvPr id="2" name="title">
            <a:extLst xmlns:a="http://schemas.openxmlformats.org/drawingml/2006/main">
              <a:ext uri="{FF2B5EF4-FFF2-40B4-BE49-F238E27FC236}">
                <a16:creationId xmlns:a16="http://schemas.microsoft.com/office/drawing/2014/main" id="{28CD83CC-DD25-4648-8978-46145EC3067B}"/>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Last month already tells us a great deal</a:t>
            </a:r>
          </a:p>
        </p:txBody>
      </p:sp>
      <p:sp>
        <p:nvSpPr>
          <p:cNvPr id="3" name="page">
            <a:extLst xmlns:a="http://schemas.openxmlformats.org/drawingml/2006/main">
              <a:ext uri="{FF2B5EF4-FFF2-40B4-BE49-F238E27FC236}">
                <a16:creationId xmlns:a16="http://schemas.microsoft.com/office/drawing/2014/main" id="{A182366B-ABF9-4566-BEA4-E0DB2CF26AE2}"/>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07</a:t>
            </a:r>
          </a:p>
        </p:txBody>
      </p:sp>
      <p:graphicFrame>
        <p:nvGraphicFramePr>
          <p:cNvPr id="4" name="Chart">
            <a:extLst xmlns:a="http://schemas.openxmlformats.org/drawingml/2006/main">
              <a:ext uri="{FF2B5EF4-FFF2-40B4-BE49-F238E27FC236}">
                <a16:creationId xmlns:a16="http://schemas.microsoft.com/office/drawing/2014/main" id="{0A816B50-9C4C-4C2E-894A-FF90D0CA7BCC}"/>
              </a:ext>
            </a:extLst>
          </p:cNvPr>
          <p:cNvGraphicFramePr/>
          <p:nvPr/>
        </p:nvGraphicFramePr>
        <p:xfrm>
          <a:off xmlns:a="http://schemas.openxmlformats.org/drawingml/2006/main" x="714375" y="1905000"/>
          <a:ext xmlns:a="http://schemas.openxmlformats.org/drawingml/2006/main" cx="10572750" cy="3000375"/>
        </p:xfrm>
        <a:graphic xmlns:a="http://schemas.openxmlformats.org/drawingml/2006/main">
          <a:graphicData uri="http://schemas.openxmlformats.org/drawingml/2006/chart">
            <c:chart xmlns:r="http://schemas.openxmlformats.org/officeDocument/2006/relationships" xmlns:c="http://schemas.openxmlformats.org/drawingml/2006/chart" r:id="R6c669e1695404b9c"/>
          </a:graphicData>
        </a:graphic>
      </p:graphicFrame>
      <p:sp>
        <p:nvSpPr>
          <p:cNvPr id="5" name="finding">
            <a:extLst xmlns:a="http://schemas.openxmlformats.org/drawingml/2006/main">
              <a:ext uri="{FF2B5EF4-FFF2-40B4-BE49-F238E27FC236}">
                <a16:creationId xmlns:a16="http://schemas.microsoft.com/office/drawing/2014/main" id="{03009556-C6EA-4505-A732-F2F94AAAC918}"/>
              </a:ext>
            </a:extLst>
          </p:cNvPr>
          <p:cNvSpPr>
            <a:spLocks xmlns:a="http://schemas.openxmlformats.org/drawingml/2006/main" noGrp="1"/>
          </p:cNvSpPr>
          <p:nvPr/>
        </p:nvSpPr>
        <p:spPr>
          <a:xfrm xmlns:a="http://schemas.openxmlformats.org/drawingml/2006/main">
            <a:off x="762000" y="528637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325" b="1">
                <a:solidFill>
                  <a:srgbClr val="007F78"/>
                </a:solidFill>
                <a:latin typeface="DejaVu Sans"/>
                <a:ea typeface="DejaVu Sans"/>
                <a:cs typeface="DejaVu Sans"/>
              </a:defRPr>
            </a:defPPr>
            <a:lvl1pPr>
              <a:defRPr sz="2325" b="1">
                <a:solidFill>
                  <a:srgbClr val="007F78"/>
                </a:solidFill>
                <a:latin typeface="DejaVu Sans"/>
                <a:ea typeface="DejaVu Sans"/>
                <a:cs typeface="DejaVu Sans"/>
              </a:defRPr>
            </a:lvl1pPr>
            <a:lvl2pPr>
              <a:defRPr sz="2325" b="1">
                <a:solidFill>
                  <a:srgbClr val="007F78"/>
                </a:solidFill>
                <a:latin typeface="DejaVu Sans"/>
                <a:ea typeface="DejaVu Sans"/>
                <a:cs typeface="DejaVu Sans"/>
              </a:defRPr>
            </a:lvl2pPr>
            <a:lvl3pPr>
              <a:defRPr sz="2325" b="1">
                <a:solidFill>
                  <a:srgbClr val="007F78"/>
                </a:solidFill>
                <a:latin typeface="DejaVu Sans"/>
                <a:ea typeface="DejaVu Sans"/>
                <a:cs typeface="DejaVu Sans"/>
              </a:defRPr>
            </a:lvl3pPr>
            <a:lvl4pPr>
              <a:defRPr sz="2325" b="1">
                <a:solidFill>
                  <a:srgbClr val="007F78"/>
                </a:solidFill>
                <a:latin typeface="DejaVu Sans"/>
                <a:ea typeface="DejaVu Sans"/>
                <a:cs typeface="DejaVu Sans"/>
              </a:defRPr>
            </a:lvl4pPr>
            <a:lvl5pPr>
              <a:defRPr sz="2325" b="1">
                <a:solidFill>
                  <a:srgbClr val="007F78"/>
                </a:solidFill>
                <a:latin typeface="DejaVu Sans"/>
                <a:ea typeface="DejaVu Sans"/>
                <a:cs typeface="DejaVu Sans"/>
              </a:defRPr>
            </a:lvl5pPr>
            <a:lvl6pPr>
              <a:defRPr sz="2325" b="1">
                <a:solidFill>
                  <a:srgbClr val="007F78"/>
                </a:solidFill>
                <a:latin typeface="DejaVu Sans"/>
                <a:ea typeface="DejaVu Sans"/>
                <a:cs typeface="DejaVu Sans"/>
              </a:defRPr>
            </a:lvl6pPr>
            <a:lvl7pPr>
              <a:defRPr sz="2325" b="1">
                <a:solidFill>
                  <a:srgbClr val="007F78"/>
                </a:solidFill>
                <a:latin typeface="DejaVu Sans"/>
                <a:ea typeface="DejaVu Sans"/>
                <a:cs typeface="DejaVu Sans"/>
              </a:defRPr>
            </a:lvl7pPr>
            <a:lvl8pPr>
              <a:defRPr sz="2325" b="1">
                <a:solidFill>
                  <a:srgbClr val="007F78"/>
                </a:solidFill>
                <a:latin typeface="DejaVu Sans"/>
                <a:ea typeface="DejaVu Sans"/>
                <a:cs typeface="DejaVu Sans"/>
              </a:defRPr>
            </a:lvl8pPr>
            <a:lvl9pPr>
              <a:defRPr sz="2325" b="1">
                <a:solidFill>
                  <a:srgbClr val="007F78"/>
                </a:solidFill>
                <a:latin typeface="DejaVu Sans"/>
                <a:ea typeface="DejaVu Sans"/>
                <a:cs typeface="DejaVu Sans"/>
              </a:defRPr>
            </a:lvl9pPr>
          </a:lstStyle>
          <a:p xmlns:a="http://schemas.openxmlformats.org/drawingml/2006/main">
            <a:pPr>
              <a:defRPr sz="2325" b="1">
                <a:solidFill>
                  <a:srgbClr val="007F78"/>
                </a:solidFill>
                <a:latin typeface="DejaVu Sans"/>
                <a:ea typeface="DejaVu Sans"/>
                <a:cs typeface="DejaVu Sans"/>
              </a:defRPr>
            </a:pPr>
            <a:r>
              <a:rPr sz="2325" b="1">
                <a:solidFill>
                  <a:srgbClr val="007F78"/>
                </a:solidFill>
                <a:latin typeface="DejaVu Sans"/>
                <a:ea typeface="DejaVu Sans"/>
                <a:cs typeface="DejaVu Sans"/>
              </a:rPr>
              <a:t>Tone adds no reliable forecasting gain in this sample.</a:t>
            </a:r>
          </a:p>
        </p:txBody>
      </p:sp>
      <p:sp>
        <p:nvSpPr>
          <p:cNvPr id="6" name="source and scope">
            <a:extLst xmlns:a="http://schemas.openxmlformats.org/drawingml/2006/main">
              <a:ext uri="{FF2B5EF4-FFF2-40B4-BE49-F238E27FC236}">
                <a16:creationId xmlns:a16="http://schemas.microsoft.com/office/drawing/2014/main" id="{C32227BF-3DF9-4B37-B3AE-BA4B40D8D86E}"/>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Forecast error (RMSE), lower is better. Same 21 targets. Revised data and a short, previously inspected test limit certainty.</a:t>
            </a:r>
          </a:p>
        </p:txBody>
      </p:sp>
    </p:spTree>
    <p:extLst>
      <p:ext uri="{BB962C8B-B14F-4D97-AF65-F5344CB8AC3E}">
        <p14:creationId xmlns:p14="http://schemas.microsoft.com/office/powerpoint/2010/main" val="10141145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22CA1F1F-4496-4307-9454-FF235FB69DF1}"/>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INTERPRETING THE TEXT</a:t>
            </a:r>
          </a:p>
        </p:txBody>
      </p:sp>
      <p:sp>
        <p:nvSpPr>
          <p:cNvPr id="2" name="title">
            <a:extLst xmlns:a="http://schemas.openxmlformats.org/drawingml/2006/main">
              <a:ext uri="{FF2B5EF4-FFF2-40B4-BE49-F238E27FC236}">
                <a16:creationId xmlns:a16="http://schemas.microsoft.com/office/drawing/2014/main" id="{2AD084F2-6C79-4E9A-942C-B3565FE97EF1}"/>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Different wording can describe the same fact</a:t>
            </a:r>
          </a:p>
        </p:txBody>
      </p:sp>
      <p:sp>
        <p:nvSpPr>
          <p:cNvPr id="3" name="page">
            <a:extLst xmlns:a="http://schemas.openxmlformats.org/drawingml/2006/main">
              <a:ext uri="{FF2B5EF4-FFF2-40B4-BE49-F238E27FC236}">
                <a16:creationId xmlns:a16="http://schemas.microsoft.com/office/drawing/2014/main" id="{BAAEBE29-3037-41EA-86D9-621CEE560C86}"/>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08</a:t>
            </a:r>
          </a:p>
        </p:txBody>
      </p:sp>
      <p:sp>
        <p:nvSpPr>
          <p:cNvPr id="4" name="event">
            <a:extLst xmlns:a="http://schemas.openxmlformats.org/drawingml/2006/main">
              <a:ext uri="{FF2B5EF4-FFF2-40B4-BE49-F238E27FC236}">
                <a16:creationId xmlns:a16="http://schemas.microsoft.com/office/drawing/2014/main" id="{329A653F-91A4-440E-8839-0E8C9FED1819}"/>
              </a:ext>
            </a:extLst>
          </p:cNvPr>
          <p:cNvSpPr>
            <a:spLocks xmlns:a="http://schemas.openxmlformats.org/drawingml/2006/main" noGrp="1"/>
          </p:cNvSpPr>
          <p:nvPr/>
        </p:nvSpPr>
        <p:spPr>
          <a:xfrm xmlns:a="http://schemas.openxmlformats.org/drawingml/2006/main">
            <a:off x="762000" y="17716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64768A"/>
                </a:solidFill>
                <a:latin typeface="DejaVu Sans"/>
                <a:ea typeface="DejaVu Sans"/>
                <a:cs typeface="DejaVu Sans"/>
              </a:defRPr>
            </a:defPPr>
            <a:lvl1pPr>
              <a:defRPr sz="2025" b="0">
                <a:solidFill>
                  <a:srgbClr val="64768A"/>
                </a:solidFill>
                <a:latin typeface="DejaVu Sans"/>
                <a:ea typeface="DejaVu Sans"/>
                <a:cs typeface="DejaVu Sans"/>
              </a:defRPr>
            </a:lvl1pPr>
            <a:lvl2pPr>
              <a:defRPr sz="2025" b="0">
                <a:solidFill>
                  <a:srgbClr val="64768A"/>
                </a:solidFill>
                <a:latin typeface="DejaVu Sans"/>
                <a:ea typeface="DejaVu Sans"/>
                <a:cs typeface="DejaVu Sans"/>
              </a:defRPr>
            </a:lvl2pPr>
            <a:lvl3pPr>
              <a:defRPr sz="2025" b="0">
                <a:solidFill>
                  <a:srgbClr val="64768A"/>
                </a:solidFill>
                <a:latin typeface="DejaVu Sans"/>
                <a:ea typeface="DejaVu Sans"/>
                <a:cs typeface="DejaVu Sans"/>
              </a:defRPr>
            </a:lvl3pPr>
            <a:lvl4pPr>
              <a:defRPr sz="2025" b="0">
                <a:solidFill>
                  <a:srgbClr val="64768A"/>
                </a:solidFill>
                <a:latin typeface="DejaVu Sans"/>
                <a:ea typeface="DejaVu Sans"/>
                <a:cs typeface="DejaVu Sans"/>
              </a:defRPr>
            </a:lvl4pPr>
            <a:lvl5pPr>
              <a:defRPr sz="2025" b="0">
                <a:solidFill>
                  <a:srgbClr val="64768A"/>
                </a:solidFill>
                <a:latin typeface="DejaVu Sans"/>
                <a:ea typeface="DejaVu Sans"/>
                <a:cs typeface="DejaVu Sans"/>
              </a:defRPr>
            </a:lvl5pPr>
            <a:lvl6pPr>
              <a:defRPr sz="2025" b="0">
                <a:solidFill>
                  <a:srgbClr val="64768A"/>
                </a:solidFill>
                <a:latin typeface="DejaVu Sans"/>
                <a:ea typeface="DejaVu Sans"/>
                <a:cs typeface="DejaVu Sans"/>
              </a:defRPr>
            </a:lvl6pPr>
            <a:lvl7pPr>
              <a:defRPr sz="2025" b="0">
                <a:solidFill>
                  <a:srgbClr val="64768A"/>
                </a:solidFill>
                <a:latin typeface="DejaVu Sans"/>
                <a:ea typeface="DejaVu Sans"/>
                <a:cs typeface="DejaVu Sans"/>
              </a:defRPr>
            </a:lvl7pPr>
            <a:lvl8pPr>
              <a:defRPr sz="2025" b="0">
                <a:solidFill>
                  <a:srgbClr val="64768A"/>
                </a:solidFill>
                <a:latin typeface="DejaVu Sans"/>
                <a:ea typeface="DejaVu Sans"/>
                <a:cs typeface="DejaVu Sans"/>
              </a:defRPr>
            </a:lvl8pPr>
            <a:lvl9pPr>
              <a:defRPr sz="2025" b="0">
                <a:solidFill>
                  <a:srgbClr val="64768A"/>
                </a:solidFill>
                <a:latin typeface="DejaVu Sans"/>
                <a:ea typeface="DejaVu Sans"/>
                <a:cs typeface="DejaVu Sans"/>
              </a:defRPr>
            </a:lvl9pPr>
          </a:lstStyle>
          <a:p xmlns:a="http://schemas.openxmlformats.org/drawingml/2006/main">
            <a:pPr>
              <a:defRPr sz="2025" b="0">
                <a:solidFill>
                  <a:srgbClr val="64768A"/>
                </a:solidFill>
                <a:latin typeface="DejaVu Sans"/>
                <a:ea typeface="DejaVu Sans"/>
                <a:cs typeface="DejaVu Sans"/>
              </a:defRPr>
            </a:pPr>
            <a:r>
              <a:rPr sz="2025" b="0">
                <a:solidFill>
                  <a:srgbClr val="64768A"/>
                </a:solidFill>
                <a:latin typeface="DejaVu Sans"/>
                <a:ea typeface="DejaVu Sans"/>
                <a:cs typeface="DejaVu Sans"/>
              </a:rPr>
              <a:t>Same BEA release / July 30, 2020</a:t>
            </a:r>
          </a:p>
        </p:txBody>
      </p:sp>
      <p:sp>
        <p:nvSpPr>
          <p:cNvPr id="5" name="annualized">
            <a:extLst xmlns:a="http://schemas.openxmlformats.org/drawingml/2006/main">
              <a:ext uri="{FF2B5EF4-FFF2-40B4-BE49-F238E27FC236}">
                <a16:creationId xmlns:a16="http://schemas.microsoft.com/office/drawing/2014/main" id="{CFD288D6-FD5F-4C71-8BC7-A68991DBE72C}"/>
              </a:ext>
            </a:extLst>
          </p:cNvPr>
          <p:cNvSpPr>
            <a:spLocks xmlns:a="http://schemas.openxmlformats.org/drawingml/2006/main" noGrp="1"/>
          </p:cNvSpPr>
          <p:nvPr/>
        </p:nvSpPr>
        <p:spPr>
          <a:xfrm xmlns:a="http://schemas.openxmlformats.org/drawingml/2006/main">
            <a:off x="762000" y="2571750"/>
            <a:ext cx="447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800" b="1">
                <a:solidFill>
                  <a:srgbClr val="142B42"/>
                </a:solidFill>
                <a:latin typeface="DejaVu Sans"/>
                <a:ea typeface="DejaVu Sans"/>
                <a:cs typeface="DejaVu Sans"/>
              </a:defRPr>
            </a:defPPr>
            <a:lvl1pPr>
              <a:defRPr sz="4800" b="1">
                <a:solidFill>
                  <a:srgbClr val="142B42"/>
                </a:solidFill>
                <a:latin typeface="DejaVu Sans"/>
                <a:ea typeface="DejaVu Sans"/>
                <a:cs typeface="DejaVu Sans"/>
              </a:defRPr>
            </a:lvl1pPr>
            <a:lvl2pPr>
              <a:defRPr sz="4800" b="1">
                <a:solidFill>
                  <a:srgbClr val="142B42"/>
                </a:solidFill>
                <a:latin typeface="DejaVu Sans"/>
                <a:ea typeface="DejaVu Sans"/>
                <a:cs typeface="DejaVu Sans"/>
              </a:defRPr>
            </a:lvl2pPr>
            <a:lvl3pPr>
              <a:defRPr sz="4800" b="1">
                <a:solidFill>
                  <a:srgbClr val="142B42"/>
                </a:solidFill>
                <a:latin typeface="DejaVu Sans"/>
                <a:ea typeface="DejaVu Sans"/>
                <a:cs typeface="DejaVu Sans"/>
              </a:defRPr>
            </a:lvl3pPr>
            <a:lvl4pPr>
              <a:defRPr sz="4800" b="1">
                <a:solidFill>
                  <a:srgbClr val="142B42"/>
                </a:solidFill>
                <a:latin typeface="DejaVu Sans"/>
                <a:ea typeface="DejaVu Sans"/>
                <a:cs typeface="DejaVu Sans"/>
              </a:defRPr>
            </a:lvl4pPr>
            <a:lvl5pPr>
              <a:defRPr sz="4800" b="1">
                <a:solidFill>
                  <a:srgbClr val="142B42"/>
                </a:solidFill>
                <a:latin typeface="DejaVu Sans"/>
                <a:ea typeface="DejaVu Sans"/>
                <a:cs typeface="DejaVu Sans"/>
              </a:defRPr>
            </a:lvl5pPr>
            <a:lvl6pPr>
              <a:defRPr sz="4800" b="1">
                <a:solidFill>
                  <a:srgbClr val="142B42"/>
                </a:solidFill>
                <a:latin typeface="DejaVu Sans"/>
                <a:ea typeface="DejaVu Sans"/>
                <a:cs typeface="DejaVu Sans"/>
              </a:defRPr>
            </a:lvl6pPr>
            <a:lvl7pPr>
              <a:defRPr sz="4800" b="1">
                <a:solidFill>
                  <a:srgbClr val="142B42"/>
                </a:solidFill>
                <a:latin typeface="DejaVu Sans"/>
                <a:ea typeface="DejaVu Sans"/>
                <a:cs typeface="DejaVu Sans"/>
              </a:defRPr>
            </a:lvl7pPr>
            <a:lvl8pPr>
              <a:defRPr sz="4800" b="1">
                <a:solidFill>
                  <a:srgbClr val="142B42"/>
                </a:solidFill>
                <a:latin typeface="DejaVu Sans"/>
                <a:ea typeface="DejaVu Sans"/>
                <a:cs typeface="DejaVu Sans"/>
              </a:defRPr>
            </a:lvl8pPr>
            <a:lvl9pPr>
              <a:defRPr sz="4800" b="1">
                <a:solidFill>
                  <a:srgbClr val="142B42"/>
                </a:solidFill>
                <a:latin typeface="DejaVu Sans"/>
                <a:ea typeface="DejaVu Sans"/>
                <a:cs typeface="DejaVu Sans"/>
              </a:defRPr>
            </a:lvl9pPr>
          </a:lstStyle>
          <a:p xmlns:a="http://schemas.openxmlformats.org/drawingml/2006/main">
            <a:pPr>
              <a:defRPr sz="4800" b="1">
                <a:solidFill>
                  <a:srgbClr val="142B42"/>
                </a:solidFill>
                <a:latin typeface="DejaVu Sans"/>
                <a:ea typeface="DejaVu Sans"/>
                <a:cs typeface="DejaVu Sans"/>
              </a:defRPr>
            </a:pPr>
            <a:r>
              <a:rPr sz="4800" b="1">
                <a:solidFill>
                  <a:srgbClr val="142B42"/>
                </a:solidFill>
                <a:latin typeface="DejaVu Sans"/>
                <a:ea typeface="DejaVu Sans"/>
                <a:cs typeface="DejaVu Sans"/>
              </a:rPr>
              <a:t>32.9%</a:t>
            </a:r>
          </a:p>
        </p:txBody>
      </p:sp>
      <p:sp>
        <p:nvSpPr>
          <p:cNvPr id="6" name="annualized unit">
            <a:extLst xmlns:a="http://schemas.openxmlformats.org/drawingml/2006/main">
              <a:ext uri="{FF2B5EF4-FFF2-40B4-BE49-F238E27FC236}">
                <a16:creationId xmlns:a16="http://schemas.microsoft.com/office/drawing/2014/main" id="{6FF7D622-FD0B-49C3-AEEC-648AC81DF1CF}"/>
              </a:ext>
            </a:extLst>
          </p:cNvPr>
          <p:cNvSpPr>
            <a:spLocks xmlns:a="http://schemas.openxmlformats.org/drawingml/2006/main" noGrp="1"/>
          </p:cNvSpPr>
          <p:nvPr/>
        </p:nvSpPr>
        <p:spPr>
          <a:xfrm xmlns:a="http://schemas.openxmlformats.org/drawingml/2006/main">
            <a:off x="809625" y="3667125"/>
            <a:ext cx="466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64768A"/>
                </a:solidFill>
                <a:latin typeface="DejaVu Sans"/>
                <a:ea typeface="DejaVu Sans"/>
                <a:cs typeface="DejaVu Sans"/>
              </a:defRPr>
            </a:defPPr>
            <a:lvl1pPr>
              <a:defRPr sz="2175" b="0">
                <a:solidFill>
                  <a:srgbClr val="64768A"/>
                </a:solidFill>
                <a:latin typeface="DejaVu Sans"/>
                <a:ea typeface="DejaVu Sans"/>
                <a:cs typeface="DejaVu Sans"/>
              </a:defRPr>
            </a:lvl1pPr>
            <a:lvl2pPr>
              <a:defRPr sz="2175" b="0">
                <a:solidFill>
                  <a:srgbClr val="64768A"/>
                </a:solidFill>
                <a:latin typeface="DejaVu Sans"/>
                <a:ea typeface="DejaVu Sans"/>
                <a:cs typeface="DejaVu Sans"/>
              </a:defRPr>
            </a:lvl2pPr>
            <a:lvl3pPr>
              <a:defRPr sz="2175" b="0">
                <a:solidFill>
                  <a:srgbClr val="64768A"/>
                </a:solidFill>
                <a:latin typeface="DejaVu Sans"/>
                <a:ea typeface="DejaVu Sans"/>
                <a:cs typeface="DejaVu Sans"/>
              </a:defRPr>
            </a:lvl3pPr>
            <a:lvl4pPr>
              <a:defRPr sz="2175" b="0">
                <a:solidFill>
                  <a:srgbClr val="64768A"/>
                </a:solidFill>
                <a:latin typeface="DejaVu Sans"/>
                <a:ea typeface="DejaVu Sans"/>
                <a:cs typeface="DejaVu Sans"/>
              </a:defRPr>
            </a:lvl4pPr>
            <a:lvl5pPr>
              <a:defRPr sz="2175" b="0">
                <a:solidFill>
                  <a:srgbClr val="64768A"/>
                </a:solidFill>
                <a:latin typeface="DejaVu Sans"/>
                <a:ea typeface="DejaVu Sans"/>
                <a:cs typeface="DejaVu Sans"/>
              </a:defRPr>
            </a:lvl5pPr>
            <a:lvl6pPr>
              <a:defRPr sz="2175" b="0">
                <a:solidFill>
                  <a:srgbClr val="64768A"/>
                </a:solidFill>
                <a:latin typeface="DejaVu Sans"/>
                <a:ea typeface="DejaVu Sans"/>
                <a:cs typeface="DejaVu Sans"/>
              </a:defRPr>
            </a:lvl6pPr>
            <a:lvl7pPr>
              <a:defRPr sz="2175" b="0">
                <a:solidFill>
                  <a:srgbClr val="64768A"/>
                </a:solidFill>
                <a:latin typeface="DejaVu Sans"/>
                <a:ea typeface="DejaVu Sans"/>
                <a:cs typeface="DejaVu Sans"/>
              </a:defRPr>
            </a:lvl7pPr>
            <a:lvl8pPr>
              <a:defRPr sz="2175" b="0">
                <a:solidFill>
                  <a:srgbClr val="64768A"/>
                </a:solidFill>
                <a:latin typeface="DejaVu Sans"/>
                <a:ea typeface="DejaVu Sans"/>
                <a:cs typeface="DejaVu Sans"/>
              </a:defRPr>
            </a:lvl8pPr>
            <a:lvl9pPr>
              <a:defRPr sz="2175" b="0">
                <a:solidFill>
                  <a:srgbClr val="64768A"/>
                </a:solidFill>
                <a:latin typeface="DejaVu Sans"/>
                <a:ea typeface="DejaVu Sans"/>
                <a:cs typeface="DejaVu Sans"/>
              </a:defRPr>
            </a:lvl9pPr>
          </a:lstStyle>
          <a:p xmlns:a="http://schemas.openxmlformats.org/drawingml/2006/main">
            <a:pPr>
              <a:defRPr sz="2175" b="0">
                <a:solidFill>
                  <a:srgbClr val="64768A"/>
                </a:solidFill>
                <a:latin typeface="DejaVu Sans"/>
                <a:ea typeface="DejaVu Sans"/>
                <a:cs typeface="DejaVu Sans"/>
              </a:defRPr>
            </a:pPr>
            <a:r>
              <a:rPr sz="2175" b="0">
                <a:solidFill>
                  <a:srgbClr val="64768A"/>
                </a:solidFill>
                <a:latin typeface="DejaVu Sans"/>
                <a:ea typeface="DejaVu Sans"/>
                <a:cs typeface="DejaVu Sans"/>
              </a:rPr>
              <a:t>Annualized GDP decline</a:t>
            </a:r>
          </a:p>
        </p:txBody>
      </p:sp>
      <p:sp>
        <p:nvSpPr>
          <p:cNvPr id="7" name="actual">
            <a:extLst xmlns:a="http://schemas.openxmlformats.org/drawingml/2006/main">
              <a:ext uri="{FF2B5EF4-FFF2-40B4-BE49-F238E27FC236}">
                <a16:creationId xmlns:a16="http://schemas.microsoft.com/office/drawing/2014/main" id="{603CD87D-BDBA-4267-AA98-9E889E74434C}"/>
              </a:ext>
            </a:extLst>
          </p:cNvPr>
          <p:cNvSpPr>
            <a:spLocks xmlns:a="http://schemas.openxmlformats.org/drawingml/2006/main" noGrp="1"/>
          </p:cNvSpPr>
          <p:nvPr/>
        </p:nvSpPr>
        <p:spPr>
          <a:xfrm xmlns:a="http://schemas.openxmlformats.org/drawingml/2006/main">
            <a:off x="6667500" y="2571750"/>
            <a:ext cx="428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800" b="1">
                <a:solidFill>
                  <a:srgbClr val="007F78"/>
                </a:solidFill>
                <a:latin typeface="DejaVu Sans"/>
                <a:ea typeface="DejaVu Sans"/>
                <a:cs typeface="DejaVu Sans"/>
              </a:defRPr>
            </a:defPPr>
            <a:lvl1pPr>
              <a:defRPr sz="4800" b="1">
                <a:solidFill>
                  <a:srgbClr val="007F78"/>
                </a:solidFill>
                <a:latin typeface="DejaVu Sans"/>
                <a:ea typeface="DejaVu Sans"/>
                <a:cs typeface="DejaVu Sans"/>
              </a:defRPr>
            </a:lvl1pPr>
            <a:lvl2pPr>
              <a:defRPr sz="4800" b="1">
                <a:solidFill>
                  <a:srgbClr val="007F78"/>
                </a:solidFill>
                <a:latin typeface="DejaVu Sans"/>
                <a:ea typeface="DejaVu Sans"/>
                <a:cs typeface="DejaVu Sans"/>
              </a:defRPr>
            </a:lvl2pPr>
            <a:lvl3pPr>
              <a:defRPr sz="4800" b="1">
                <a:solidFill>
                  <a:srgbClr val="007F78"/>
                </a:solidFill>
                <a:latin typeface="DejaVu Sans"/>
                <a:ea typeface="DejaVu Sans"/>
                <a:cs typeface="DejaVu Sans"/>
              </a:defRPr>
            </a:lvl3pPr>
            <a:lvl4pPr>
              <a:defRPr sz="4800" b="1">
                <a:solidFill>
                  <a:srgbClr val="007F78"/>
                </a:solidFill>
                <a:latin typeface="DejaVu Sans"/>
                <a:ea typeface="DejaVu Sans"/>
                <a:cs typeface="DejaVu Sans"/>
              </a:defRPr>
            </a:lvl4pPr>
            <a:lvl5pPr>
              <a:defRPr sz="4800" b="1">
                <a:solidFill>
                  <a:srgbClr val="007F78"/>
                </a:solidFill>
                <a:latin typeface="DejaVu Sans"/>
                <a:ea typeface="DejaVu Sans"/>
                <a:cs typeface="DejaVu Sans"/>
              </a:defRPr>
            </a:lvl5pPr>
            <a:lvl6pPr>
              <a:defRPr sz="4800" b="1">
                <a:solidFill>
                  <a:srgbClr val="007F78"/>
                </a:solidFill>
                <a:latin typeface="DejaVu Sans"/>
                <a:ea typeface="DejaVu Sans"/>
                <a:cs typeface="DejaVu Sans"/>
              </a:defRPr>
            </a:lvl6pPr>
            <a:lvl7pPr>
              <a:defRPr sz="4800" b="1">
                <a:solidFill>
                  <a:srgbClr val="007F78"/>
                </a:solidFill>
                <a:latin typeface="DejaVu Sans"/>
                <a:ea typeface="DejaVu Sans"/>
                <a:cs typeface="DejaVu Sans"/>
              </a:defRPr>
            </a:lvl7pPr>
            <a:lvl8pPr>
              <a:defRPr sz="4800" b="1">
                <a:solidFill>
                  <a:srgbClr val="007F78"/>
                </a:solidFill>
                <a:latin typeface="DejaVu Sans"/>
                <a:ea typeface="DejaVu Sans"/>
                <a:cs typeface="DejaVu Sans"/>
              </a:defRPr>
            </a:lvl8pPr>
            <a:lvl9pPr>
              <a:defRPr sz="4800" b="1">
                <a:solidFill>
                  <a:srgbClr val="007F78"/>
                </a:solidFill>
                <a:latin typeface="DejaVu Sans"/>
                <a:ea typeface="DejaVu Sans"/>
                <a:cs typeface="DejaVu Sans"/>
              </a:defRPr>
            </a:lvl9pPr>
          </a:lstStyle>
          <a:p xmlns:a="http://schemas.openxmlformats.org/drawingml/2006/main">
            <a:pPr>
              <a:defRPr sz="4800" b="1">
                <a:solidFill>
                  <a:srgbClr val="007F78"/>
                </a:solidFill>
                <a:latin typeface="DejaVu Sans"/>
                <a:ea typeface="DejaVu Sans"/>
                <a:cs typeface="DejaVu Sans"/>
              </a:defRPr>
            </a:pPr>
            <a:r>
              <a:rPr sz="4800" b="1">
                <a:solidFill>
                  <a:srgbClr val="007F78"/>
                </a:solidFill>
                <a:latin typeface="DejaVu Sans"/>
                <a:ea typeface="DejaVu Sans"/>
                <a:cs typeface="DejaVu Sans"/>
              </a:rPr>
              <a:t>9.5%</a:t>
            </a:r>
          </a:p>
        </p:txBody>
      </p:sp>
      <p:sp>
        <p:nvSpPr>
          <p:cNvPr id="8" name="actual unit">
            <a:extLst xmlns:a="http://schemas.openxmlformats.org/drawingml/2006/main">
              <a:ext uri="{FF2B5EF4-FFF2-40B4-BE49-F238E27FC236}">
                <a16:creationId xmlns:a16="http://schemas.microsoft.com/office/drawing/2014/main" id="{C93CDE60-C8EC-4F06-B208-31F75E10CA87}"/>
              </a:ext>
            </a:extLst>
          </p:cNvPr>
          <p:cNvSpPr>
            <a:spLocks xmlns:a="http://schemas.openxmlformats.org/drawingml/2006/main" noGrp="1"/>
          </p:cNvSpPr>
          <p:nvPr/>
        </p:nvSpPr>
        <p:spPr>
          <a:xfrm xmlns:a="http://schemas.openxmlformats.org/drawingml/2006/main">
            <a:off x="6715125" y="3667125"/>
            <a:ext cx="466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0">
                <a:solidFill>
                  <a:srgbClr val="64768A"/>
                </a:solidFill>
                <a:latin typeface="DejaVu Sans"/>
                <a:ea typeface="DejaVu Sans"/>
                <a:cs typeface="DejaVu Sans"/>
              </a:defRPr>
            </a:defPPr>
            <a:lvl1pPr>
              <a:defRPr sz="2175" b="0">
                <a:solidFill>
                  <a:srgbClr val="64768A"/>
                </a:solidFill>
                <a:latin typeface="DejaVu Sans"/>
                <a:ea typeface="DejaVu Sans"/>
                <a:cs typeface="DejaVu Sans"/>
              </a:defRPr>
            </a:lvl1pPr>
            <a:lvl2pPr>
              <a:defRPr sz="2175" b="0">
                <a:solidFill>
                  <a:srgbClr val="64768A"/>
                </a:solidFill>
                <a:latin typeface="DejaVu Sans"/>
                <a:ea typeface="DejaVu Sans"/>
                <a:cs typeface="DejaVu Sans"/>
              </a:defRPr>
            </a:lvl2pPr>
            <a:lvl3pPr>
              <a:defRPr sz="2175" b="0">
                <a:solidFill>
                  <a:srgbClr val="64768A"/>
                </a:solidFill>
                <a:latin typeface="DejaVu Sans"/>
                <a:ea typeface="DejaVu Sans"/>
                <a:cs typeface="DejaVu Sans"/>
              </a:defRPr>
            </a:lvl3pPr>
            <a:lvl4pPr>
              <a:defRPr sz="2175" b="0">
                <a:solidFill>
                  <a:srgbClr val="64768A"/>
                </a:solidFill>
                <a:latin typeface="DejaVu Sans"/>
                <a:ea typeface="DejaVu Sans"/>
                <a:cs typeface="DejaVu Sans"/>
              </a:defRPr>
            </a:lvl4pPr>
            <a:lvl5pPr>
              <a:defRPr sz="2175" b="0">
                <a:solidFill>
                  <a:srgbClr val="64768A"/>
                </a:solidFill>
                <a:latin typeface="DejaVu Sans"/>
                <a:ea typeface="DejaVu Sans"/>
                <a:cs typeface="DejaVu Sans"/>
              </a:defRPr>
            </a:lvl5pPr>
            <a:lvl6pPr>
              <a:defRPr sz="2175" b="0">
                <a:solidFill>
                  <a:srgbClr val="64768A"/>
                </a:solidFill>
                <a:latin typeface="DejaVu Sans"/>
                <a:ea typeface="DejaVu Sans"/>
                <a:cs typeface="DejaVu Sans"/>
              </a:defRPr>
            </a:lvl6pPr>
            <a:lvl7pPr>
              <a:defRPr sz="2175" b="0">
                <a:solidFill>
                  <a:srgbClr val="64768A"/>
                </a:solidFill>
                <a:latin typeface="DejaVu Sans"/>
                <a:ea typeface="DejaVu Sans"/>
                <a:cs typeface="DejaVu Sans"/>
              </a:defRPr>
            </a:lvl7pPr>
            <a:lvl8pPr>
              <a:defRPr sz="2175" b="0">
                <a:solidFill>
                  <a:srgbClr val="64768A"/>
                </a:solidFill>
                <a:latin typeface="DejaVu Sans"/>
                <a:ea typeface="DejaVu Sans"/>
                <a:cs typeface="DejaVu Sans"/>
              </a:defRPr>
            </a:lvl8pPr>
            <a:lvl9pPr>
              <a:defRPr sz="2175" b="0">
                <a:solidFill>
                  <a:srgbClr val="64768A"/>
                </a:solidFill>
                <a:latin typeface="DejaVu Sans"/>
                <a:ea typeface="DejaVu Sans"/>
                <a:cs typeface="DejaVu Sans"/>
              </a:defRPr>
            </a:lvl9pPr>
          </a:lstStyle>
          <a:p xmlns:a="http://schemas.openxmlformats.org/drawingml/2006/main">
            <a:pPr>
              <a:defRPr sz="2175" b="0">
                <a:solidFill>
                  <a:srgbClr val="64768A"/>
                </a:solidFill>
                <a:latin typeface="DejaVu Sans"/>
                <a:ea typeface="DejaVu Sans"/>
                <a:cs typeface="DejaVu Sans"/>
              </a:defRPr>
            </a:pPr>
            <a:r>
              <a:rPr sz="2175" b="0">
                <a:solidFill>
                  <a:srgbClr val="64768A"/>
                </a:solidFill>
                <a:latin typeface="DejaVu Sans"/>
                <a:ea typeface="DejaVu Sans"/>
                <a:cs typeface="DejaVu Sans"/>
              </a:rPr>
              <a:t>Actual quarterly decline</a:t>
            </a:r>
          </a:p>
        </p:txBody>
      </p:sp>
      <p:sp>
        <p:nvSpPr>
          <p:cNvPr id="9" name="interpretation">
            <a:extLst xmlns:a="http://schemas.openxmlformats.org/drawingml/2006/main">
              <a:ext uri="{FF2B5EF4-FFF2-40B4-BE49-F238E27FC236}">
                <a16:creationId xmlns:a16="http://schemas.microsoft.com/office/drawing/2014/main" id="{9FFE9D62-F772-458C-8875-A904245CA607}"/>
              </a:ext>
            </a:extLst>
          </p:cNvPr>
          <p:cNvSpPr>
            <a:spLocks xmlns:a="http://schemas.openxmlformats.org/drawingml/2006/main" noGrp="1"/>
          </p:cNvSpPr>
          <p:nvPr/>
        </p:nvSpPr>
        <p:spPr>
          <a:xfrm xmlns:a="http://schemas.openxmlformats.org/drawingml/2006/main">
            <a:off x="762000" y="4857750"/>
            <a:ext cx="1057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400" b="1">
                <a:solidFill>
                  <a:srgbClr val="142B42"/>
                </a:solidFill>
                <a:latin typeface="DejaVu Sans"/>
                <a:ea typeface="DejaVu Sans"/>
                <a:cs typeface="DejaVu Sans"/>
              </a:defRPr>
            </a:defPPr>
            <a:lvl1pPr>
              <a:defRPr sz="2400" b="1">
                <a:solidFill>
                  <a:srgbClr val="142B42"/>
                </a:solidFill>
                <a:latin typeface="DejaVu Sans"/>
                <a:ea typeface="DejaVu Sans"/>
                <a:cs typeface="DejaVu Sans"/>
              </a:defRPr>
            </a:lvl1pPr>
            <a:lvl2pPr>
              <a:defRPr sz="2400" b="1">
                <a:solidFill>
                  <a:srgbClr val="142B42"/>
                </a:solidFill>
                <a:latin typeface="DejaVu Sans"/>
                <a:ea typeface="DejaVu Sans"/>
                <a:cs typeface="DejaVu Sans"/>
              </a:defRPr>
            </a:lvl2pPr>
            <a:lvl3pPr>
              <a:defRPr sz="2400" b="1">
                <a:solidFill>
                  <a:srgbClr val="142B42"/>
                </a:solidFill>
                <a:latin typeface="DejaVu Sans"/>
                <a:ea typeface="DejaVu Sans"/>
                <a:cs typeface="DejaVu Sans"/>
              </a:defRPr>
            </a:lvl3pPr>
            <a:lvl4pPr>
              <a:defRPr sz="2400" b="1">
                <a:solidFill>
                  <a:srgbClr val="142B42"/>
                </a:solidFill>
                <a:latin typeface="DejaVu Sans"/>
                <a:ea typeface="DejaVu Sans"/>
                <a:cs typeface="DejaVu Sans"/>
              </a:defRPr>
            </a:lvl4pPr>
            <a:lvl5pPr>
              <a:defRPr sz="2400" b="1">
                <a:solidFill>
                  <a:srgbClr val="142B42"/>
                </a:solidFill>
                <a:latin typeface="DejaVu Sans"/>
                <a:ea typeface="DejaVu Sans"/>
                <a:cs typeface="DejaVu Sans"/>
              </a:defRPr>
            </a:lvl5pPr>
            <a:lvl6pPr>
              <a:defRPr sz="2400" b="1">
                <a:solidFill>
                  <a:srgbClr val="142B42"/>
                </a:solidFill>
                <a:latin typeface="DejaVu Sans"/>
                <a:ea typeface="DejaVu Sans"/>
                <a:cs typeface="DejaVu Sans"/>
              </a:defRPr>
            </a:lvl6pPr>
            <a:lvl7pPr>
              <a:defRPr sz="2400" b="1">
                <a:solidFill>
                  <a:srgbClr val="142B42"/>
                </a:solidFill>
                <a:latin typeface="DejaVu Sans"/>
                <a:ea typeface="DejaVu Sans"/>
                <a:cs typeface="DejaVu Sans"/>
              </a:defRPr>
            </a:lvl7pPr>
            <a:lvl8pPr>
              <a:defRPr sz="2400" b="1">
                <a:solidFill>
                  <a:srgbClr val="142B42"/>
                </a:solidFill>
                <a:latin typeface="DejaVu Sans"/>
                <a:ea typeface="DejaVu Sans"/>
                <a:cs typeface="DejaVu Sans"/>
              </a:defRPr>
            </a:lvl8pPr>
            <a:lvl9pPr>
              <a:defRPr sz="2400" b="1">
                <a:solidFill>
                  <a:srgbClr val="142B42"/>
                </a:solidFill>
                <a:latin typeface="DejaVu Sans"/>
                <a:ea typeface="DejaVu Sans"/>
                <a:cs typeface="DejaVu Sans"/>
              </a:defRPr>
            </a:lvl9pPr>
          </a:lstStyle>
          <a:p xmlns:a="http://schemas.openxmlformats.org/drawingml/2006/main">
            <a:pPr>
              <a:defRPr sz="2400" b="1">
                <a:solidFill>
                  <a:srgbClr val="142B42"/>
                </a:solidFill>
                <a:latin typeface="DejaVu Sans"/>
                <a:ea typeface="DejaVu Sans"/>
                <a:cs typeface="DejaVu Sans"/>
              </a:defRPr>
            </a:pPr>
            <a:r>
              <a:rPr sz="2400" b="1">
                <a:solidFill>
                  <a:srgbClr val="142B42"/>
                </a:solidFill>
                <a:latin typeface="DejaVu Sans"/>
                <a:ea typeface="DejaVu Sans"/>
                <a:cs typeface="DejaVu Sans"/>
              </a:rPr>
              <a:t>Tone alone cannot establish media bias.</a:t>
            </a:r>
          </a:p>
          <a:p xmlns:a="http://schemas.openxmlformats.org/drawingml/2006/main">
            <a:pPr>
              <a:defRPr sz="2400" b="1">
                <a:solidFill>
                  <a:srgbClr val="142B42"/>
                </a:solidFill>
                <a:latin typeface="DejaVu Sans"/>
                <a:ea typeface="DejaVu Sans"/>
                <a:cs typeface="DejaVu Sans"/>
              </a:defRPr>
            </a:pPr>
            <a:r>
              <a:rPr sz="2400" b="1">
                <a:solidFill>
                  <a:srgbClr val="142B42"/>
                </a:solidFill>
                <a:latin typeface="DejaVu Sans"/>
                <a:ea typeface="DejaVu Sans"/>
                <a:cs typeface="DejaVu Sans"/>
              </a:rPr>
              <a:t>The factual context and units matter.</a:t>
            </a:r>
          </a:p>
        </p:txBody>
      </p:sp>
      <p:sp>
        <p:nvSpPr>
          <p:cNvPr id="10" name="source and scope">
            <a:extLst xmlns:a="http://schemas.openxmlformats.org/drawingml/2006/main">
              <a:ext uri="{FF2B5EF4-FFF2-40B4-BE49-F238E27FC236}">
                <a16:creationId xmlns:a16="http://schemas.microsoft.com/office/drawing/2014/main" id="{AE1B5D54-6DE8-4CAE-BDAD-97138BDD199F}"/>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Purposive title cases, not corpus-wide bias prevalence. Whole articles and reader interpretations are unmeasured.</a:t>
            </a:r>
          </a:p>
        </p:txBody>
      </p:sp>
    </p:spTree>
    <p:extLst>
      <p:ext uri="{BB962C8B-B14F-4D97-AF65-F5344CB8AC3E}">
        <p14:creationId xmlns:p14="http://schemas.microsoft.com/office/powerpoint/2010/main" val="47618650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89892A00-7331-4603-9C0E-214269B0726C}"/>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FINANCIAL INTERPRETATION</a:t>
            </a:r>
          </a:p>
        </p:txBody>
      </p:sp>
      <p:sp>
        <p:nvSpPr>
          <p:cNvPr id="2" name="title">
            <a:extLst xmlns:a="http://schemas.openxmlformats.org/drawingml/2006/main">
              <a:ext uri="{FF2B5EF4-FFF2-40B4-BE49-F238E27FC236}">
                <a16:creationId xmlns:a16="http://schemas.microsoft.com/office/drawing/2014/main" id="{EF909B24-C863-4DF6-9808-4D1568A89007}"/>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What the results suggest</a:t>
            </a:r>
          </a:p>
        </p:txBody>
      </p:sp>
      <p:sp>
        <p:nvSpPr>
          <p:cNvPr id="3" name="page">
            <a:extLst xmlns:a="http://schemas.openxmlformats.org/drawingml/2006/main">
              <a:ext uri="{FF2B5EF4-FFF2-40B4-BE49-F238E27FC236}">
                <a16:creationId xmlns:a16="http://schemas.microsoft.com/office/drawing/2014/main" id="{07D7297C-CCFB-497D-9DC5-ABB8C88F6058}"/>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09</a:t>
            </a:r>
          </a:p>
        </p:txBody>
      </p:sp>
      <p:sp>
        <p:nvSpPr>
          <p:cNvPr id="4" name="main result">
            <a:extLst xmlns:a="http://schemas.openxmlformats.org/drawingml/2006/main">
              <a:ext uri="{FF2B5EF4-FFF2-40B4-BE49-F238E27FC236}">
                <a16:creationId xmlns:a16="http://schemas.microsoft.com/office/drawing/2014/main" id="{E3421BCC-DFFF-4F37-81A2-3A337283C1C1}"/>
              </a:ext>
            </a:extLst>
          </p:cNvPr>
          <p:cNvSpPr>
            <a:spLocks xmlns:a="http://schemas.openxmlformats.org/drawingml/2006/main" noGrp="1"/>
          </p:cNvSpPr>
          <p:nvPr/>
        </p:nvSpPr>
        <p:spPr>
          <a:xfrm xmlns:a="http://schemas.openxmlformats.org/drawingml/2006/main">
            <a:off x="762000" y="1876425"/>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625" b="1">
                <a:solidFill>
                  <a:srgbClr val="007F78"/>
                </a:solidFill>
                <a:latin typeface="DejaVu Sans"/>
                <a:ea typeface="DejaVu Sans"/>
                <a:cs typeface="DejaVu Sans"/>
              </a:defRPr>
            </a:defPPr>
            <a:lvl1pPr>
              <a:defRPr sz="2625" b="1">
                <a:solidFill>
                  <a:srgbClr val="007F78"/>
                </a:solidFill>
                <a:latin typeface="DejaVu Sans"/>
                <a:ea typeface="DejaVu Sans"/>
                <a:cs typeface="DejaVu Sans"/>
              </a:defRPr>
            </a:lvl1pPr>
            <a:lvl2pPr>
              <a:defRPr sz="2625" b="1">
                <a:solidFill>
                  <a:srgbClr val="007F78"/>
                </a:solidFill>
                <a:latin typeface="DejaVu Sans"/>
                <a:ea typeface="DejaVu Sans"/>
                <a:cs typeface="DejaVu Sans"/>
              </a:defRPr>
            </a:lvl2pPr>
            <a:lvl3pPr>
              <a:defRPr sz="2625" b="1">
                <a:solidFill>
                  <a:srgbClr val="007F78"/>
                </a:solidFill>
                <a:latin typeface="DejaVu Sans"/>
                <a:ea typeface="DejaVu Sans"/>
                <a:cs typeface="DejaVu Sans"/>
              </a:defRPr>
            </a:lvl3pPr>
            <a:lvl4pPr>
              <a:defRPr sz="2625" b="1">
                <a:solidFill>
                  <a:srgbClr val="007F78"/>
                </a:solidFill>
                <a:latin typeface="DejaVu Sans"/>
                <a:ea typeface="DejaVu Sans"/>
                <a:cs typeface="DejaVu Sans"/>
              </a:defRPr>
            </a:lvl4pPr>
            <a:lvl5pPr>
              <a:defRPr sz="2625" b="1">
                <a:solidFill>
                  <a:srgbClr val="007F78"/>
                </a:solidFill>
                <a:latin typeface="DejaVu Sans"/>
                <a:ea typeface="DejaVu Sans"/>
                <a:cs typeface="DejaVu Sans"/>
              </a:defRPr>
            </a:lvl5pPr>
            <a:lvl6pPr>
              <a:defRPr sz="2625" b="1">
                <a:solidFill>
                  <a:srgbClr val="007F78"/>
                </a:solidFill>
                <a:latin typeface="DejaVu Sans"/>
                <a:ea typeface="DejaVu Sans"/>
                <a:cs typeface="DejaVu Sans"/>
              </a:defRPr>
            </a:lvl6pPr>
            <a:lvl7pPr>
              <a:defRPr sz="2625" b="1">
                <a:solidFill>
                  <a:srgbClr val="007F78"/>
                </a:solidFill>
                <a:latin typeface="DejaVu Sans"/>
                <a:ea typeface="DejaVu Sans"/>
                <a:cs typeface="DejaVu Sans"/>
              </a:defRPr>
            </a:lvl7pPr>
            <a:lvl8pPr>
              <a:defRPr sz="2625" b="1">
                <a:solidFill>
                  <a:srgbClr val="007F78"/>
                </a:solidFill>
                <a:latin typeface="DejaVu Sans"/>
                <a:ea typeface="DejaVu Sans"/>
                <a:cs typeface="DejaVu Sans"/>
              </a:defRPr>
            </a:lvl8pPr>
            <a:lvl9pPr>
              <a:defRPr sz="2625" b="1">
                <a:solidFill>
                  <a:srgbClr val="007F78"/>
                </a:solidFill>
                <a:latin typeface="DejaVu Sans"/>
                <a:ea typeface="DejaVu Sans"/>
                <a:cs typeface="DejaVu Sans"/>
              </a:defRPr>
            </a:lvl9pPr>
          </a:lstStyle>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Original tone adds little beyond broader controls</a:t>
            </a:r>
          </a:p>
          <a:p xmlns:a="http://schemas.openxmlformats.org/drawingml/2006/main">
            <a:pPr>
              <a:defRPr sz="2625" b="1">
                <a:solidFill>
                  <a:srgbClr val="007F78"/>
                </a:solidFill>
                <a:latin typeface="DejaVu Sans"/>
                <a:ea typeface="DejaVu Sans"/>
                <a:cs typeface="DejaVu Sans"/>
              </a:defRPr>
            </a:pPr>
            <a:r>
              <a:rPr sz="2625" b="1">
                <a:solidFill>
                  <a:srgbClr val="007F78"/>
                </a:solidFill>
                <a:latin typeface="DejaVu Sans"/>
                <a:ea typeface="DejaVu Sans"/>
                <a:cs typeface="DejaVu Sans"/>
              </a:rPr>
              <a:t>and previous sentiment</a:t>
            </a:r>
          </a:p>
        </p:txBody>
      </p:sp>
      <p:sp>
        <p:nvSpPr>
          <p:cNvPr id="5" name="NLP conclusion">
            <a:extLst xmlns:a="http://schemas.openxmlformats.org/drawingml/2006/main">
              <a:ext uri="{FF2B5EF4-FFF2-40B4-BE49-F238E27FC236}">
                <a16:creationId xmlns:a16="http://schemas.microsoft.com/office/drawing/2014/main" id="{3AB310B0-4311-43E1-A966-A35624CB8DEA}"/>
              </a:ext>
            </a:extLst>
          </p:cNvPr>
          <p:cNvSpPr>
            <a:spLocks xmlns:a="http://schemas.openxmlformats.org/drawingml/2006/main" noGrp="1"/>
          </p:cNvSpPr>
          <p:nvPr/>
        </p:nvSpPr>
        <p:spPr>
          <a:xfrm xmlns:a="http://schemas.openxmlformats.org/drawingml/2006/main">
            <a:off x="762000" y="3352800"/>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00" b="0">
                <a:solidFill>
                  <a:srgbClr val="142B42"/>
                </a:solidFill>
                <a:latin typeface="DejaVu Sans"/>
                <a:ea typeface="DejaVu Sans"/>
                <a:cs typeface="DejaVu Sans"/>
              </a:defRPr>
            </a:defPPr>
            <a:lvl1pPr>
              <a:defRPr sz="2100" b="0">
                <a:solidFill>
                  <a:srgbClr val="142B42"/>
                </a:solidFill>
                <a:latin typeface="DejaVu Sans"/>
                <a:ea typeface="DejaVu Sans"/>
                <a:cs typeface="DejaVu Sans"/>
              </a:defRPr>
            </a:lvl1pPr>
            <a:lvl2pPr>
              <a:defRPr sz="2100" b="0">
                <a:solidFill>
                  <a:srgbClr val="142B42"/>
                </a:solidFill>
                <a:latin typeface="DejaVu Sans"/>
                <a:ea typeface="DejaVu Sans"/>
                <a:cs typeface="DejaVu Sans"/>
              </a:defRPr>
            </a:lvl2pPr>
            <a:lvl3pPr>
              <a:defRPr sz="2100" b="0">
                <a:solidFill>
                  <a:srgbClr val="142B42"/>
                </a:solidFill>
                <a:latin typeface="DejaVu Sans"/>
                <a:ea typeface="DejaVu Sans"/>
                <a:cs typeface="DejaVu Sans"/>
              </a:defRPr>
            </a:lvl3pPr>
            <a:lvl4pPr>
              <a:defRPr sz="2100" b="0">
                <a:solidFill>
                  <a:srgbClr val="142B42"/>
                </a:solidFill>
                <a:latin typeface="DejaVu Sans"/>
                <a:ea typeface="DejaVu Sans"/>
                <a:cs typeface="DejaVu Sans"/>
              </a:defRPr>
            </a:lvl4pPr>
            <a:lvl5pPr>
              <a:defRPr sz="2100" b="0">
                <a:solidFill>
                  <a:srgbClr val="142B42"/>
                </a:solidFill>
                <a:latin typeface="DejaVu Sans"/>
                <a:ea typeface="DejaVu Sans"/>
                <a:cs typeface="DejaVu Sans"/>
              </a:defRPr>
            </a:lvl5pPr>
            <a:lvl6pPr>
              <a:defRPr sz="2100" b="0">
                <a:solidFill>
                  <a:srgbClr val="142B42"/>
                </a:solidFill>
                <a:latin typeface="DejaVu Sans"/>
                <a:ea typeface="DejaVu Sans"/>
                <a:cs typeface="DejaVu Sans"/>
              </a:defRPr>
            </a:lvl6pPr>
            <a:lvl7pPr>
              <a:defRPr sz="2100" b="0">
                <a:solidFill>
                  <a:srgbClr val="142B42"/>
                </a:solidFill>
                <a:latin typeface="DejaVu Sans"/>
                <a:ea typeface="DejaVu Sans"/>
                <a:cs typeface="DejaVu Sans"/>
              </a:defRPr>
            </a:lvl7pPr>
            <a:lvl8pPr>
              <a:defRPr sz="2100" b="0">
                <a:solidFill>
                  <a:srgbClr val="142B42"/>
                </a:solidFill>
                <a:latin typeface="DejaVu Sans"/>
                <a:ea typeface="DejaVu Sans"/>
                <a:cs typeface="DejaVu Sans"/>
              </a:defRPr>
            </a:lvl8pPr>
            <a:lvl9pPr>
              <a:defRPr sz="2100" b="0">
                <a:solidFill>
                  <a:srgbClr val="142B42"/>
                </a:solidFill>
                <a:latin typeface="DejaVu Sans"/>
                <a:ea typeface="DejaVu Sans"/>
                <a:cs typeface="DejaVu Sans"/>
              </a:defRPr>
            </a:lvl9pPr>
          </a:lstStyle>
          <a:p xmlns:a="http://schemas.openxmlformats.org/drawingml/2006/main">
            <a:pPr>
              <a:defRPr sz="2100" b="0">
                <a:solidFill>
                  <a:srgbClr val="142B42"/>
                </a:solidFill>
                <a:latin typeface="DejaVu Sans"/>
                <a:ea typeface="DejaVu Sans"/>
                <a:cs typeface="DejaVu Sans"/>
              </a:defRPr>
            </a:pPr>
            <a:r>
              <a:rPr sz="2100" b="0">
                <a:solidFill>
                  <a:srgbClr val="142B42"/>
                </a:solidFill>
                <a:latin typeface="DejaVu Sans"/>
                <a:ea typeface="DejaVu Sans"/>
                <a:cs typeface="DejaVu Sans"/>
              </a:rPr>
              <a:t>Source emphasis varies. Framing requires factual context.</a:t>
            </a:r>
          </a:p>
          <a:p xmlns:a="http://schemas.openxmlformats.org/drawingml/2006/main">
            <a:pPr>
              <a:defRPr sz="2100" b="0">
                <a:solidFill>
                  <a:srgbClr val="142B42"/>
                </a:solidFill>
                <a:latin typeface="DejaVu Sans"/>
                <a:ea typeface="DejaVu Sans"/>
                <a:cs typeface="DejaVu Sans"/>
              </a:defRPr>
            </a:pPr>
            <a:r>
              <a:rPr sz="2100" b="0">
                <a:solidFill>
                  <a:srgbClr val="142B42"/>
                </a:solidFill>
                <a:latin typeface="DejaVu Sans"/>
                <a:ea typeface="DejaVu Sans"/>
                <a:cs typeface="DejaVu Sans"/>
              </a:rPr>
              <a:t>A risk team can investigate gaps alongside household pressure.</a:t>
            </a:r>
          </a:p>
        </p:txBody>
      </p:sp>
      <p:sp>
        <p:nvSpPr>
          <p:cNvPr id="6" name="contrary">
            <a:extLst xmlns:a="http://schemas.openxmlformats.org/drawingml/2006/main">
              <a:ext uri="{FF2B5EF4-FFF2-40B4-BE49-F238E27FC236}">
                <a16:creationId xmlns:a16="http://schemas.microsoft.com/office/drawing/2014/main" id="{F6632595-C20F-4C82-8C5F-3E18EE97A6F2}"/>
              </a:ext>
            </a:extLst>
          </p:cNvPr>
          <p:cNvSpPr>
            <a:spLocks xmlns:a="http://schemas.openxmlformats.org/drawingml/2006/main" noGrp="1"/>
          </p:cNvSpPr>
          <p:nvPr/>
        </p:nvSpPr>
        <p:spPr>
          <a:xfrm xmlns:a="http://schemas.openxmlformats.org/drawingml/2006/main">
            <a:off x="762000" y="4695825"/>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B96E45"/>
                </a:solidFill>
                <a:latin typeface="DejaVu Sans"/>
                <a:ea typeface="DejaVu Sans"/>
                <a:cs typeface="DejaVu Sans"/>
              </a:defRPr>
            </a:defPPr>
            <a:lvl1pPr>
              <a:defRPr sz="1950" b="0">
                <a:solidFill>
                  <a:srgbClr val="B96E45"/>
                </a:solidFill>
                <a:latin typeface="DejaVu Sans"/>
                <a:ea typeface="DejaVu Sans"/>
                <a:cs typeface="DejaVu Sans"/>
              </a:defRPr>
            </a:lvl1pPr>
            <a:lvl2pPr>
              <a:defRPr sz="1950" b="0">
                <a:solidFill>
                  <a:srgbClr val="B96E45"/>
                </a:solidFill>
                <a:latin typeface="DejaVu Sans"/>
                <a:ea typeface="DejaVu Sans"/>
                <a:cs typeface="DejaVu Sans"/>
              </a:defRPr>
            </a:lvl2pPr>
            <a:lvl3pPr>
              <a:defRPr sz="1950" b="0">
                <a:solidFill>
                  <a:srgbClr val="B96E45"/>
                </a:solidFill>
                <a:latin typeface="DejaVu Sans"/>
                <a:ea typeface="DejaVu Sans"/>
                <a:cs typeface="DejaVu Sans"/>
              </a:defRPr>
            </a:lvl3pPr>
            <a:lvl4pPr>
              <a:defRPr sz="1950" b="0">
                <a:solidFill>
                  <a:srgbClr val="B96E45"/>
                </a:solidFill>
                <a:latin typeface="DejaVu Sans"/>
                <a:ea typeface="DejaVu Sans"/>
                <a:cs typeface="DejaVu Sans"/>
              </a:defRPr>
            </a:lvl4pPr>
            <a:lvl5pPr>
              <a:defRPr sz="1950" b="0">
                <a:solidFill>
                  <a:srgbClr val="B96E45"/>
                </a:solidFill>
                <a:latin typeface="DejaVu Sans"/>
                <a:ea typeface="DejaVu Sans"/>
                <a:cs typeface="DejaVu Sans"/>
              </a:defRPr>
            </a:lvl5pPr>
            <a:lvl6pPr>
              <a:defRPr sz="1950" b="0">
                <a:solidFill>
                  <a:srgbClr val="B96E45"/>
                </a:solidFill>
                <a:latin typeface="DejaVu Sans"/>
                <a:ea typeface="DejaVu Sans"/>
                <a:cs typeface="DejaVu Sans"/>
              </a:defRPr>
            </a:lvl6pPr>
            <a:lvl7pPr>
              <a:defRPr sz="1950" b="0">
                <a:solidFill>
                  <a:srgbClr val="B96E45"/>
                </a:solidFill>
                <a:latin typeface="DejaVu Sans"/>
                <a:ea typeface="DejaVu Sans"/>
                <a:cs typeface="DejaVu Sans"/>
              </a:defRPr>
            </a:lvl7pPr>
            <a:lvl8pPr>
              <a:defRPr sz="1950" b="0">
                <a:solidFill>
                  <a:srgbClr val="B96E45"/>
                </a:solidFill>
                <a:latin typeface="DejaVu Sans"/>
                <a:ea typeface="DejaVu Sans"/>
                <a:cs typeface="DejaVu Sans"/>
              </a:defRPr>
            </a:lvl8pPr>
            <a:lvl9pPr>
              <a:defRPr sz="1950" b="0">
                <a:solidFill>
                  <a:srgbClr val="B96E45"/>
                </a:solidFill>
                <a:latin typeface="DejaVu Sans"/>
                <a:ea typeface="DejaVu Sans"/>
                <a:cs typeface="DejaVu Sans"/>
              </a:defRPr>
            </a:lvl9pPr>
          </a:lstStyle>
          <a:p xmlns:a="http://schemas.openxmlformats.org/drawingml/2006/main">
            <a:pPr>
              <a:defRPr sz="1950" b="0">
                <a:solidFill>
                  <a:srgbClr val="B96E45"/>
                </a:solidFill>
                <a:latin typeface="DejaVu Sans"/>
                <a:ea typeface="DejaVu Sans"/>
                <a:cs typeface="DejaVu Sans"/>
              </a:defRPr>
            </a:pPr>
            <a:r>
              <a:rPr sz="1950" b="0">
                <a:solidFill>
                  <a:srgbClr val="B96E45"/>
                </a:solidFill>
                <a:latin typeface="DejaVu Sans"/>
                <a:ea typeface="DejaVu Sans"/>
                <a:cs typeface="DejaVu Sans"/>
              </a:rPr>
              <a:t>A dictionary measure improves one exploratory forecast result.</a:t>
            </a:r>
          </a:p>
        </p:txBody>
      </p:sp>
      <p:sp>
        <p:nvSpPr>
          <p:cNvPr id="7" name="next">
            <a:extLst xmlns:a="http://schemas.openxmlformats.org/drawingml/2006/main">
              <a:ext uri="{FF2B5EF4-FFF2-40B4-BE49-F238E27FC236}">
                <a16:creationId xmlns:a16="http://schemas.microsoft.com/office/drawing/2014/main" id="{A85A5B17-9E64-4E04-BBEA-65575FD1E2BC}"/>
              </a:ext>
            </a:extLst>
          </p:cNvPr>
          <p:cNvSpPr>
            <a:spLocks xmlns:a="http://schemas.openxmlformats.org/drawingml/2006/main" noGrp="1"/>
          </p:cNvSpPr>
          <p:nvPr/>
        </p:nvSpPr>
        <p:spPr>
          <a:xfrm xmlns:a="http://schemas.openxmlformats.org/drawingml/2006/main">
            <a:off x="762000" y="5381625"/>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42B42"/>
                </a:solidFill>
                <a:latin typeface="DejaVu Sans"/>
                <a:ea typeface="DejaVu Sans"/>
                <a:cs typeface="DejaVu Sans"/>
              </a:defRPr>
            </a:defPPr>
            <a:lvl1pPr>
              <a:defRPr sz="1875" b="0">
                <a:solidFill>
                  <a:srgbClr val="142B42"/>
                </a:solidFill>
                <a:latin typeface="DejaVu Sans"/>
                <a:ea typeface="DejaVu Sans"/>
                <a:cs typeface="DejaVu Sans"/>
              </a:defRPr>
            </a:lvl1pPr>
            <a:lvl2pPr>
              <a:defRPr sz="1875" b="0">
                <a:solidFill>
                  <a:srgbClr val="142B42"/>
                </a:solidFill>
                <a:latin typeface="DejaVu Sans"/>
                <a:ea typeface="DejaVu Sans"/>
                <a:cs typeface="DejaVu Sans"/>
              </a:defRPr>
            </a:lvl2pPr>
            <a:lvl3pPr>
              <a:defRPr sz="1875" b="0">
                <a:solidFill>
                  <a:srgbClr val="142B42"/>
                </a:solidFill>
                <a:latin typeface="DejaVu Sans"/>
                <a:ea typeface="DejaVu Sans"/>
                <a:cs typeface="DejaVu Sans"/>
              </a:defRPr>
            </a:lvl3pPr>
            <a:lvl4pPr>
              <a:defRPr sz="1875" b="0">
                <a:solidFill>
                  <a:srgbClr val="142B42"/>
                </a:solidFill>
                <a:latin typeface="DejaVu Sans"/>
                <a:ea typeface="DejaVu Sans"/>
                <a:cs typeface="DejaVu Sans"/>
              </a:defRPr>
            </a:lvl4pPr>
            <a:lvl5pPr>
              <a:defRPr sz="1875" b="0">
                <a:solidFill>
                  <a:srgbClr val="142B42"/>
                </a:solidFill>
                <a:latin typeface="DejaVu Sans"/>
                <a:ea typeface="DejaVu Sans"/>
                <a:cs typeface="DejaVu Sans"/>
              </a:defRPr>
            </a:lvl5pPr>
            <a:lvl6pPr>
              <a:defRPr sz="1875" b="0">
                <a:solidFill>
                  <a:srgbClr val="142B42"/>
                </a:solidFill>
                <a:latin typeface="DejaVu Sans"/>
                <a:ea typeface="DejaVu Sans"/>
                <a:cs typeface="DejaVu Sans"/>
              </a:defRPr>
            </a:lvl6pPr>
            <a:lvl7pPr>
              <a:defRPr sz="1875" b="0">
                <a:solidFill>
                  <a:srgbClr val="142B42"/>
                </a:solidFill>
                <a:latin typeface="DejaVu Sans"/>
                <a:ea typeface="DejaVu Sans"/>
                <a:cs typeface="DejaVu Sans"/>
              </a:defRPr>
            </a:lvl7pPr>
            <a:lvl8pPr>
              <a:defRPr sz="1875" b="0">
                <a:solidFill>
                  <a:srgbClr val="142B42"/>
                </a:solidFill>
                <a:latin typeface="DejaVu Sans"/>
                <a:ea typeface="DejaVu Sans"/>
                <a:cs typeface="DejaVu Sans"/>
              </a:defRPr>
            </a:lvl8pPr>
            <a:lvl9pPr>
              <a:defRPr sz="1875" b="0">
                <a:solidFill>
                  <a:srgbClr val="142B42"/>
                </a:solidFill>
                <a:latin typeface="DejaVu Sans"/>
                <a:ea typeface="DejaVu Sans"/>
                <a:cs typeface="DejaVu Sans"/>
              </a:defRPr>
            </a:lvl9pPr>
          </a:lstStyle>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Causal proposal: randomize equally truthful economic framings.</a:t>
            </a:r>
          </a:p>
        </p:txBody>
      </p:sp>
      <p:sp>
        <p:nvSpPr>
          <p:cNvPr id="8" name="source and scope">
            <a:extLst xmlns:a="http://schemas.openxmlformats.org/drawingml/2006/main">
              <a:ext uri="{FF2B5EF4-FFF2-40B4-BE49-F238E27FC236}">
                <a16:creationId xmlns:a16="http://schemas.microsoft.com/office/drawing/2014/main" id="{C9F0079B-702C-4785-8054-CA928A7F9B17}"/>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Provisional labels, revised inputs, sparse coverage and unobserved exposure limit claims. No experiment has run.</a:t>
            </a:r>
          </a:p>
        </p:txBody>
      </p:sp>
    </p:spTree>
    <p:extLst>
      <p:ext uri="{BB962C8B-B14F-4D97-AF65-F5344CB8AC3E}">
        <p14:creationId xmlns:p14="http://schemas.microsoft.com/office/powerpoint/2010/main" val="3733753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72AD5845-C845-458C-B5D7-3F5D154009BE}"/>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B / MEASUREMENT</a:t>
            </a:r>
          </a:p>
        </p:txBody>
      </p:sp>
      <p:sp>
        <p:nvSpPr>
          <p:cNvPr id="2" name="title">
            <a:extLst xmlns:a="http://schemas.openxmlformats.org/drawingml/2006/main">
              <a:ext uri="{FF2B5EF4-FFF2-40B4-BE49-F238E27FC236}">
                <a16:creationId xmlns:a16="http://schemas.microsoft.com/office/drawing/2014/main" id="{BCF03F22-0ADF-4169-81D4-25899090B949}"/>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Codebook and corpus boundaries</a:t>
            </a:r>
          </a:p>
        </p:txBody>
      </p:sp>
      <p:sp>
        <p:nvSpPr>
          <p:cNvPr id="3" name="page">
            <a:extLst xmlns:a="http://schemas.openxmlformats.org/drawingml/2006/main">
              <a:ext uri="{FF2B5EF4-FFF2-40B4-BE49-F238E27FC236}">
                <a16:creationId xmlns:a16="http://schemas.microsoft.com/office/drawing/2014/main" id="{EF4B59D0-55D4-4329-AD9E-DB2A1425C95D}"/>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10</a:t>
            </a:r>
          </a:p>
        </p:txBody>
      </p:sp>
      <p:graphicFrame>
        <p:nvGraphicFramePr>
          <p:cNvPr id="4" name="">
            <a:extLst xmlns:a="http://schemas.openxmlformats.org/drawingml/2006/main">
              <a:ext uri="{FF2B5EF4-FFF2-40B4-BE49-F238E27FC236}">
                <a16:creationId xmlns:a16="http://schemas.microsoft.com/office/drawing/2014/main" id="{7A8C8E9A-4D82-4446-A896-8C2A0E561A89}"/>
              </a:ext>
            </a:extLst>
          </p:cNvPr>
          <p:cNvGraphicFramePr/>
          <p:nvPr/>
        </p:nvGraphicFramePr>
        <p:xfrm>
          <a:off xmlns:a="http://schemas.openxmlformats.org/drawingml/2006/main" x="666750" y="1752600"/>
          <a:ext xmlns:a="http://schemas.openxmlformats.org/drawingml/2006/main" cx="10763250" cy="3333750"/>
        </p:xfrm>
        <a:graphic xmlns:a="http://schemas.openxmlformats.org/drawingml/2006/main">
          <a:graphicData uri="http://schemas.openxmlformats.org/drawingml/2006/table">
            <a:tbl>
              <a:tblPr/>
              <a:tblGrid>
                <a:gridCol w="2476500"/>
                <a:gridCol w="4476750"/>
                <a:gridCol w="3810000"/>
              </a:tblGrid>
              <a:tr h="555625">
                <a:tc>
                  <a:txBody>
                    <a:bodyPr/>
                    <a:lstStyle/>
                    <a:p>
                      <a:r>
                        <a:rPr sz="1725" b="1">
                          <a:solidFill>
                            <a:srgbClr val="FFFFFF"/>
                          </a:solidFill>
                          <a:latin typeface="DejaVu Sans"/>
                          <a:ea typeface="DejaVu Sans"/>
                          <a:cs typeface="DejaVu Sans"/>
                        </a:rPr>
                        <a:t>Construct</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725" b="1">
                          <a:solidFill>
                            <a:srgbClr val="FFFFFF"/>
                          </a:solidFill>
                          <a:latin typeface="DejaVu Sans"/>
                          <a:ea typeface="DejaVu Sans"/>
                          <a:cs typeface="DejaVu Sans"/>
                        </a:rPr>
                        <a:t>Operational measure</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725" b="1">
                          <a:solidFill>
                            <a:srgbClr val="FFFFFF"/>
                          </a:solidFill>
                          <a:latin typeface="DejaVu Sans"/>
                          <a:ea typeface="DejaVu Sans"/>
                          <a:cs typeface="DejaVu Sans"/>
                        </a:rPr>
                        <a:t>Limit</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55625">
                <a:tc>
                  <a:txBody>
                    <a:bodyPr/>
                    <a:lstStyle/>
                    <a:p>
                      <a:r>
                        <a:rPr sz="1725" b="0">
                          <a:solidFill>
                            <a:srgbClr val="142B42"/>
                          </a:solidFill>
                          <a:latin typeface="DejaVu Sans"/>
                          <a:ea typeface="DejaVu Sans"/>
                          <a:cs typeface="DejaVu Sans"/>
                        </a:rPr>
                        <a:t>Economic tone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Automated -1 / 0 / +1 direction</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Independent accuracy unverified</a:t>
                      </a:r>
                    </a:p>
                  </a:txBody>
                  <a:tcPr marL="91440" marR="91440" marT="45720" marB="45720">
                    <a:lnR w="6668">
                      <a:solidFill>
                        <a:srgbClr val="DCE6EB"/>
                      </a:solidFill>
                      <a:prstDash val="solid"/>
                    </a:lnR>
                    <a:lnB w="6668">
                      <a:solidFill>
                        <a:srgbClr val="DCE6EB"/>
                      </a:solidFill>
                      <a:prstDash val="solid"/>
                    </a:lnB>
                    <a:solidFill>
                      <a:srgbClr val="FFFFFF"/>
                    </a:solidFill>
                  </a:tcPr>
                </a:tc>
              </a:tr>
              <a:tr h="555625">
                <a:tc>
                  <a:txBody>
                    <a:bodyPr/>
                    <a:lstStyle/>
                    <a:p>
                      <a:r>
                        <a:rPr sz="1725" b="0">
                          <a:solidFill>
                            <a:srgbClr val="142B42"/>
                          </a:solidFill>
                          <a:latin typeface="DejaVu Sans"/>
                          <a:ea typeface="DejaVu Sans"/>
                          <a:cs typeface="DejaVu Sans"/>
                        </a:rPr>
                        <a:t>Topic attention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Overlapping vocabulary shares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Selected economic titles only</a:t>
                      </a:r>
                    </a:p>
                  </a:txBody>
                  <a:tcPr marL="91440" marR="91440" marT="45720" marB="45720">
                    <a:lnR w="6668">
                      <a:solidFill>
                        <a:srgbClr val="DCE6EB"/>
                      </a:solidFill>
                      <a:prstDash val="solid"/>
                    </a:lnR>
                    <a:lnB w="6668">
                      <a:solidFill>
                        <a:srgbClr val="DCE6EB"/>
                      </a:solidFill>
                      <a:prstDash val="solid"/>
                    </a:lnB>
                    <a:solidFill>
                      <a:srgbClr val="FFFFFF"/>
                    </a:solidFill>
                  </a:tcPr>
                </a:tc>
              </a:tr>
              <a:tr h="555625">
                <a:tc>
                  <a:txBody>
                    <a:bodyPr/>
                    <a:lstStyle/>
                    <a:p>
                      <a:r>
                        <a:rPr sz="1725" b="0">
                          <a:solidFill>
                            <a:srgbClr val="142B42"/>
                          </a:solidFill>
                          <a:latin typeface="DejaVu Sans"/>
                          <a:ea typeface="DejaVu Sans"/>
                          <a:cs typeface="DejaVu Sans"/>
                        </a:rPr>
                        <a:t>Framing and emotion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Price-level/rate and affect words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Literal wording proxies</a:t>
                      </a:r>
                    </a:p>
                  </a:txBody>
                  <a:tcPr marL="91440" marR="91440" marT="45720" marB="45720">
                    <a:lnR w="6668">
                      <a:solidFill>
                        <a:srgbClr val="DCE6EB"/>
                      </a:solidFill>
                      <a:prstDash val="solid"/>
                    </a:lnR>
                    <a:lnB w="6668">
                      <a:solidFill>
                        <a:srgbClr val="DCE6EB"/>
                      </a:solidFill>
                      <a:prstDash val="solid"/>
                    </a:lnB>
                    <a:solidFill>
                      <a:srgbClr val="FFFFFF"/>
                    </a:solidFill>
                  </a:tcPr>
                </a:tc>
              </a:tr>
              <a:tr h="555625">
                <a:tc>
                  <a:txBody>
                    <a:bodyPr/>
                    <a:lstStyle/>
                    <a:p>
                      <a:r>
                        <a:rPr sz="1725" b="0">
                          <a:solidFill>
                            <a:srgbClr val="142B42"/>
                          </a:solidFill>
                          <a:latin typeface="DejaVu Sans"/>
                          <a:ea typeface="DejaVu Sans"/>
                          <a:cs typeface="DejaVu Sans"/>
                        </a:rPr>
                        <a:t>Factual calibration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Four selected matched title cases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No corpus accuracy estimate</a:t>
                      </a:r>
                    </a:p>
                  </a:txBody>
                  <a:tcPr marL="91440" marR="91440" marT="45720" marB="45720">
                    <a:lnR w="6668">
                      <a:solidFill>
                        <a:srgbClr val="DCE6EB"/>
                      </a:solidFill>
                      <a:prstDash val="solid"/>
                    </a:lnR>
                    <a:lnB w="6668">
                      <a:solidFill>
                        <a:srgbClr val="DCE6EB"/>
                      </a:solidFill>
                      <a:prstDash val="solid"/>
                    </a:lnB>
                    <a:solidFill>
                      <a:srgbClr val="FFFFFF"/>
                    </a:solidFill>
                  </a:tcPr>
                </a:tc>
              </a:tr>
              <a:tr h="555625">
                <a:tc>
                  <a:txBody>
                    <a:bodyPr/>
                    <a:lstStyle/>
                    <a:p>
                      <a:r>
                        <a:rPr sz="1725" b="0">
                          <a:solidFill>
                            <a:srgbClr val="142B42"/>
                          </a:solidFill>
                          <a:latin typeface="DejaVu Sans"/>
                          <a:ea typeface="DejaVu Sans"/>
                          <a:cs typeface="DejaVu Sans"/>
                        </a:rPr>
                        <a:t>Political attribution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Mention and blame-word co-occurrence</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Mention alone is not blame</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sampling">
            <a:extLst xmlns:a="http://schemas.openxmlformats.org/drawingml/2006/main">
              <a:ext uri="{FF2B5EF4-FFF2-40B4-BE49-F238E27FC236}">
                <a16:creationId xmlns:a16="http://schemas.microsoft.com/office/drawing/2014/main" id="{4FB3DFFE-C47B-4FD1-9C16-3F2F6FCE6613}"/>
              </a:ext>
            </a:extLst>
          </p:cNvPr>
          <p:cNvSpPr>
            <a:spLocks xmlns:a="http://schemas.openxmlformats.org/drawingml/2006/main" noGrp="1"/>
          </p:cNvSpPr>
          <p:nvPr/>
        </p:nvSpPr>
        <p:spPr>
          <a:xfrm xmlns:a="http://schemas.openxmlformats.org/drawingml/2006/main">
            <a:off x="762000" y="52673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42B42"/>
                </a:solidFill>
                <a:latin typeface="DejaVu Sans"/>
                <a:ea typeface="DejaVu Sans"/>
                <a:cs typeface="DejaVu Sans"/>
              </a:defRPr>
            </a:defPPr>
            <a:lvl1pPr>
              <a:defRPr sz="1875" b="0">
                <a:solidFill>
                  <a:srgbClr val="142B42"/>
                </a:solidFill>
                <a:latin typeface="DejaVu Sans"/>
                <a:ea typeface="DejaVu Sans"/>
                <a:cs typeface="DejaVu Sans"/>
              </a:defRPr>
            </a:lvl1pPr>
            <a:lvl2pPr>
              <a:defRPr sz="1875" b="0">
                <a:solidFill>
                  <a:srgbClr val="142B42"/>
                </a:solidFill>
                <a:latin typeface="DejaVu Sans"/>
                <a:ea typeface="DejaVu Sans"/>
                <a:cs typeface="DejaVu Sans"/>
              </a:defRPr>
            </a:lvl2pPr>
            <a:lvl3pPr>
              <a:defRPr sz="1875" b="0">
                <a:solidFill>
                  <a:srgbClr val="142B42"/>
                </a:solidFill>
                <a:latin typeface="DejaVu Sans"/>
                <a:ea typeface="DejaVu Sans"/>
                <a:cs typeface="DejaVu Sans"/>
              </a:defRPr>
            </a:lvl3pPr>
            <a:lvl4pPr>
              <a:defRPr sz="1875" b="0">
                <a:solidFill>
                  <a:srgbClr val="142B42"/>
                </a:solidFill>
                <a:latin typeface="DejaVu Sans"/>
                <a:ea typeface="DejaVu Sans"/>
                <a:cs typeface="DejaVu Sans"/>
              </a:defRPr>
            </a:lvl4pPr>
            <a:lvl5pPr>
              <a:defRPr sz="1875" b="0">
                <a:solidFill>
                  <a:srgbClr val="142B42"/>
                </a:solidFill>
                <a:latin typeface="DejaVu Sans"/>
                <a:ea typeface="DejaVu Sans"/>
                <a:cs typeface="DejaVu Sans"/>
              </a:defRPr>
            </a:lvl5pPr>
            <a:lvl6pPr>
              <a:defRPr sz="1875" b="0">
                <a:solidFill>
                  <a:srgbClr val="142B42"/>
                </a:solidFill>
                <a:latin typeface="DejaVu Sans"/>
                <a:ea typeface="DejaVu Sans"/>
                <a:cs typeface="DejaVu Sans"/>
              </a:defRPr>
            </a:lvl6pPr>
            <a:lvl7pPr>
              <a:defRPr sz="1875" b="0">
                <a:solidFill>
                  <a:srgbClr val="142B42"/>
                </a:solidFill>
                <a:latin typeface="DejaVu Sans"/>
                <a:ea typeface="DejaVu Sans"/>
                <a:cs typeface="DejaVu Sans"/>
              </a:defRPr>
            </a:lvl7pPr>
            <a:lvl8pPr>
              <a:defRPr sz="1875" b="0">
                <a:solidFill>
                  <a:srgbClr val="142B42"/>
                </a:solidFill>
                <a:latin typeface="DejaVu Sans"/>
                <a:ea typeface="DejaVu Sans"/>
                <a:cs typeface="DejaVu Sans"/>
              </a:defRPr>
            </a:lvl8pPr>
            <a:lvl9pPr>
              <a:defRPr sz="1875" b="0">
                <a:solidFill>
                  <a:srgbClr val="142B42"/>
                </a:solidFill>
                <a:latin typeface="DejaVu Sans"/>
                <a:ea typeface="DejaVu Sans"/>
                <a:cs typeface="DejaVu Sans"/>
              </a:defRPr>
            </a:lvl9pPr>
          </a:lstStyle>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691 selected, 21 excluded. At least 3 titles per source-month.</a:t>
            </a:r>
          </a:p>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Equal source weights. No interpolation of media gaps.</a:t>
            </a:r>
          </a:p>
        </p:txBody>
      </p:sp>
      <p:sp>
        <p:nvSpPr>
          <p:cNvPr id="6" name="source and scope">
            <a:extLst xmlns:a="http://schemas.openxmlformats.org/drawingml/2006/main">
              <a:ext uri="{FF2B5EF4-FFF2-40B4-BE49-F238E27FC236}">
                <a16:creationId xmlns:a16="http://schemas.microsoft.com/office/drawing/2014/main" id="{039D821A-D4AA-4E46-BCD9-2635FAF74B1F}"/>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Corpus: NPR 220, Colorado Sun 223, Hacker News 227. Public titles and metadata. Forum submissions do not measure representative opinion.</a:t>
            </a:r>
          </a:p>
        </p:txBody>
      </p:sp>
    </p:spTree>
    <p:extLst>
      <p:ext uri="{BB962C8B-B14F-4D97-AF65-F5344CB8AC3E}">
        <p14:creationId xmlns:p14="http://schemas.microsoft.com/office/powerpoint/2010/main" val="2425426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D390EA0-F4C4-437E-8904-20BD406557B7}"/>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C / MODEL SPECIFICATIONS</a:t>
            </a:r>
          </a:p>
        </p:txBody>
      </p:sp>
      <p:sp>
        <p:nvSpPr>
          <p:cNvPr id="2" name="title">
            <a:extLst xmlns:a="http://schemas.openxmlformats.org/drawingml/2006/main">
              <a:ext uri="{FF2B5EF4-FFF2-40B4-BE49-F238E27FC236}">
                <a16:creationId xmlns:a16="http://schemas.microsoft.com/office/drawing/2014/main" id="{F0809ECE-A2C2-489C-B66E-AAD643EF9BE5}"/>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Eight-predictor multiple linear regression</a:t>
            </a:r>
          </a:p>
        </p:txBody>
      </p:sp>
      <p:sp>
        <p:nvSpPr>
          <p:cNvPr id="3" name="page">
            <a:extLst xmlns:a="http://schemas.openxmlformats.org/drawingml/2006/main">
              <a:ext uri="{FF2B5EF4-FFF2-40B4-BE49-F238E27FC236}">
                <a16:creationId xmlns:a16="http://schemas.microsoft.com/office/drawing/2014/main" id="{F9591489-971A-4830-AB37-239E0A50FF5B}"/>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11</a:t>
            </a:r>
          </a:p>
        </p:txBody>
      </p:sp>
      <p:graphicFrame>
        <p:nvGraphicFramePr>
          <p:cNvPr id="4" name="">
            <a:extLst xmlns:a="http://schemas.openxmlformats.org/drawingml/2006/main">
              <a:ext uri="{FF2B5EF4-FFF2-40B4-BE49-F238E27FC236}">
                <a16:creationId xmlns:a16="http://schemas.microsoft.com/office/drawing/2014/main" id="{56D246C4-1560-434A-A096-395C1D3D3809}"/>
              </a:ext>
            </a:extLst>
          </p:cNvPr>
          <p:cNvGraphicFramePr/>
          <p:nvPr/>
        </p:nvGraphicFramePr>
        <p:xfrm>
          <a:off xmlns:a="http://schemas.openxmlformats.org/drawingml/2006/main" x="666750" y="1809750"/>
          <a:ext xmlns:a="http://schemas.openxmlformats.org/drawingml/2006/main" cx="10763250" cy="2857500"/>
        </p:xfrm>
        <a:graphic xmlns:a="http://schemas.openxmlformats.org/drawingml/2006/main">
          <a:graphicData uri="http://schemas.openxmlformats.org/drawingml/2006/table">
            <a:tbl>
              <a:tblPr/>
              <a:tblGrid>
                <a:gridCol w="1428750"/>
                <a:gridCol w="7524750"/>
                <a:gridCol w="1809750"/>
              </a:tblGrid>
              <a:tr h="571500">
                <a:tc>
                  <a:txBody>
                    <a:bodyPr/>
                    <a:lstStyle/>
                    <a:p>
                      <a:r>
                        <a:rPr sz="1950" b="1">
                          <a:solidFill>
                            <a:srgbClr val="FFFFFF"/>
                          </a:solidFill>
                          <a:latin typeface="DejaVu Sans"/>
                          <a:ea typeface="DejaVu Sans"/>
                          <a:cs typeface="DejaVu Sans"/>
                        </a:rPr>
                        <a:t>Model</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Predictor blocks</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Parameters</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71500">
                <a:tc>
                  <a:txBody>
                    <a:bodyPr/>
                    <a:lstStyle/>
                    <a:p>
                      <a:r>
                        <a:rPr sz="1950" b="0">
                          <a:solidFill>
                            <a:srgbClr val="142B42"/>
                          </a:solidFill>
                          <a:latin typeface="DejaVu Sans"/>
                          <a:ea typeface="DejaVu Sans"/>
                          <a:cs typeface="DejaVu Sans"/>
                        </a:rPr>
                        <a:t>M1</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Headline economics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4</a:t>
                      </a:r>
                    </a:p>
                  </a:txBody>
                  <a:tcPr marL="91440" marR="91440" marT="45720" marB="45720">
                    <a:lnR w="6668">
                      <a:solidFill>
                        <a:srgbClr val="DCE6EB"/>
                      </a:solidFill>
                      <a:prstDash val="solid"/>
                    </a:lnR>
                    <a:lnB w="6668">
                      <a:solidFill>
                        <a:srgbClr val="DCE6EB"/>
                      </a:solidFill>
                      <a:prstDash val="solid"/>
                    </a:lnB>
                    <a:solidFill>
                      <a:srgbClr val="FFFFFF"/>
                    </a:solidFill>
                  </a:tcPr>
                </a:tc>
              </a:tr>
              <a:tr h="571500">
                <a:tc>
                  <a:txBody>
                    <a:bodyPr/>
                    <a:lstStyle/>
                    <a:p>
                      <a:r>
                        <a:rPr sz="1950" b="0">
                          <a:solidFill>
                            <a:srgbClr val="142B42"/>
                          </a:solidFill>
                          <a:latin typeface="DejaVu Sans"/>
                          <a:ea typeface="DejaVu Sans"/>
                          <a:cs typeface="DejaVu Sans"/>
                        </a:rPr>
                        <a:t>M2</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Economics + original automated tone</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5</a:t>
                      </a:r>
                    </a:p>
                  </a:txBody>
                  <a:tcPr marL="91440" marR="91440" marT="45720" marB="45720">
                    <a:lnR w="6668">
                      <a:solidFill>
                        <a:srgbClr val="DCE6EB"/>
                      </a:solidFill>
                      <a:prstDash val="solid"/>
                    </a:lnR>
                    <a:lnB w="6668">
                      <a:solidFill>
                        <a:srgbClr val="DCE6EB"/>
                      </a:solidFill>
                      <a:prstDash val="solid"/>
                    </a:lnB>
                    <a:solidFill>
                      <a:srgbClr val="FFFFFF"/>
                    </a:solidFill>
                  </a:tcPr>
                </a:tc>
              </a:tr>
              <a:tr h="571500">
                <a:tc>
                  <a:txBody>
                    <a:bodyPr/>
                    <a:lstStyle/>
                    <a:p>
                      <a:r>
                        <a:rPr sz="1950" b="0">
                          <a:solidFill>
                            <a:srgbClr val="142B42"/>
                          </a:solidFill>
                          <a:latin typeface="DejaVu Sans"/>
                          <a:ea typeface="DejaVu Sans"/>
                          <a:cs typeface="DejaVu Sans"/>
                        </a:rPr>
                        <a:t>Controls</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Economics + household + era</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8</a:t>
                      </a:r>
                    </a:p>
                  </a:txBody>
                  <a:tcPr marL="91440" marR="91440" marT="45720" marB="45720">
                    <a:lnR w="6668">
                      <a:solidFill>
                        <a:srgbClr val="DCE6EB"/>
                      </a:solidFill>
                      <a:prstDash val="solid"/>
                    </a:lnR>
                    <a:lnB w="6668">
                      <a:solidFill>
                        <a:srgbClr val="DCE6EB"/>
                      </a:solidFill>
                      <a:prstDash val="solid"/>
                    </a:lnB>
                    <a:solidFill>
                      <a:srgbClr val="FFFFFF"/>
                    </a:solidFill>
                  </a:tcPr>
                </a:tc>
              </a:tr>
              <a:tr h="571500">
                <a:tc>
                  <a:txBody>
                    <a:bodyPr/>
                    <a:lstStyle/>
                    <a:p>
                      <a:r>
                        <a:rPr sz="1950" b="0">
                          <a:solidFill>
                            <a:srgbClr val="142B42"/>
                          </a:solidFill>
                          <a:latin typeface="DejaVu Sans"/>
                          <a:ea typeface="DejaVu Sans"/>
                          <a:cs typeface="DejaVu Sans"/>
                        </a:rPr>
                        <a:t>M3</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Economics + household + era + tone</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9</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variables">
            <a:extLst xmlns:a="http://schemas.openxmlformats.org/drawingml/2006/main">
              <a:ext uri="{FF2B5EF4-FFF2-40B4-BE49-F238E27FC236}">
                <a16:creationId xmlns:a16="http://schemas.microsoft.com/office/drawing/2014/main" id="{4CB7AA88-409A-480D-8BC2-390C9F6AAA41}"/>
              </a:ext>
            </a:extLst>
          </p:cNvPr>
          <p:cNvSpPr>
            <a:spLocks xmlns:a="http://schemas.openxmlformats.org/drawingml/2006/main" noGrp="1"/>
          </p:cNvSpPr>
          <p:nvPr/>
        </p:nvSpPr>
        <p:spPr>
          <a:xfrm xmlns:a="http://schemas.openxmlformats.org/drawingml/2006/main">
            <a:off x="762000" y="494347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75" b="0">
                <a:solidFill>
                  <a:srgbClr val="142B42"/>
                </a:solidFill>
                <a:latin typeface="DejaVu Sans"/>
                <a:ea typeface="DejaVu Sans"/>
                <a:cs typeface="DejaVu Sans"/>
              </a:defRPr>
            </a:defPPr>
            <a:lvl1pPr>
              <a:defRPr sz="1875" b="0">
                <a:solidFill>
                  <a:srgbClr val="142B42"/>
                </a:solidFill>
                <a:latin typeface="DejaVu Sans"/>
                <a:ea typeface="DejaVu Sans"/>
                <a:cs typeface="DejaVu Sans"/>
              </a:defRPr>
            </a:lvl1pPr>
            <a:lvl2pPr>
              <a:defRPr sz="1875" b="0">
                <a:solidFill>
                  <a:srgbClr val="142B42"/>
                </a:solidFill>
                <a:latin typeface="DejaVu Sans"/>
                <a:ea typeface="DejaVu Sans"/>
                <a:cs typeface="DejaVu Sans"/>
              </a:defRPr>
            </a:lvl2pPr>
            <a:lvl3pPr>
              <a:defRPr sz="1875" b="0">
                <a:solidFill>
                  <a:srgbClr val="142B42"/>
                </a:solidFill>
                <a:latin typeface="DejaVu Sans"/>
                <a:ea typeface="DejaVu Sans"/>
                <a:cs typeface="DejaVu Sans"/>
              </a:defRPr>
            </a:lvl3pPr>
            <a:lvl4pPr>
              <a:defRPr sz="1875" b="0">
                <a:solidFill>
                  <a:srgbClr val="142B42"/>
                </a:solidFill>
                <a:latin typeface="DejaVu Sans"/>
                <a:ea typeface="DejaVu Sans"/>
                <a:cs typeface="DejaVu Sans"/>
              </a:defRPr>
            </a:lvl4pPr>
            <a:lvl5pPr>
              <a:defRPr sz="1875" b="0">
                <a:solidFill>
                  <a:srgbClr val="142B42"/>
                </a:solidFill>
                <a:latin typeface="DejaVu Sans"/>
                <a:ea typeface="DejaVu Sans"/>
                <a:cs typeface="DejaVu Sans"/>
              </a:defRPr>
            </a:lvl5pPr>
            <a:lvl6pPr>
              <a:defRPr sz="1875" b="0">
                <a:solidFill>
                  <a:srgbClr val="142B42"/>
                </a:solidFill>
                <a:latin typeface="DejaVu Sans"/>
                <a:ea typeface="DejaVu Sans"/>
                <a:cs typeface="DejaVu Sans"/>
              </a:defRPr>
            </a:lvl6pPr>
            <a:lvl7pPr>
              <a:defRPr sz="1875" b="0">
                <a:solidFill>
                  <a:srgbClr val="142B42"/>
                </a:solidFill>
                <a:latin typeface="DejaVu Sans"/>
                <a:ea typeface="DejaVu Sans"/>
                <a:cs typeface="DejaVu Sans"/>
              </a:defRPr>
            </a:lvl7pPr>
            <a:lvl8pPr>
              <a:defRPr sz="1875" b="0">
                <a:solidFill>
                  <a:srgbClr val="142B42"/>
                </a:solidFill>
                <a:latin typeface="DejaVu Sans"/>
                <a:ea typeface="DejaVu Sans"/>
                <a:cs typeface="DejaVu Sans"/>
              </a:defRPr>
            </a:lvl8pPr>
            <a:lvl9pPr>
              <a:defRPr sz="1875" b="0">
                <a:solidFill>
                  <a:srgbClr val="142B42"/>
                </a:solidFill>
                <a:latin typeface="DejaVu Sans"/>
                <a:ea typeface="DejaVu Sans"/>
                <a:cs typeface="DejaVu Sans"/>
              </a:defRPr>
            </a:lvl9pPr>
          </a:lstStyle>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Economics: U3, annual PCE inflation, quarterly GDP growth</a:t>
            </a:r>
          </a:p>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Household: 36-month prices, real-income growth</a:t>
            </a:r>
          </a:p>
          <a:p xmlns:a="http://schemas.openxmlformats.org/drawingml/2006/main">
            <a:pPr>
              <a:defRPr sz="1875" b="0">
                <a:solidFill>
                  <a:srgbClr val="142B42"/>
                </a:solidFill>
                <a:latin typeface="DejaVu Sans"/>
                <a:ea typeface="DejaVu Sans"/>
                <a:cs typeface="DejaVu Sans"/>
              </a:defRPr>
            </a:pPr>
            <a:r>
              <a:rPr sz="1875" b="0">
                <a:solidFill>
                  <a:srgbClr val="142B42"/>
                </a:solidFill>
                <a:latin typeface="DejaVu Sans"/>
                <a:ea typeface="DejaVu Sans"/>
                <a:cs typeface="DejaVu Sans"/>
              </a:rPr>
              <a:t>Era: presidency and web survey. Dynamic variants add prior sentiment.</a:t>
            </a:r>
          </a:p>
        </p:txBody>
      </p:sp>
      <p:sp>
        <p:nvSpPr>
          <p:cNvPr id="6" name="source and scope">
            <a:extLst xmlns:a="http://schemas.openxmlformats.org/drawingml/2006/main">
              <a:ext uri="{FF2B5EF4-FFF2-40B4-BE49-F238E27FC236}">
                <a16:creationId xmlns:a16="http://schemas.microsoft.com/office/drawing/2014/main" id="{4FBB669A-D475-4B96-B118-45C4F0D39AE4}"/>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Parameter counts include the intercept. Each variable has its own slope. Initial training: 24 monthly observations.</a:t>
            </a:r>
          </a:p>
        </p:txBody>
      </p:sp>
    </p:spTree>
    <p:extLst>
      <p:ext uri="{BB962C8B-B14F-4D97-AF65-F5344CB8AC3E}">
        <p14:creationId xmlns:p14="http://schemas.microsoft.com/office/powerpoint/2010/main" val="225001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3DBC48DC-6D30-48CD-B35A-C551C87C7694}"/>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D / CONDITIONAL ASSOCIATIONS</a:t>
            </a:r>
          </a:p>
        </p:txBody>
      </p:sp>
      <p:sp>
        <p:nvSpPr>
          <p:cNvPr id="2" name="title">
            <a:extLst xmlns:a="http://schemas.openxmlformats.org/drawingml/2006/main">
              <a:ext uri="{FF2B5EF4-FFF2-40B4-BE49-F238E27FC236}">
                <a16:creationId xmlns:a16="http://schemas.microsoft.com/office/drawing/2014/main" id="{FE2551DE-0902-4AE2-B06D-1F64A9E6EADF}"/>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The tone slope attenuates with controls</a:t>
            </a:r>
          </a:p>
        </p:txBody>
      </p:sp>
      <p:sp>
        <p:nvSpPr>
          <p:cNvPr id="3" name="page">
            <a:extLst xmlns:a="http://schemas.openxmlformats.org/drawingml/2006/main">
              <a:ext uri="{FF2B5EF4-FFF2-40B4-BE49-F238E27FC236}">
                <a16:creationId xmlns:a16="http://schemas.microsoft.com/office/drawing/2014/main" id="{4B21F1D3-B2AA-4ED6-A735-50867240175B}"/>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12</a:t>
            </a:r>
          </a:p>
        </p:txBody>
      </p:sp>
      <p:graphicFrame>
        <p:nvGraphicFramePr>
          <p:cNvPr id="4" name="">
            <a:extLst xmlns:a="http://schemas.openxmlformats.org/drawingml/2006/main">
              <a:ext uri="{FF2B5EF4-FFF2-40B4-BE49-F238E27FC236}">
                <a16:creationId xmlns:a16="http://schemas.microsoft.com/office/drawing/2014/main" id="{23DD5C25-FAA9-45BA-90C0-4E8B8EDBB893}"/>
              </a:ext>
            </a:extLst>
          </p:cNvPr>
          <p:cNvGraphicFramePr/>
          <p:nvPr/>
        </p:nvGraphicFramePr>
        <p:xfrm>
          <a:off xmlns:a="http://schemas.openxmlformats.org/drawingml/2006/main" x="666750" y="1857375"/>
          <a:ext xmlns:a="http://schemas.openxmlformats.org/drawingml/2006/main" cx="10763250" cy="2809875"/>
        </p:xfrm>
        <a:graphic xmlns:a="http://schemas.openxmlformats.org/drawingml/2006/main">
          <a:graphicData uri="http://schemas.openxmlformats.org/drawingml/2006/table">
            <a:tbl>
              <a:tblPr/>
              <a:tblGrid>
                <a:gridCol w="4572000"/>
                <a:gridCol w="2952750"/>
                <a:gridCol w="3238500"/>
              </a:tblGrid>
              <a:tr h="702469">
                <a:tc>
                  <a:txBody>
                    <a:bodyPr/>
                    <a:lstStyle/>
                    <a:p>
                      <a:r>
                        <a:rPr sz="1950" b="1">
                          <a:solidFill>
                            <a:srgbClr val="FFFFFF"/>
                          </a:solidFill>
                          <a:latin typeface="DejaVu Sans"/>
                          <a:ea typeface="DejaVu Sans"/>
                          <a:cs typeface="DejaVu Sans"/>
                        </a:rPr>
                        <a:t>Model</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Points per 0.1 tone</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95% HAC interval</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702469">
                <a:tc>
                  <a:txBody>
                    <a:bodyPr/>
                    <a:lstStyle/>
                    <a:p>
                      <a:r>
                        <a:rPr sz="1950" b="0">
                          <a:solidFill>
                            <a:srgbClr val="142B42"/>
                          </a:solidFill>
                          <a:latin typeface="DejaVu Sans"/>
                          <a:ea typeface="DejaVu Sans"/>
                          <a:cs typeface="DejaVu Sans"/>
                        </a:rPr>
                        <a:t>M2: economics + tone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+1.99</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+0.77 to +3.21</a:t>
                      </a:r>
                    </a:p>
                  </a:txBody>
                  <a:tcPr marL="91440" marR="91440" marT="45720" marB="45720">
                    <a:lnR w="6668">
                      <a:solidFill>
                        <a:srgbClr val="DCE6EB"/>
                      </a:solidFill>
                      <a:prstDash val="solid"/>
                    </a:lnR>
                    <a:lnB w="6668">
                      <a:solidFill>
                        <a:srgbClr val="DCE6EB"/>
                      </a:solidFill>
                      <a:prstDash val="solid"/>
                    </a:lnB>
                    <a:solidFill>
                      <a:srgbClr val="FFFFFF"/>
                    </a:solidFill>
                  </a:tcPr>
                </a:tc>
              </a:tr>
              <a:tr h="702469">
                <a:tc>
                  <a:txBody>
                    <a:bodyPr/>
                    <a:lstStyle/>
                    <a:p>
                      <a:r>
                        <a:rPr sz="1950" b="0">
                          <a:solidFill>
                            <a:srgbClr val="142B42"/>
                          </a:solidFill>
                          <a:latin typeface="DejaVu Sans"/>
                          <a:ea typeface="DejaVu Sans"/>
                          <a:cs typeface="DejaVu Sans"/>
                        </a:rPr>
                        <a:t>M3: full controls + tone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+0.52</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-0.19 to +1.23</a:t>
                      </a:r>
                    </a:p>
                  </a:txBody>
                  <a:tcPr marL="91440" marR="91440" marT="45720" marB="45720">
                    <a:lnR w="6668">
                      <a:solidFill>
                        <a:srgbClr val="DCE6EB"/>
                      </a:solidFill>
                      <a:prstDash val="solid"/>
                    </a:lnR>
                    <a:lnB w="6668">
                      <a:solidFill>
                        <a:srgbClr val="DCE6EB"/>
                      </a:solidFill>
                      <a:prstDash val="solid"/>
                    </a:lnB>
                    <a:solidFill>
                      <a:srgbClr val="FFFFFF"/>
                    </a:solidFill>
                  </a:tcPr>
                </a:tc>
              </a:tr>
              <a:tr h="702469">
                <a:tc>
                  <a:txBody>
                    <a:bodyPr/>
                    <a:lstStyle/>
                    <a:p>
                      <a:r>
                        <a:rPr sz="1950" b="0">
                          <a:solidFill>
                            <a:srgbClr val="142B42"/>
                          </a:solidFill>
                          <a:latin typeface="DejaVu Sans"/>
                          <a:ea typeface="DejaVu Sans"/>
                          <a:cs typeface="DejaVu Sans"/>
                        </a:rPr>
                        <a:t>Dynamic M3</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+0.17</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-0.32 to +0.67</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4B7ADCBB-4747-4593-A808-6413593E6B59}"/>
              </a:ext>
            </a:extLst>
          </p:cNvPr>
          <p:cNvSpPr>
            <a:spLocks xmlns:a="http://schemas.openxmlformats.org/drawingml/2006/main" noGrp="1"/>
          </p:cNvSpPr>
          <p:nvPr/>
        </p:nvSpPr>
        <p:spPr>
          <a:xfrm xmlns:a="http://schemas.openxmlformats.org/drawingml/2006/main">
            <a:off x="762000" y="504825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175" b="1">
                <a:solidFill>
                  <a:srgbClr val="007F78"/>
                </a:solidFill>
                <a:latin typeface="DejaVu Sans"/>
                <a:ea typeface="DejaVu Sans"/>
                <a:cs typeface="DejaVu Sans"/>
              </a:defRPr>
            </a:defPPr>
            <a:lvl1pPr>
              <a:defRPr sz="2175" b="1">
                <a:solidFill>
                  <a:srgbClr val="007F78"/>
                </a:solidFill>
                <a:latin typeface="DejaVu Sans"/>
                <a:ea typeface="DejaVu Sans"/>
                <a:cs typeface="DejaVu Sans"/>
              </a:defRPr>
            </a:lvl1pPr>
            <a:lvl2pPr>
              <a:defRPr sz="2175" b="1">
                <a:solidFill>
                  <a:srgbClr val="007F78"/>
                </a:solidFill>
                <a:latin typeface="DejaVu Sans"/>
                <a:ea typeface="DejaVu Sans"/>
                <a:cs typeface="DejaVu Sans"/>
              </a:defRPr>
            </a:lvl2pPr>
            <a:lvl3pPr>
              <a:defRPr sz="2175" b="1">
                <a:solidFill>
                  <a:srgbClr val="007F78"/>
                </a:solidFill>
                <a:latin typeface="DejaVu Sans"/>
                <a:ea typeface="DejaVu Sans"/>
                <a:cs typeface="DejaVu Sans"/>
              </a:defRPr>
            </a:lvl3pPr>
            <a:lvl4pPr>
              <a:defRPr sz="2175" b="1">
                <a:solidFill>
                  <a:srgbClr val="007F78"/>
                </a:solidFill>
                <a:latin typeface="DejaVu Sans"/>
                <a:ea typeface="DejaVu Sans"/>
                <a:cs typeface="DejaVu Sans"/>
              </a:defRPr>
            </a:lvl4pPr>
            <a:lvl5pPr>
              <a:defRPr sz="2175" b="1">
                <a:solidFill>
                  <a:srgbClr val="007F78"/>
                </a:solidFill>
                <a:latin typeface="DejaVu Sans"/>
                <a:ea typeface="DejaVu Sans"/>
                <a:cs typeface="DejaVu Sans"/>
              </a:defRPr>
            </a:lvl5pPr>
            <a:lvl6pPr>
              <a:defRPr sz="2175" b="1">
                <a:solidFill>
                  <a:srgbClr val="007F78"/>
                </a:solidFill>
                <a:latin typeface="DejaVu Sans"/>
                <a:ea typeface="DejaVu Sans"/>
                <a:cs typeface="DejaVu Sans"/>
              </a:defRPr>
            </a:lvl6pPr>
            <a:lvl7pPr>
              <a:defRPr sz="2175" b="1">
                <a:solidFill>
                  <a:srgbClr val="007F78"/>
                </a:solidFill>
                <a:latin typeface="DejaVu Sans"/>
                <a:ea typeface="DejaVu Sans"/>
                <a:cs typeface="DejaVu Sans"/>
              </a:defRPr>
            </a:lvl7pPr>
            <a:lvl8pPr>
              <a:defRPr sz="2175" b="1">
                <a:solidFill>
                  <a:srgbClr val="007F78"/>
                </a:solidFill>
                <a:latin typeface="DejaVu Sans"/>
                <a:ea typeface="DejaVu Sans"/>
                <a:cs typeface="DejaVu Sans"/>
              </a:defRPr>
            </a:lvl8pPr>
            <a:lvl9pPr>
              <a:defRPr sz="2175" b="1">
                <a:solidFill>
                  <a:srgbClr val="007F78"/>
                </a:solidFill>
                <a:latin typeface="DejaVu Sans"/>
                <a:ea typeface="DejaVu Sans"/>
                <a:cs typeface="DejaVu Sans"/>
              </a:defRPr>
            </a:lvl9pPr>
          </a:lstStyle>
          <a:p xmlns:a="http://schemas.openxmlformats.org/drawingml/2006/main">
            <a:pPr>
              <a:defRPr sz="2175" b="1">
                <a:solidFill>
                  <a:srgbClr val="007F78"/>
                </a:solidFill>
                <a:latin typeface="DejaVu Sans"/>
                <a:ea typeface="DejaVu Sans"/>
                <a:cs typeface="DejaVu Sans"/>
              </a:defRPr>
            </a:pPr>
            <a:r>
              <a:rPr sz="2175" b="1">
                <a:solidFill>
                  <a:srgbClr val="007F78"/>
                </a:solidFill>
                <a:latin typeface="DejaVu Sans"/>
                <a:ea typeface="DejaVu Sans"/>
                <a:cs typeface="DejaVu Sans"/>
              </a:rPr>
              <a:t>The controlled intervals cross zero</a:t>
            </a:r>
          </a:p>
          <a:p xmlns:a="http://schemas.openxmlformats.org/drawingml/2006/main">
            <a:pPr>
              <a:defRPr sz="2175" b="1">
                <a:solidFill>
                  <a:srgbClr val="007F78"/>
                </a:solidFill>
                <a:latin typeface="DejaVu Sans"/>
                <a:ea typeface="DejaVu Sans"/>
                <a:cs typeface="DejaVu Sans"/>
              </a:defRPr>
            </a:pPr>
            <a:r>
              <a:rPr sz="2175" b="1">
                <a:solidFill>
                  <a:srgbClr val="007F78"/>
                </a:solidFill>
                <a:latin typeface="DejaVu Sans"/>
                <a:ea typeface="DejaVu Sans"/>
                <a:cs typeface="DejaVu Sans"/>
              </a:rPr>
              <a:t>These slopes describe association, not a change in exposure</a:t>
            </a:r>
          </a:p>
        </p:txBody>
      </p:sp>
      <p:sp>
        <p:nvSpPr>
          <p:cNvPr id="6" name="source and scope">
            <a:extLst xmlns:a="http://schemas.openxmlformats.org/drawingml/2006/main">
              <a:ext uri="{FF2B5EF4-FFF2-40B4-BE49-F238E27FC236}">
                <a16:creationId xmlns:a16="http://schemas.microsoft.com/office/drawing/2014/main" id="{34E67565-B359-43C3-BDF7-008CB84220B6}"/>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45 observations. Calendar-HAC uncertainty accounts for month spacing. Multicollinearity and era confounding remain.</a:t>
            </a:r>
          </a:p>
        </p:txBody>
      </p:sp>
    </p:spTree>
    <p:extLst>
      <p:ext uri="{BB962C8B-B14F-4D97-AF65-F5344CB8AC3E}">
        <p14:creationId xmlns:p14="http://schemas.microsoft.com/office/powerpoint/2010/main" val="12405559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52E76D3-F1FA-4EDB-A028-CDB79088281E}"/>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E / FULL COEFFICIENTS</a:t>
            </a:r>
          </a:p>
        </p:txBody>
      </p:sp>
      <p:sp>
        <p:nvSpPr>
          <p:cNvPr id="2" name="title">
            <a:extLst xmlns:a="http://schemas.openxmlformats.org/drawingml/2006/main">
              <a:ext uri="{FF2B5EF4-FFF2-40B4-BE49-F238E27FC236}">
                <a16:creationId xmlns:a16="http://schemas.microsoft.com/office/drawing/2014/main" id="{C7BD4231-18F4-421D-AD47-EE8B802BEFF4}"/>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M3 direct coefficients and uncertainty</a:t>
            </a:r>
          </a:p>
        </p:txBody>
      </p:sp>
      <p:sp>
        <p:nvSpPr>
          <p:cNvPr id="3" name="page">
            <a:extLst xmlns:a="http://schemas.openxmlformats.org/drawingml/2006/main">
              <a:ext uri="{FF2B5EF4-FFF2-40B4-BE49-F238E27FC236}">
                <a16:creationId xmlns:a16="http://schemas.microsoft.com/office/drawing/2014/main" id="{0AD4B791-6FC3-48B1-A593-5B8D193871FD}"/>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13</a:t>
            </a:r>
          </a:p>
        </p:txBody>
      </p:sp>
      <p:graphicFrame>
        <p:nvGraphicFramePr>
          <p:cNvPr id="4" name="">
            <a:extLst xmlns:a="http://schemas.openxmlformats.org/drawingml/2006/main">
              <a:ext uri="{FF2B5EF4-FFF2-40B4-BE49-F238E27FC236}">
                <a16:creationId xmlns:a16="http://schemas.microsoft.com/office/drawing/2014/main" id="{5C4BB1C4-EFDE-409E-9593-05DAD078C920}"/>
              </a:ext>
            </a:extLst>
          </p:cNvPr>
          <p:cNvGraphicFramePr/>
          <p:nvPr/>
        </p:nvGraphicFramePr>
        <p:xfrm>
          <a:off xmlns:a="http://schemas.openxmlformats.org/drawingml/2006/main" x="666750" y="1733550"/>
          <a:ext xmlns:a="http://schemas.openxmlformats.org/drawingml/2006/main" cx="10763250" cy="3857625"/>
        </p:xfrm>
        <a:graphic xmlns:a="http://schemas.openxmlformats.org/drawingml/2006/main">
          <a:graphicData uri="http://schemas.openxmlformats.org/drawingml/2006/table">
            <a:tbl>
              <a:tblPr/>
              <a:tblGrid>
                <a:gridCol w="4762500"/>
                <a:gridCol w="1905000"/>
                <a:gridCol w="4095750"/>
              </a:tblGrid>
              <a:tr h="428625">
                <a:tc>
                  <a:txBody>
                    <a:bodyPr/>
                    <a:lstStyle/>
                    <a:p>
                      <a:r>
                        <a:rPr sz="1725" b="1">
                          <a:solidFill>
                            <a:srgbClr val="FFFFFF"/>
                          </a:solidFill>
                          <a:latin typeface="DejaVu Sans"/>
                          <a:ea typeface="DejaVu Sans"/>
                          <a:cs typeface="DejaVu Sans"/>
                        </a:rPr>
                        <a:t>Predictor</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725" b="1">
                          <a:solidFill>
                            <a:srgbClr val="FFFFFF"/>
                          </a:solidFill>
                          <a:latin typeface="DejaVu Sans"/>
                          <a:ea typeface="DejaVu Sans"/>
                          <a:cs typeface="DejaVu Sans"/>
                        </a:rPr>
                        <a:t>Slope</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725" b="1">
                          <a:solidFill>
                            <a:srgbClr val="FFFFFF"/>
                          </a:solidFill>
                          <a:latin typeface="DejaVu Sans"/>
                          <a:ea typeface="DejaVu Sans"/>
                          <a:cs typeface="DejaVu Sans"/>
                        </a:rPr>
                        <a:t>95% calendar-HAC interval</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428625">
                <a:tc>
                  <a:txBody>
                    <a:bodyPr/>
                    <a:lstStyle/>
                    <a:p>
                      <a:r>
                        <a:rPr sz="1725" b="0">
                          <a:solidFill>
                            <a:srgbClr val="142B42"/>
                          </a:solidFill>
                          <a:latin typeface="DejaVu Sans"/>
                          <a:ea typeface="DejaVu Sans"/>
                          <a:cs typeface="DejaVu Sans"/>
                        </a:rPr>
                        <a:t>Unemployment / 1 pp</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-3.89</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-6.78 to -1.00</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PCE inflation / 1 pp</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-12.89</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-18.95 to -6.84</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GDP growth / 1 pp</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-0.02</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-0.10 to 0.06</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36-month PCE prices / 1 pp</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-0.50</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-1.61 to 0.61</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Real-income growth / 1 pp</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1.81</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-0.16 to 3.77</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Presidency era</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9.45</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5.44 to 13.46</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Web-survey era</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-6.05</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-10.97 to -1.13</a:t>
                      </a:r>
                    </a:p>
                  </a:txBody>
                  <a:tcPr marL="91440" marR="91440" marT="45720" marB="45720">
                    <a:lnR w="6668">
                      <a:solidFill>
                        <a:srgbClr val="DCE6EB"/>
                      </a:solidFill>
                      <a:prstDash val="solid"/>
                    </a:lnR>
                    <a:lnB w="6668">
                      <a:solidFill>
                        <a:srgbClr val="DCE6EB"/>
                      </a:solidFill>
                      <a:prstDash val="solid"/>
                    </a:lnB>
                    <a:solidFill>
                      <a:srgbClr val="FFFFFF"/>
                    </a:solidFill>
                  </a:tcPr>
                </a:tc>
              </a:tr>
              <a:tr h="428625">
                <a:tc>
                  <a:txBody>
                    <a:bodyPr/>
                    <a:lstStyle/>
                    <a:p>
                      <a:r>
                        <a:rPr sz="1725" b="0">
                          <a:solidFill>
                            <a:srgbClr val="142B42"/>
                          </a:solidFill>
                          <a:latin typeface="DejaVu Sans"/>
                          <a:ea typeface="DejaVu Sans"/>
                          <a:cs typeface="DejaVu Sans"/>
                        </a:rPr>
                        <a:t>automated tone / full index unit</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5.22</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725" b="0">
                          <a:solidFill>
                            <a:srgbClr val="142B42"/>
                          </a:solidFill>
                          <a:latin typeface="DejaVu Sans"/>
                          <a:ea typeface="DejaVu Sans"/>
                          <a:cs typeface="DejaVu Sans"/>
                        </a:rPr>
                        <a:t>-1.90 to 12.35</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source and scope">
            <a:extLst xmlns:a="http://schemas.openxmlformats.org/drawingml/2006/main">
              <a:ext uri="{FF2B5EF4-FFF2-40B4-BE49-F238E27FC236}">
                <a16:creationId xmlns:a16="http://schemas.microsoft.com/office/drawing/2014/main" id="{C64CBCDC-5953-40E9-9A38-454CC0072825}"/>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45 observations, 9 parameters including intercept. VIF: U3 16.61, income 14.59. Era slopes are not identified causal effects.</a:t>
            </a:r>
          </a:p>
        </p:txBody>
      </p:sp>
    </p:spTree>
    <p:extLst>
      <p:ext uri="{BB962C8B-B14F-4D97-AF65-F5344CB8AC3E}">
        <p14:creationId xmlns:p14="http://schemas.microsoft.com/office/powerpoint/2010/main" val="15010647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62F669B8-4973-40D8-B165-DBF5E5A3D202}"/>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F / ROBUSTNESS</a:t>
            </a:r>
          </a:p>
        </p:txBody>
      </p:sp>
      <p:sp>
        <p:nvSpPr>
          <p:cNvPr id="2" name="title">
            <a:extLst xmlns:a="http://schemas.openxmlformats.org/drawingml/2006/main">
              <a:ext uri="{FF2B5EF4-FFF2-40B4-BE49-F238E27FC236}">
                <a16:creationId xmlns:a16="http://schemas.microsoft.com/office/drawing/2014/main" id="{7B5F3736-7351-4D3B-9FCB-6766FF377EE3}"/>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Robustness and contrary evidence</a:t>
            </a:r>
          </a:p>
        </p:txBody>
      </p:sp>
      <p:sp>
        <p:nvSpPr>
          <p:cNvPr id="3" name="page">
            <a:extLst xmlns:a="http://schemas.openxmlformats.org/drawingml/2006/main">
              <a:ext uri="{FF2B5EF4-FFF2-40B4-BE49-F238E27FC236}">
                <a16:creationId xmlns:a16="http://schemas.microsoft.com/office/drawing/2014/main" id="{BDC05D63-60DC-4EEA-93ED-0E16A5D230D5}"/>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14</a:t>
            </a:r>
          </a:p>
        </p:txBody>
      </p:sp>
      <p:graphicFrame>
        <p:nvGraphicFramePr>
          <p:cNvPr id="4" name="">
            <a:extLst xmlns:a="http://schemas.openxmlformats.org/drawingml/2006/main">
              <a:ext uri="{FF2B5EF4-FFF2-40B4-BE49-F238E27FC236}">
                <a16:creationId xmlns:a16="http://schemas.microsoft.com/office/drawing/2014/main" id="{548F85F2-2479-4DFD-8BC4-C4CCB14C4E88}"/>
              </a:ext>
            </a:extLst>
          </p:cNvPr>
          <p:cNvGraphicFramePr/>
          <p:nvPr/>
        </p:nvGraphicFramePr>
        <p:xfrm>
          <a:off xmlns:a="http://schemas.openxmlformats.org/drawingml/2006/main" x="666750" y="1714500"/>
          <a:ext xmlns:a="http://schemas.openxmlformats.org/drawingml/2006/main" cx="10763250" cy="3667125"/>
        </p:xfrm>
        <a:graphic xmlns:a="http://schemas.openxmlformats.org/drawingml/2006/main">
          <a:graphicData uri="http://schemas.openxmlformats.org/drawingml/2006/table">
            <a:tbl>
              <a:tblPr/>
              <a:tblGrid>
                <a:gridCol w="6000750"/>
                <a:gridCol w="2381250"/>
                <a:gridCol w="2381250"/>
              </a:tblGrid>
              <a:tr h="523875">
                <a:tc>
                  <a:txBody>
                    <a:bodyPr/>
                    <a:lstStyle/>
                    <a:p>
                      <a:r>
                        <a:rPr sz="1800" b="1">
                          <a:solidFill>
                            <a:srgbClr val="FFFFFF"/>
                          </a:solidFill>
                          <a:latin typeface="DejaVu Sans"/>
                          <a:ea typeface="DejaVu Sans"/>
                          <a:cs typeface="DejaVu Sans"/>
                        </a:rPr>
                        <a:t>Dynamic comparison</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Controls RMSE</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With measure</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23875">
                <a:tc>
                  <a:txBody>
                    <a:bodyPr/>
                    <a:lstStyle/>
                    <a:p>
                      <a:r>
                        <a:rPr sz="1800" b="0">
                          <a:solidFill>
                            <a:srgbClr val="142B42"/>
                          </a:solidFill>
                          <a:latin typeface="DejaVu Sans"/>
                          <a:ea typeface="DejaVu Sans"/>
                          <a:cs typeface="DejaVu Sans"/>
                        </a:rPr>
                        <a:t>Primary automated tone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4.32</a:t>
                      </a:r>
                    </a:p>
                  </a:txBody>
                  <a:tcPr marL="91440" marR="91440" marT="45720" marB="45720">
                    <a:lnR w="6668">
                      <a:solidFill>
                        <a:srgbClr val="DCE6EB"/>
                      </a:solidFill>
                      <a:prstDash val="solid"/>
                    </a:lnR>
                    <a:lnB w="6668">
                      <a:solidFill>
                        <a:srgbClr val="DCE6EB"/>
                      </a:solidFill>
                      <a:prstDash val="solid"/>
                    </a:lnB>
                    <a:solidFill>
                      <a:srgbClr val="FFFFFF"/>
                    </a:solidFill>
                  </a:tcPr>
                </a:tc>
              </a:tr>
              <a:tr h="523875">
                <a:tc>
                  <a:txBody>
                    <a:bodyPr/>
                    <a:lstStyle/>
                    <a:p>
                      <a:r>
                        <a:rPr sz="1800" b="0">
                          <a:solidFill>
                            <a:srgbClr val="142B42"/>
                          </a:solidFill>
                          <a:latin typeface="DejaVu Sans"/>
                          <a:ea typeface="DejaVu Sans"/>
                          <a:cs typeface="DejaVu Sans"/>
                        </a:rPr>
                        <a:t>Simple dictionary</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3.55</a:t>
                      </a:r>
                    </a:p>
                  </a:txBody>
                  <a:tcPr marL="91440" marR="91440" marT="45720" marB="45720">
                    <a:lnR w="6668">
                      <a:solidFill>
                        <a:srgbClr val="DCE6EB"/>
                      </a:solidFill>
                      <a:prstDash val="solid"/>
                    </a:lnR>
                    <a:lnB w="6668">
                      <a:solidFill>
                        <a:srgbClr val="DCE6EB"/>
                      </a:solidFill>
                      <a:prstDash val="solid"/>
                    </a:lnB>
                    <a:solidFill>
                      <a:srgbClr val="FFFFFF"/>
                    </a:solidFill>
                  </a:tcPr>
                </a:tc>
              </a:tr>
              <a:tr h="523875">
                <a:tc>
                  <a:txBody>
                    <a:bodyPr/>
                    <a:lstStyle/>
                    <a:p>
                      <a:r>
                        <a:rPr sz="1800" b="0">
                          <a:solidFill>
                            <a:srgbClr val="142B42"/>
                          </a:solidFill>
                          <a:latin typeface="DejaVu Sans"/>
                          <a:ea typeface="DejaVu Sans"/>
                          <a:cs typeface="DejaVu Sans"/>
                        </a:rPr>
                        <a:t>Raw semantic score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4.64</a:t>
                      </a:r>
                    </a:p>
                  </a:txBody>
                  <a:tcPr marL="91440" marR="91440" marT="45720" marB="45720">
                    <a:lnR w="6668">
                      <a:solidFill>
                        <a:srgbClr val="DCE6EB"/>
                      </a:solidFill>
                      <a:prstDash val="solid"/>
                    </a:lnR>
                    <a:lnB w="6668">
                      <a:solidFill>
                        <a:srgbClr val="DCE6EB"/>
                      </a:solidFill>
                      <a:prstDash val="solid"/>
                    </a:lnB>
                    <a:solidFill>
                      <a:srgbClr val="FFFFFF"/>
                    </a:solidFill>
                  </a:tcPr>
                </a:tc>
              </a:tr>
              <a:tr h="523875">
                <a:tc>
                  <a:txBody>
                    <a:bodyPr/>
                    <a:lstStyle/>
                    <a:p>
                      <a:r>
                        <a:rPr sz="1800" b="0">
                          <a:solidFill>
                            <a:srgbClr val="142B42"/>
                          </a:solidFill>
                          <a:latin typeface="DejaVu Sans"/>
                          <a:ea typeface="DejaVu Sans"/>
                          <a:cs typeface="DejaVu Sans"/>
                        </a:rPr>
                        <a:t>Without NPR</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4.21</a:t>
                      </a:r>
                    </a:p>
                  </a:txBody>
                  <a:tcPr marL="91440" marR="91440" marT="45720" marB="45720">
                    <a:lnR w="6668">
                      <a:solidFill>
                        <a:srgbClr val="DCE6EB"/>
                      </a:solidFill>
                      <a:prstDash val="solid"/>
                    </a:lnR>
                    <a:lnB w="6668">
                      <a:solidFill>
                        <a:srgbClr val="DCE6EB"/>
                      </a:solidFill>
                      <a:prstDash val="solid"/>
                    </a:lnB>
                    <a:solidFill>
                      <a:srgbClr val="FFFFFF"/>
                    </a:solidFill>
                  </a:tcPr>
                </a:tc>
              </a:tr>
              <a:tr h="523875">
                <a:tc>
                  <a:txBody>
                    <a:bodyPr/>
                    <a:lstStyle/>
                    <a:p>
                      <a:r>
                        <a:rPr sz="1800" b="0">
                          <a:solidFill>
                            <a:srgbClr val="142B42"/>
                          </a:solidFill>
                          <a:latin typeface="DejaVu Sans"/>
                          <a:ea typeface="DejaVu Sans"/>
                          <a:cs typeface="DejaVu Sans"/>
                        </a:rPr>
                        <a:t>Without Colorado Sun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4.14</a:t>
                      </a:r>
                    </a:p>
                  </a:txBody>
                  <a:tcPr marL="91440" marR="91440" marT="45720" marB="45720">
                    <a:lnR w="6668">
                      <a:solidFill>
                        <a:srgbClr val="DCE6EB"/>
                      </a:solidFill>
                      <a:prstDash val="solid"/>
                    </a:lnR>
                    <a:lnB w="6668">
                      <a:solidFill>
                        <a:srgbClr val="DCE6EB"/>
                      </a:solidFill>
                      <a:prstDash val="solid"/>
                    </a:lnB>
                    <a:solidFill>
                      <a:srgbClr val="FFFFFF"/>
                    </a:solidFill>
                  </a:tcPr>
                </a:tc>
              </a:tr>
              <a:tr h="523875">
                <a:tc>
                  <a:txBody>
                    <a:bodyPr/>
                    <a:lstStyle/>
                    <a:p>
                      <a:r>
                        <a:rPr sz="1800" b="0">
                          <a:solidFill>
                            <a:srgbClr val="142B42"/>
                          </a:solidFill>
                          <a:latin typeface="DejaVu Sans"/>
                          <a:ea typeface="DejaVu Sans"/>
                          <a:cs typeface="DejaVu Sans"/>
                        </a:rPr>
                        <a:t>Without Hacker News</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3.98</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4.11</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source and scope">
            <a:extLst xmlns:a="http://schemas.openxmlformats.org/drawingml/2006/main">
              <a:ext uri="{FF2B5EF4-FFF2-40B4-BE49-F238E27FC236}">
                <a16:creationId xmlns:a16="http://schemas.microsoft.com/office/drawing/2014/main" id="{E54CA51C-E6FE-44CE-9F93-A8979F48883B}"/>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Same 21 dates. The favorable dictionary result stays exploratory. It was not promoted after inspecting outcomes.</a:t>
            </a:r>
          </a:p>
        </p:txBody>
      </p:sp>
    </p:spTree>
    <p:extLst>
      <p:ext uri="{BB962C8B-B14F-4D97-AF65-F5344CB8AC3E}">
        <p14:creationId xmlns:p14="http://schemas.microsoft.com/office/powerpoint/2010/main" val="17733265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1EFE86A-2DD6-4BD1-908B-6B0A8BEEF3CC}"/>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G / SAMPLES AND TIMING</a:t>
            </a:r>
          </a:p>
        </p:txBody>
      </p:sp>
      <p:sp>
        <p:nvSpPr>
          <p:cNvPr id="2" name="title">
            <a:extLst xmlns:a="http://schemas.openxmlformats.org/drawingml/2006/main">
              <a:ext uri="{FF2B5EF4-FFF2-40B4-BE49-F238E27FC236}">
                <a16:creationId xmlns:a16="http://schemas.microsoft.com/office/drawing/2014/main" id="{7FAAAB82-91CF-4C0D-9697-DB17D0D733C1}"/>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Two samples answer different questions</a:t>
            </a:r>
          </a:p>
        </p:txBody>
      </p:sp>
      <p:sp>
        <p:nvSpPr>
          <p:cNvPr id="3" name="page">
            <a:extLst xmlns:a="http://schemas.openxmlformats.org/drawingml/2006/main">
              <a:ext uri="{FF2B5EF4-FFF2-40B4-BE49-F238E27FC236}">
                <a16:creationId xmlns:a16="http://schemas.microsoft.com/office/drawing/2014/main" id="{15D9BE23-5B94-4F48-813A-E97930A0A3C6}"/>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15</a:t>
            </a:r>
          </a:p>
        </p:txBody>
      </p:sp>
      <p:graphicFrame>
        <p:nvGraphicFramePr>
          <p:cNvPr id="4" name="">
            <a:extLst xmlns:a="http://schemas.openxmlformats.org/drawingml/2006/main">
              <a:ext uri="{FF2B5EF4-FFF2-40B4-BE49-F238E27FC236}">
                <a16:creationId xmlns:a16="http://schemas.microsoft.com/office/drawing/2014/main" id="{8B7434B9-9536-4B63-95D2-B16A41167541}"/>
              </a:ext>
            </a:extLst>
          </p:cNvPr>
          <p:cNvGraphicFramePr/>
          <p:nvPr/>
        </p:nvGraphicFramePr>
        <p:xfrm>
          <a:off xmlns:a="http://schemas.openxmlformats.org/drawingml/2006/main" x="666750" y="1857375"/>
          <a:ext xmlns:a="http://schemas.openxmlformats.org/drawingml/2006/main" cx="10763250" cy="2190750"/>
        </p:xfrm>
        <a:graphic xmlns:a="http://schemas.openxmlformats.org/drawingml/2006/main">
          <a:graphicData uri="http://schemas.openxmlformats.org/drawingml/2006/table">
            <a:tbl>
              <a:tblPr/>
              <a:tblGrid>
                <a:gridCol w="3810000"/>
                <a:gridCol w="3476625"/>
                <a:gridCol w="3476625"/>
              </a:tblGrid>
              <a:tr h="730250">
                <a:tc>
                  <a:txBody>
                    <a:bodyPr/>
                    <a:lstStyle/>
                    <a:p>
                      <a:r>
                        <a:rPr sz="1875" b="1">
                          <a:solidFill>
                            <a:srgbClr val="FFFFFF"/>
                          </a:solidFill>
                          <a:latin typeface="DejaVu Sans"/>
                          <a:ea typeface="DejaVu Sans"/>
                          <a:cs typeface="DejaVu Sans"/>
                        </a:rPr>
                        <a:t>Exercise</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75" b="1">
                          <a:solidFill>
                            <a:srgbClr val="FFFFFF"/>
                          </a:solidFill>
                          <a:latin typeface="DejaVu Sans"/>
                          <a:ea typeface="DejaVu Sans"/>
                          <a:cs typeface="DejaVu Sans"/>
                        </a:rPr>
                        <a:t>Training</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75" b="1">
                          <a:solidFill>
                            <a:srgbClr val="FFFFFF"/>
                          </a:solidFill>
                          <a:latin typeface="DejaVu Sans"/>
                          <a:ea typeface="DejaVu Sans"/>
                          <a:cs typeface="DejaVu Sans"/>
                        </a:rPr>
                        <a:t>Evaluation</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730250">
                <a:tc>
                  <a:txBody>
                    <a:bodyPr/>
                    <a:lstStyle/>
                    <a:p>
                      <a:r>
                        <a:rPr sz="1875" b="0">
                          <a:solidFill>
                            <a:srgbClr val="142B42"/>
                          </a:solidFill>
                          <a:latin typeface="DejaVu Sans"/>
                          <a:ea typeface="DejaVu Sans"/>
                          <a:cs typeface="DejaVu Sans"/>
                        </a:rPr>
                        <a:t>Long economic baseline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75" b="0">
                          <a:solidFill>
                            <a:srgbClr val="142B42"/>
                          </a:solidFill>
                          <a:latin typeface="DejaVu Sans"/>
                          <a:ea typeface="DejaVu Sans"/>
                          <a:cs typeface="DejaVu Sans"/>
                        </a:rPr>
                        <a:t>Jan 2010-Dec 2019 / 120 months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75" b="0">
                          <a:solidFill>
                            <a:srgbClr val="142B42"/>
                          </a:solidFill>
                          <a:latin typeface="DejaVu Sans"/>
                          <a:ea typeface="DejaVu Sans"/>
                          <a:cs typeface="DejaVu Sans"/>
                        </a:rPr>
                        <a:t>Jan 2020-Sep 2026 / 81 months</a:t>
                      </a:r>
                    </a:p>
                  </a:txBody>
                  <a:tcPr marL="91440" marR="91440" marT="45720" marB="45720">
                    <a:lnR w="6668">
                      <a:solidFill>
                        <a:srgbClr val="DCE6EB"/>
                      </a:solidFill>
                      <a:prstDash val="solid"/>
                    </a:lnR>
                    <a:lnB w="6668">
                      <a:solidFill>
                        <a:srgbClr val="DCE6EB"/>
                      </a:solidFill>
                      <a:prstDash val="solid"/>
                    </a:lnB>
                    <a:solidFill>
                      <a:srgbClr val="FFFFFF"/>
                    </a:solidFill>
                  </a:tcPr>
                </a:tc>
              </a:tr>
              <a:tr h="730250">
                <a:tc>
                  <a:txBody>
                    <a:bodyPr/>
                    <a:lstStyle/>
                    <a:p>
                      <a:r>
                        <a:rPr sz="1875" b="0">
                          <a:solidFill>
                            <a:srgbClr val="142B42"/>
                          </a:solidFill>
                          <a:latin typeface="DejaVu Sans"/>
                          <a:ea typeface="DejaVu Sans"/>
                          <a:cs typeface="DejaVu Sans"/>
                        </a:rPr>
                        <a:t>Original media experiment</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75" b="0">
                          <a:solidFill>
                            <a:srgbClr val="142B42"/>
                          </a:solidFill>
                          <a:latin typeface="DejaVu Sans"/>
                          <a:ea typeface="DejaVu Sans"/>
                          <a:cs typeface="DejaVu Sans"/>
                        </a:rPr>
                        <a:t>First 24 available aligned months</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75" b="0">
                          <a:solidFill>
                            <a:srgbClr val="142B42"/>
                          </a:solidFill>
                          <a:latin typeface="DejaVu Sans"/>
                          <a:ea typeface="DejaVu Sans"/>
                          <a:cs typeface="DejaVu Sans"/>
                        </a:rPr>
                        <a:t>21 targets / Nov 2024-Sep 2026</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timing">
            <a:extLst xmlns:a="http://schemas.openxmlformats.org/drawingml/2006/main">
              <a:ext uri="{FF2B5EF4-FFF2-40B4-BE49-F238E27FC236}">
                <a16:creationId xmlns:a16="http://schemas.microsoft.com/office/drawing/2014/main" id="{67234760-9806-4B5C-82EB-570B92215DC5}"/>
              </a:ext>
            </a:extLst>
          </p:cNvPr>
          <p:cNvSpPr>
            <a:spLocks xmlns:a="http://schemas.openxmlformats.org/drawingml/2006/main" noGrp="1"/>
          </p:cNvSpPr>
          <p:nvPr/>
        </p:nvSpPr>
        <p:spPr>
          <a:xfrm xmlns:a="http://schemas.openxmlformats.org/drawingml/2006/main">
            <a:off x="762000" y="4476750"/>
            <a:ext cx="10668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025" b="0">
                <a:solidFill>
                  <a:srgbClr val="142B42"/>
                </a:solidFill>
                <a:latin typeface="DejaVu Sans"/>
                <a:ea typeface="DejaVu Sans"/>
                <a:cs typeface="DejaVu Sans"/>
              </a:defRPr>
            </a:defPPr>
            <a:lvl1pPr>
              <a:defRPr sz="2025" b="0">
                <a:solidFill>
                  <a:srgbClr val="142B42"/>
                </a:solidFill>
                <a:latin typeface="DejaVu Sans"/>
                <a:ea typeface="DejaVu Sans"/>
                <a:cs typeface="DejaVu Sans"/>
              </a:defRPr>
            </a:lvl1pPr>
            <a:lvl2pPr>
              <a:defRPr sz="2025" b="0">
                <a:solidFill>
                  <a:srgbClr val="142B42"/>
                </a:solidFill>
                <a:latin typeface="DejaVu Sans"/>
                <a:ea typeface="DejaVu Sans"/>
                <a:cs typeface="DejaVu Sans"/>
              </a:defRPr>
            </a:lvl2pPr>
            <a:lvl3pPr>
              <a:defRPr sz="2025" b="0">
                <a:solidFill>
                  <a:srgbClr val="142B42"/>
                </a:solidFill>
                <a:latin typeface="DejaVu Sans"/>
                <a:ea typeface="DejaVu Sans"/>
                <a:cs typeface="DejaVu Sans"/>
              </a:defRPr>
            </a:lvl3pPr>
            <a:lvl4pPr>
              <a:defRPr sz="2025" b="0">
                <a:solidFill>
                  <a:srgbClr val="142B42"/>
                </a:solidFill>
                <a:latin typeface="DejaVu Sans"/>
                <a:ea typeface="DejaVu Sans"/>
                <a:cs typeface="DejaVu Sans"/>
              </a:defRPr>
            </a:lvl4pPr>
            <a:lvl5pPr>
              <a:defRPr sz="2025" b="0">
                <a:solidFill>
                  <a:srgbClr val="142B42"/>
                </a:solidFill>
                <a:latin typeface="DejaVu Sans"/>
                <a:ea typeface="DejaVu Sans"/>
                <a:cs typeface="DejaVu Sans"/>
              </a:defRPr>
            </a:lvl5pPr>
            <a:lvl6pPr>
              <a:defRPr sz="2025" b="0">
                <a:solidFill>
                  <a:srgbClr val="142B42"/>
                </a:solidFill>
                <a:latin typeface="DejaVu Sans"/>
                <a:ea typeface="DejaVu Sans"/>
                <a:cs typeface="DejaVu Sans"/>
              </a:defRPr>
            </a:lvl6pPr>
            <a:lvl7pPr>
              <a:defRPr sz="2025" b="0">
                <a:solidFill>
                  <a:srgbClr val="142B42"/>
                </a:solidFill>
                <a:latin typeface="DejaVu Sans"/>
                <a:ea typeface="DejaVu Sans"/>
                <a:cs typeface="DejaVu Sans"/>
              </a:defRPr>
            </a:lvl7pPr>
            <a:lvl8pPr>
              <a:defRPr sz="2025" b="0">
                <a:solidFill>
                  <a:srgbClr val="142B42"/>
                </a:solidFill>
                <a:latin typeface="DejaVu Sans"/>
                <a:ea typeface="DejaVu Sans"/>
                <a:cs typeface="DejaVu Sans"/>
              </a:defRPr>
            </a:lvl8pPr>
            <a:lvl9pPr>
              <a:defRPr sz="2025" b="0">
                <a:solidFill>
                  <a:srgbClr val="142B42"/>
                </a:solidFill>
                <a:latin typeface="DejaVu Sans"/>
                <a:ea typeface="DejaVu Sans"/>
                <a:cs typeface="DejaVu Sans"/>
              </a:defRPr>
            </a:lvl9pPr>
          </a:lstStyle>
          <a:p xmlns:a="http://schemas.openxmlformats.org/drawingml/2006/main">
            <a:pPr>
              <a:defRPr sz="2025" b="0">
                <a:solidFill>
                  <a:srgbClr val="142B42"/>
                </a:solidFill>
                <a:latin typeface="DejaVu Sans"/>
                <a:ea typeface="DejaVu Sans"/>
                <a:cs typeface="DejaVu Sans"/>
              </a:defRPr>
            </a:pPr>
            <a:r>
              <a:rPr sz="2025" b="0">
                <a:solidFill>
                  <a:srgbClr val="142B42"/>
                </a:solidFill>
                <a:latin typeface="DejaVu Sans"/>
                <a:ea typeface="DejaVu Sans"/>
                <a:cs typeface="DejaVu Sans"/>
              </a:rPr>
              <a:t>First-day origins. Media from two calendar months earlier.</a:t>
            </a:r>
          </a:p>
          <a:p xmlns:a="http://schemas.openxmlformats.org/drawingml/2006/main">
            <a:pPr>
              <a:defRPr sz="2025" b="0">
                <a:solidFill>
                  <a:srgbClr val="142B42"/>
                </a:solidFill>
                <a:latin typeface="DejaVu Sans"/>
                <a:ea typeface="DejaVu Sans"/>
                <a:cs typeface="DejaVu Sans"/>
              </a:defRPr>
            </a:pPr>
            <a:r>
              <a:rPr sz="2025" b="0">
                <a:solidFill>
                  <a:srgbClr val="142B42"/>
                </a:solidFill>
                <a:latin typeface="DejaVu Sans"/>
                <a:ea typeface="DejaVu Sans"/>
                <a:cs typeface="DejaVu Sans"/>
              </a:rPr>
              <a:t>Monthly macro buffer: 45 days. GDP buffer: 35 days.</a:t>
            </a:r>
          </a:p>
          <a:p xmlns:a="http://schemas.openxmlformats.org/drawingml/2006/main">
            <a:pPr>
              <a:defRPr sz="2025" b="0">
                <a:solidFill>
                  <a:srgbClr val="142B42"/>
                </a:solidFill>
                <a:latin typeface="DejaVu Sans"/>
                <a:ea typeface="DejaVu Sans"/>
                <a:cs typeface="DejaVu Sans"/>
              </a:defRPr>
            </a:pPr>
            <a:r>
              <a:rPr sz="2025" b="0">
                <a:solidFill>
                  <a:srgbClr val="142B42"/>
                </a:solidFill>
                <a:latin typeface="DejaVu Sans"/>
                <a:ea typeface="DejaVu Sans"/>
                <a:cs typeface="DejaVu Sans"/>
              </a:rPr>
              <a:t>November 2025 and July 2026 lack admissible balanced media.</a:t>
            </a:r>
          </a:p>
        </p:txBody>
      </p:sp>
      <p:sp>
        <p:nvSpPr>
          <p:cNvPr id="6" name="source and scope">
            <a:extLst xmlns:a="http://schemas.openxmlformats.org/drawingml/2006/main">
              <a:ext uri="{FF2B5EF4-FFF2-40B4-BE49-F238E27FC236}">
                <a16:creationId xmlns:a16="http://schemas.microsoft.com/office/drawing/2014/main" id="{74C401CF-D5B5-471F-98FB-7409EF946D30}"/>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Buffers do not reconstruct historical vintages. October 2026 remains preliminary and excluded from scoring.</a:t>
            </a:r>
          </a:p>
        </p:txBody>
      </p:sp>
    </p:spTree>
    <p:extLst>
      <p:ext uri="{BB962C8B-B14F-4D97-AF65-F5344CB8AC3E}">
        <p14:creationId xmlns:p14="http://schemas.microsoft.com/office/powerpoint/2010/main" val="160303330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B8A9F454-07AA-4C4F-9E19-EF256F876F5C}"/>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H / CLASSIFIER EVALUATION</a:t>
            </a:r>
          </a:p>
        </p:txBody>
      </p:sp>
      <p:sp>
        <p:nvSpPr>
          <p:cNvPr id="2" name="title">
            <a:extLst xmlns:a="http://schemas.openxmlformats.org/drawingml/2006/main">
              <a:ext uri="{FF2B5EF4-FFF2-40B4-BE49-F238E27FC236}">
                <a16:creationId xmlns:a16="http://schemas.microsoft.com/office/drawing/2014/main" id="{931EC4FC-3EDC-4B9E-9747-D422826B3E2D}"/>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Classifier performance by class and source</a:t>
            </a:r>
          </a:p>
        </p:txBody>
      </p:sp>
      <p:sp>
        <p:nvSpPr>
          <p:cNvPr id="3" name="page">
            <a:extLst xmlns:a="http://schemas.openxmlformats.org/drawingml/2006/main">
              <a:ext uri="{FF2B5EF4-FFF2-40B4-BE49-F238E27FC236}">
                <a16:creationId xmlns:a16="http://schemas.microsoft.com/office/drawing/2014/main" id="{DE1E2430-0351-4124-B82A-B26BD594CF84}"/>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16</a:t>
            </a:r>
          </a:p>
        </p:txBody>
      </p:sp>
      <p:graphicFrame>
        <p:nvGraphicFramePr>
          <p:cNvPr id="4" name="">
            <a:extLst xmlns:a="http://schemas.openxmlformats.org/drawingml/2006/main">
              <a:ext uri="{FF2B5EF4-FFF2-40B4-BE49-F238E27FC236}">
                <a16:creationId xmlns:a16="http://schemas.microsoft.com/office/drawing/2014/main" id="{7E8E697B-D719-4272-91BB-DC8654DEFCBC}"/>
              </a:ext>
            </a:extLst>
          </p:cNvPr>
          <p:cNvGraphicFramePr/>
          <p:nvPr/>
        </p:nvGraphicFramePr>
        <p:xfrm>
          <a:off xmlns:a="http://schemas.openxmlformats.org/drawingml/2006/main" x="666750" y="1809750"/>
          <a:ext xmlns:a="http://schemas.openxmlformats.org/drawingml/2006/main" cx="6858000" cy="2190750"/>
        </p:xfrm>
        <a:graphic xmlns:a="http://schemas.openxmlformats.org/drawingml/2006/main">
          <a:graphicData uri="http://schemas.openxmlformats.org/drawingml/2006/table">
            <a:tbl>
              <a:tblPr/>
              <a:tblGrid>
                <a:gridCol w="2571750"/>
                <a:gridCol w="1428750"/>
                <a:gridCol w="1428750"/>
                <a:gridCol w="1428750"/>
              </a:tblGrid>
              <a:tr h="547688">
                <a:tc>
                  <a:txBody>
                    <a:bodyPr/>
                    <a:lstStyle/>
                    <a:p>
                      <a:r>
                        <a:rPr sz="1800" b="1">
                          <a:solidFill>
                            <a:srgbClr val="FFFFFF"/>
                          </a:solidFill>
                          <a:latin typeface="DejaVu Sans"/>
                          <a:ea typeface="DejaVu Sans"/>
                          <a:cs typeface="DejaVu Sans"/>
                        </a:rPr>
                        <a:t>Reference class</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Precision</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Recall</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F1</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47688">
                <a:tc>
                  <a:txBody>
                    <a:bodyPr/>
                    <a:lstStyle/>
                    <a:p>
                      <a:r>
                        <a:rPr sz="1800" b="0">
                          <a:solidFill>
                            <a:srgbClr val="142B42"/>
                          </a:solidFill>
                          <a:latin typeface="DejaVu Sans"/>
                          <a:ea typeface="DejaVu Sans"/>
                          <a:cs typeface="DejaVu Sans"/>
                        </a:rPr>
                        <a:t>Adverse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0.54</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0.69</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0.61</a:t>
                      </a:r>
                    </a:p>
                  </a:txBody>
                  <a:tcPr marL="91440" marR="91440" marT="45720" marB="45720">
                    <a:lnR w="6668">
                      <a:solidFill>
                        <a:srgbClr val="DCE6EB"/>
                      </a:solidFill>
                      <a:prstDash val="solid"/>
                    </a:lnR>
                    <a:lnB w="6668">
                      <a:solidFill>
                        <a:srgbClr val="DCE6EB"/>
                      </a:solidFill>
                      <a:prstDash val="solid"/>
                    </a:lnB>
                    <a:solidFill>
                      <a:srgbClr val="FFFFFF"/>
                    </a:solidFill>
                  </a:tcPr>
                </a:tc>
              </a:tr>
              <a:tr h="547688">
                <a:tc>
                  <a:txBody>
                    <a:bodyPr/>
                    <a:lstStyle/>
                    <a:p>
                      <a:r>
                        <a:rPr sz="1800" b="0">
                          <a:solidFill>
                            <a:srgbClr val="142B42"/>
                          </a:solidFill>
                          <a:latin typeface="DejaVu Sans"/>
                          <a:ea typeface="DejaVu Sans"/>
                          <a:cs typeface="DejaVu Sans"/>
                        </a:rPr>
                        <a:t>Mixed / neutral</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0.51</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0.51</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0.51</a:t>
                      </a:r>
                    </a:p>
                  </a:txBody>
                  <a:tcPr marL="91440" marR="91440" marT="45720" marB="45720">
                    <a:lnR w="6668">
                      <a:solidFill>
                        <a:srgbClr val="DCE6EB"/>
                      </a:solidFill>
                      <a:prstDash val="solid"/>
                    </a:lnR>
                    <a:lnB w="6668">
                      <a:solidFill>
                        <a:srgbClr val="DCE6EB"/>
                      </a:solidFill>
                      <a:prstDash val="solid"/>
                    </a:lnB>
                    <a:solidFill>
                      <a:srgbClr val="FFFFFF"/>
                    </a:solidFill>
                  </a:tcPr>
                </a:tc>
              </a:tr>
              <a:tr h="547688">
                <a:tc>
                  <a:txBody>
                    <a:bodyPr/>
                    <a:lstStyle/>
                    <a:p>
                      <a:r>
                        <a:rPr sz="1800" b="0">
                          <a:solidFill>
                            <a:srgbClr val="142B42"/>
                          </a:solidFill>
                          <a:latin typeface="DejaVu Sans"/>
                          <a:ea typeface="DejaVu Sans"/>
                          <a:cs typeface="DejaVu Sans"/>
                        </a:rPr>
                        <a:t>Favorable</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0.60</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0.26</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0.37</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CA8AEA78-923C-40CF-B440-8497C5326A19}"/>
              </a:ext>
            </a:extLst>
          </p:cNvPr>
          <p:cNvGraphicFramePr/>
          <p:nvPr/>
        </p:nvGraphicFramePr>
        <p:xfrm>
          <a:off xmlns:a="http://schemas.openxmlformats.org/drawingml/2006/main" x="7667625" y="1809750"/>
          <a:ext xmlns:a="http://schemas.openxmlformats.org/drawingml/2006/main" cx="4095750" cy="2190750"/>
        </p:xfrm>
        <a:graphic xmlns:a="http://schemas.openxmlformats.org/drawingml/2006/main">
          <a:graphicData uri="http://schemas.openxmlformats.org/drawingml/2006/table">
            <a:tbl>
              <a:tblPr/>
              <a:tblGrid>
                <a:gridCol w="2476500"/>
                <a:gridCol w="1619250"/>
              </a:tblGrid>
              <a:tr h="547688">
                <a:tc>
                  <a:txBody>
                    <a:bodyPr/>
                    <a:lstStyle/>
                    <a:p>
                      <a:r>
                        <a:rPr sz="1800" b="1">
                          <a:solidFill>
                            <a:srgbClr val="FFFFFF"/>
                          </a:solidFill>
                          <a:latin typeface="DejaVu Sans"/>
                          <a:ea typeface="DejaVu Sans"/>
                          <a:cs typeface="DejaVu Sans"/>
                        </a:rPr>
                        <a:t>Source / n=100</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800" b="1">
                          <a:solidFill>
                            <a:srgbClr val="FFFFFF"/>
                          </a:solidFill>
                          <a:latin typeface="DejaVu Sans"/>
                          <a:ea typeface="DejaVu Sans"/>
                          <a:cs typeface="DejaVu Sans"/>
                        </a:rPr>
                        <a:t>Agreement</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47688">
                <a:tc>
                  <a:txBody>
                    <a:bodyPr/>
                    <a:lstStyle/>
                    <a:p>
                      <a:r>
                        <a:rPr sz="1800" b="0">
                          <a:solidFill>
                            <a:srgbClr val="142B42"/>
                          </a:solidFill>
                          <a:latin typeface="DejaVu Sans"/>
                          <a:ea typeface="DejaVu Sans"/>
                          <a:cs typeface="DejaVu Sans"/>
                        </a:rPr>
                        <a:t>Colorado Sun</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50%</a:t>
                      </a:r>
                    </a:p>
                  </a:txBody>
                  <a:tcPr marL="91440" marR="91440" marT="45720" marB="45720">
                    <a:lnR w="6668">
                      <a:solidFill>
                        <a:srgbClr val="DCE6EB"/>
                      </a:solidFill>
                      <a:prstDash val="solid"/>
                    </a:lnR>
                    <a:lnB w="6668">
                      <a:solidFill>
                        <a:srgbClr val="DCE6EB"/>
                      </a:solidFill>
                      <a:prstDash val="solid"/>
                    </a:lnB>
                    <a:solidFill>
                      <a:srgbClr val="FFFFFF"/>
                    </a:solidFill>
                  </a:tcPr>
                </a:tc>
              </a:tr>
              <a:tr h="547688">
                <a:tc>
                  <a:txBody>
                    <a:bodyPr/>
                    <a:lstStyle/>
                    <a:p>
                      <a:r>
                        <a:rPr sz="1800" b="0">
                          <a:solidFill>
                            <a:srgbClr val="142B42"/>
                          </a:solidFill>
                          <a:latin typeface="DejaVu Sans"/>
                          <a:ea typeface="DejaVu Sans"/>
                          <a:cs typeface="DejaVu Sans"/>
                        </a:rPr>
                        <a:t>Hacker News</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62%</a:t>
                      </a:r>
                    </a:p>
                  </a:txBody>
                  <a:tcPr marL="91440" marR="91440" marT="45720" marB="45720">
                    <a:lnR w="6668">
                      <a:solidFill>
                        <a:srgbClr val="DCE6EB"/>
                      </a:solidFill>
                      <a:prstDash val="solid"/>
                    </a:lnR>
                    <a:lnB w="6668">
                      <a:solidFill>
                        <a:srgbClr val="DCE6EB"/>
                      </a:solidFill>
                      <a:prstDash val="solid"/>
                    </a:lnB>
                    <a:solidFill>
                      <a:srgbClr val="FFFFFF"/>
                    </a:solidFill>
                  </a:tcPr>
                </a:tc>
              </a:tr>
              <a:tr h="547688">
                <a:tc>
                  <a:txBody>
                    <a:bodyPr/>
                    <a:lstStyle/>
                    <a:p>
                      <a:r>
                        <a:rPr sz="1800" b="0">
                          <a:solidFill>
                            <a:srgbClr val="142B42"/>
                          </a:solidFill>
                          <a:latin typeface="DejaVu Sans"/>
                          <a:ea typeface="DejaVu Sans"/>
                          <a:cs typeface="DejaVu Sans"/>
                        </a:rPr>
                        <a:t>NPR</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800" b="0">
                          <a:solidFill>
                            <a:srgbClr val="142B42"/>
                          </a:solidFill>
                          <a:latin typeface="DejaVu Sans"/>
                          <a:ea typeface="DejaVu Sans"/>
                          <a:cs typeface="DejaVu Sans"/>
                        </a:rPr>
                        <a:t>48%</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6" name="other models">
            <a:extLst xmlns:a="http://schemas.openxmlformats.org/drawingml/2006/main">
              <a:ext uri="{FF2B5EF4-FFF2-40B4-BE49-F238E27FC236}">
                <a16:creationId xmlns:a16="http://schemas.microsoft.com/office/drawing/2014/main" id="{D00C5D5F-F453-4471-A6AB-D996738915DE}"/>
              </a:ext>
            </a:extLst>
          </p:cNvPr>
          <p:cNvSpPr>
            <a:spLocks xmlns:a="http://schemas.openxmlformats.org/drawingml/2006/main" noGrp="1"/>
          </p:cNvSpPr>
          <p:nvPr/>
        </p:nvSpPr>
        <p:spPr>
          <a:xfrm xmlns:a="http://schemas.openxmlformats.org/drawingml/2006/main">
            <a:off x="762000" y="4657725"/>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42B42"/>
                </a:solidFill>
                <a:latin typeface="DejaVu Sans"/>
                <a:ea typeface="DejaVu Sans"/>
                <a:cs typeface="DejaVu Sans"/>
              </a:defRPr>
            </a:defPPr>
            <a:lvl1pPr>
              <a:defRPr sz="1950" b="0">
                <a:solidFill>
                  <a:srgbClr val="142B42"/>
                </a:solidFill>
                <a:latin typeface="DejaVu Sans"/>
                <a:ea typeface="DejaVu Sans"/>
                <a:cs typeface="DejaVu Sans"/>
              </a:defRPr>
            </a:lvl1pPr>
            <a:lvl2pPr>
              <a:defRPr sz="1950" b="0">
                <a:solidFill>
                  <a:srgbClr val="142B42"/>
                </a:solidFill>
                <a:latin typeface="DejaVu Sans"/>
                <a:ea typeface="DejaVu Sans"/>
                <a:cs typeface="DejaVu Sans"/>
              </a:defRPr>
            </a:lvl2pPr>
            <a:lvl3pPr>
              <a:defRPr sz="1950" b="0">
                <a:solidFill>
                  <a:srgbClr val="142B42"/>
                </a:solidFill>
                <a:latin typeface="DejaVu Sans"/>
                <a:ea typeface="DejaVu Sans"/>
                <a:cs typeface="DejaVu Sans"/>
              </a:defRPr>
            </a:lvl3pPr>
            <a:lvl4pPr>
              <a:defRPr sz="1950" b="0">
                <a:solidFill>
                  <a:srgbClr val="142B42"/>
                </a:solidFill>
                <a:latin typeface="DejaVu Sans"/>
                <a:ea typeface="DejaVu Sans"/>
                <a:cs typeface="DejaVu Sans"/>
              </a:defRPr>
            </a:lvl4pPr>
            <a:lvl5pPr>
              <a:defRPr sz="1950" b="0">
                <a:solidFill>
                  <a:srgbClr val="142B42"/>
                </a:solidFill>
                <a:latin typeface="DejaVu Sans"/>
                <a:ea typeface="DejaVu Sans"/>
                <a:cs typeface="DejaVu Sans"/>
              </a:defRPr>
            </a:lvl5pPr>
            <a:lvl6pPr>
              <a:defRPr sz="1950" b="0">
                <a:solidFill>
                  <a:srgbClr val="142B42"/>
                </a:solidFill>
                <a:latin typeface="DejaVu Sans"/>
                <a:ea typeface="DejaVu Sans"/>
                <a:cs typeface="DejaVu Sans"/>
              </a:defRPr>
            </a:lvl6pPr>
            <a:lvl7pPr>
              <a:defRPr sz="1950" b="0">
                <a:solidFill>
                  <a:srgbClr val="142B42"/>
                </a:solidFill>
                <a:latin typeface="DejaVu Sans"/>
                <a:ea typeface="DejaVu Sans"/>
                <a:cs typeface="DejaVu Sans"/>
              </a:defRPr>
            </a:lvl7pPr>
            <a:lvl8pPr>
              <a:defRPr sz="1950" b="0">
                <a:solidFill>
                  <a:srgbClr val="142B42"/>
                </a:solidFill>
                <a:latin typeface="DejaVu Sans"/>
                <a:ea typeface="DejaVu Sans"/>
                <a:cs typeface="DejaVu Sans"/>
              </a:defRPr>
            </a:lvl8pPr>
            <a:lvl9pPr>
              <a:defRPr sz="1950" b="0">
                <a:solidFill>
                  <a:srgbClr val="142B42"/>
                </a:solidFill>
                <a:latin typeface="DejaVu Sans"/>
                <a:ea typeface="DejaVu Sans"/>
                <a:cs typeface="DejaVu Sans"/>
              </a:defRPr>
            </a:lvl9pPr>
          </a:lstStyle>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FinBERT: 47.7% on original 300 automated references</a:t>
            </a:r>
          </a:p>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Primary repeated coding: 147/150 agree, a consistency check</a:t>
            </a:r>
          </a:p>
        </p:txBody>
      </p:sp>
      <p:sp>
        <p:nvSpPr>
          <p:cNvPr id="7" name="source and scope">
            <a:extLst xmlns:a="http://schemas.openxmlformats.org/drawingml/2006/main">
              <a:ext uri="{FF2B5EF4-FFF2-40B4-BE49-F238E27FC236}">
                <a16:creationId xmlns:a16="http://schemas.microsoft.com/office/drawing/2014/main" id="{933D7E3E-2989-4150-9F55-738B4446F874}"/>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Hybrid new-300 transfer: macro-F1 0.494. Automated reference labels for all class/source metrics. Independent accuracy unverified.</a:t>
            </a:r>
          </a:p>
        </p:txBody>
      </p:sp>
    </p:spTree>
    <p:extLst>
      <p:ext uri="{BB962C8B-B14F-4D97-AF65-F5344CB8AC3E}">
        <p14:creationId xmlns:p14="http://schemas.microsoft.com/office/powerpoint/2010/main" val="89958556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95BC97B-B780-43C5-BAA8-203330B6C090}"/>
              </a:ext>
            </a:extLst>
          </p:cNvPr>
          <p:cNvSpPr>
            <a:spLocks xmlns:a="http://schemas.openxmlformats.org/drawingml/2006/main" noGrp="1"/>
          </p:cNvSpPr>
          <p:nvPr/>
        </p:nvSpPr>
        <p:spPr>
          <a:xfrm xmlns:a="http://schemas.openxmlformats.org/drawingml/2006/main">
            <a:off x="628650" y="33337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1">
                <a:solidFill>
                  <a:srgbClr val="007F78"/>
                </a:solidFill>
                <a:latin typeface="DejaVu Sans"/>
                <a:ea typeface="DejaVu Sans"/>
                <a:cs typeface="DejaVu Sans"/>
              </a:defRPr>
            </a:defPPr>
            <a:lvl1pPr>
              <a:defRPr sz="1200" b="1">
                <a:solidFill>
                  <a:srgbClr val="007F78"/>
                </a:solidFill>
                <a:latin typeface="DejaVu Sans"/>
                <a:ea typeface="DejaVu Sans"/>
                <a:cs typeface="DejaVu Sans"/>
              </a:defRPr>
            </a:lvl1pPr>
            <a:lvl2pPr>
              <a:defRPr sz="1200" b="1">
                <a:solidFill>
                  <a:srgbClr val="007F78"/>
                </a:solidFill>
                <a:latin typeface="DejaVu Sans"/>
                <a:ea typeface="DejaVu Sans"/>
                <a:cs typeface="DejaVu Sans"/>
              </a:defRPr>
            </a:lvl2pPr>
            <a:lvl3pPr>
              <a:defRPr sz="1200" b="1">
                <a:solidFill>
                  <a:srgbClr val="007F78"/>
                </a:solidFill>
                <a:latin typeface="DejaVu Sans"/>
                <a:ea typeface="DejaVu Sans"/>
                <a:cs typeface="DejaVu Sans"/>
              </a:defRPr>
            </a:lvl3pPr>
            <a:lvl4pPr>
              <a:defRPr sz="1200" b="1">
                <a:solidFill>
                  <a:srgbClr val="007F78"/>
                </a:solidFill>
                <a:latin typeface="DejaVu Sans"/>
                <a:ea typeface="DejaVu Sans"/>
                <a:cs typeface="DejaVu Sans"/>
              </a:defRPr>
            </a:lvl4pPr>
            <a:lvl5pPr>
              <a:defRPr sz="1200" b="1">
                <a:solidFill>
                  <a:srgbClr val="007F78"/>
                </a:solidFill>
                <a:latin typeface="DejaVu Sans"/>
                <a:ea typeface="DejaVu Sans"/>
                <a:cs typeface="DejaVu Sans"/>
              </a:defRPr>
            </a:lvl5pPr>
            <a:lvl6pPr>
              <a:defRPr sz="1200" b="1">
                <a:solidFill>
                  <a:srgbClr val="007F78"/>
                </a:solidFill>
                <a:latin typeface="DejaVu Sans"/>
                <a:ea typeface="DejaVu Sans"/>
                <a:cs typeface="DejaVu Sans"/>
              </a:defRPr>
            </a:lvl6pPr>
            <a:lvl7pPr>
              <a:defRPr sz="1200" b="1">
                <a:solidFill>
                  <a:srgbClr val="007F78"/>
                </a:solidFill>
                <a:latin typeface="DejaVu Sans"/>
                <a:ea typeface="DejaVu Sans"/>
                <a:cs typeface="DejaVu Sans"/>
              </a:defRPr>
            </a:lvl7pPr>
            <a:lvl8pPr>
              <a:defRPr sz="1200" b="1">
                <a:solidFill>
                  <a:srgbClr val="007F78"/>
                </a:solidFill>
                <a:latin typeface="DejaVu Sans"/>
                <a:ea typeface="DejaVu Sans"/>
                <a:cs typeface="DejaVu Sans"/>
              </a:defRPr>
            </a:lvl8pPr>
            <a:lvl9pPr>
              <a:defRPr sz="1200" b="1">
                <a:solidFill>
                  <a:srgbClr val="007F78"/>
                </a:solidFill>
                <a:latin typeface="DejaVu Sans"/>
                <a:ea typeface="DejaVu Sans"/>
                <a:cs typeface="DejaVu Sans"/>
              </a:defRPr>
            </a:lvl9pPr>
          </a:lstStyle>
          <a:p xmlns:a="http://schemas.openxmlformats.org/drawingml/2006/main">
            <a:pPr>
              <a:defRPr sz="1200" b="1">
                <a:solidFill>
                  <a:srgbClr val="007F78"/>
                </a:solidFill>
                <a:latin typeface="DejaVu Sans"/>
                <a:ea typeface="DejaVu Sans"/>
                <a:cs typeface="DejaVu Sans"/>
              </a:defRPr>
            </a:pPr>
            <a:r>
              <a:rPr sz="1200" b="1">
                <a:solidFill>
                  <a:srgbClr val="007F78"/>
                </a:solidFill>
                <a:latin typeface="DejaVu Sans"/>
                <a:ea typeface="DejaVu Sans"/>
                <a:cs typeface="DejaVu Sans"/>
              </a:rPr>
              <a:t>APPENDIX I / STRONGER IDENTIFICATION</a:t>
            </a:r>
          </a:p>
        </p:txBody>
      </p:sp>
      <p:sp>
        <p:nvSpPr>
          <p:cNvPr id="2" name="title">
            <a:extLst xmlns:a="http://schemas.openxmlformats.org/drawingml/2006/main">
              <a:ext uri="{FF2B5EF4-FFF2-40B4-BE49-F238E27FC236}">
                <a16:creationId xmlns:a16="http://schemas.microsoft.com/office/drawing/2014/main" id="{413B8C5B-10BA-43F4-984A-5C1DE0EC1547}"/>
              </a:ext>
            </a:extLst>
          </p:cNvPr>
          <p:cNvSpPr>
            <a:spLocks xmlns:a="http://schemas.openxmlformats.org/drawingml/2006/main" noGrp="1"/>
          </p:cNvSpPr>
          <p:nvPr/>
        </p:nvSpPr>
        <p:spPr>
          <a:xfrm xmlns:a="http://schemas.openxmlformats.org/drawingml/2006/main">
            <a:off x="628650" y="8096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150" b="1">
                <a:solidFill>
                  <a:srgbClr val="142B42"/>
                </a:solidFill>
                <a:latin typeface="DejaVu Sans"/>
                <a:ea typeface="DejaVu Sans"/>
                <a:cs typeface="DejaVu Sans"/>
              </a:defRPr>
            </a:defPPr>
            <a:lvl1pPr>
              <a:defRPr sz="3150" b="1">
                <a:solidFill>
                  <a:srgbClr val="142B42"/>
                </a:solidFill>
                <a:latin typeface="DejaVu Sans"/>
                <a:ea typeface="DejaVu Sans"/>
                <a:cs typeface="DejaVu Sans"/>
              </a:defRPr>
            </a:lvl1pPr>
            <a:lvl2pPr>
              <a:defRPr sz="3150" b="1">
                <a:solidFill>
                  <a:srgbClr val="142B42"/>
                </a:solidFill>
                <a:latin typeface="DejaVu Sans"/>
                <a:ea typeface="DejaVu Sans"/>
                <a:cs typeface="DejaVu Sans"/>
              </a:defRPr>
            </a:lvl2pPr>
            <a:lvl3pPr>
              <a:defRPr sz="3150" b="1">
                <a:solidFill>
                  <a:srgbClr val="142B42"/>
                </a:solidFill>
                <a:latin typeface="DejaVu Sans"/>
                <a:ea typeface="DejaVu Sans"/>
                <a:cs typeface="DejaVu Sans"/>
              </a:defRPr>
            </a:lvl3pPr>
            <a:lvl4pPr>
              <a:defRPr sz="3150" b="1">
                <a:solidFill>
                  <a:srgbClr val="142B42"/>
                </a:solidFill>
                <a:latin typeface="DejaVu Sans"/>
                <a:ea typeface="DejaVu Sans"/>
                <a:cs typeface="DejaVu Sans"/>
              </a:defRPr>
            </a:lvl4pPr>
            <a:lvl5pPr>
              <a:defRPr sz="3150" b="1">
                <a:solidFill>
                  <a:srgbClr val="142B42"/>
                </a:solidFill>
                <a:latin typeface="DejaVu Sans"/>
                <a:ea typeface="DejaVu Sans"/>
                <a:cs typeface="DejaVu Sans"/>
              </a:defRPr>
            </a:lvl5pPr>
            <a:lvl6pPr>
              <a:defRPr sz="3150" b="1">
                <a:solidFill>
                  <a:srgbClr val="142B42"/>
                </a:solidFill>
                <a:latin typeface="DejaVu Sans"/>
                <a:ea typeface="DejaVu Sans"/>
                <a:cs typeface="DejaVu Sans"/>
              </a:defRPr>
            </a:lvl6pPr>
            <a:lvl7pPr>
              <a:defRPr sz="3150" b="1">
                <a:solidFill>
                  <a:srgbClr val="142B42"/>
                </a:solidFill>
                <a:latin typeface="DejaVu Sans"/>
                <a:ea typeface="DejaVu Sans"/>
                <a:cs typeface="DejaVu Sans"/>
              </a:defRPr>
            </a:lvl7pPr>
            <a:lvl8pPr>
              <a:defRPr sz="3150" b="1">
                <a:solidFill>
                  <a:srgbClr val="142B42"/>
                </a:solidFill>
                <a:latin typeface="DejaVu Sans"/>
                <a:ea typeface="DejaVu Sans"/>
                <a:cs typeface="DejaVu Sans"/>
              </a:defRPr>
            </a:lvl8pPr>
            <a:lvl9pPr>
              <a:defRPr sz="3150" b="1">
                <a:solidFill>
                  <a:srgbClr val="142B42"/>
                </a:solidFill>
                <a:latin typeface="DejaVu Sans"/>
                <a:ea typeface="DejaVu Sans"/>
                <a:cs typeface="DejaVu Sans"/>
              </a:defRPr>
            </a:lvl9pPr>
          </a:lstStyle>
          <a:p xmlns:a="http://schemas.openxmlformats.org/drawingml/2006/main">
            <a:pPr>
              <a:defRPr sz="3150" b="1">
                <a:solidFill>
                  <a:srgbClr val="142B42"/>
                </a:solidFill>
                <a:latin typeface="DejaVu Sans"/>
                <a:ea typeface="DejaVu Sans"/>
                <a:cs typeface="DejaVu Sans"/>
              </a:defRPr>
            </a:pPr>
            <a:r>
              <a:rPr sz="3150" b="1">
                <a:solidFill>
                  <a:srgbClr val="142B42"/>
                </a:solidFill>
                <a:latin typeface="DejaVu Sans"/>
                <a:ea typeface="DejaVu Sans"/>
                <a:cs typeface="DejaVu Sans"/>
              </a:rPr>
              <a:t>Truthful-framing experiment proposal</a:t>
            </a:r>
          </a:p>
        </p:txBody>
      </p:sp>
      <p:sp>
        <p:nvSpPr>
          <p:cNvPr id="3" name="page">
            <a:extLst xmlns:a="http://schemas.openxmlformats.org/drawingml/2006/main">
              <a:ext uri="{FF2B5EF4-FFF2-40B4-BE49-F238E27FC236}">
                <a16:creationId xmlns:a16="http://schemas.microsoft.com/office/drawing/2014/main" id="{5F10B82A-0FE7-4897-BA77-2275D9D93BB2}"/>
              </a:ext>
            </a:extLst>
          </p:cNvPr>
          <p:cNvSpPr>
            <a:spLocks xmlns:a="http://schemas.openxmlformats.org/drawingml/2006/main" noGrp="1"/>
          </p:cNvSpPr>
          <p:nvPr/>
        </p:nvSpPr>
        <p:spPr>
          <a:xfrm xmlns:a="http://schemas.openxmlformats.org/drawingml/2006/main">
            <a:off x="11191875" y="63722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17</a:t>
            </a:r>
          </a:p>
        </p:txBody>
      </p:sp>
      <p:graphicFrame>
        <p:nvGraphicFramePr>
          <p:cNvPr id="4" name="">
            <a:extLst xmlns:a="http://schemas.openxmlformats.org/drawingml/2006/main">
              <a:ext uri="{FF2B5EF4-FFF2-40B4-BE49-F238E27FC236}">
                <a16:creationId xmlns:a16="http://schemas.microsoft.com/office/drawing/2014/main" id="{66FB15A1-0B6B-489C-AD8A-A0000108C317}"/>
              </a:ext>
            </a:extLst>
          </p:cNvPr>
          <p:cNvGraphicFramePr/>
          <p:nvPr/>
        </p:nvGraphicFramePr>
        <p:xfrm>
          <a:off xmlns:a="http://schemas.openxmlformats.org/drawingml/2006/main" x="666750" y="1809750"/>
          <a:ext xmlns:a="http://schemas.openxmlformats.org/drawingml/2006/main" cx="10763250" cy="2333625"/>
        </p:xfrm>
        <a:graphic xmlns:a="http://schemas.openxmlformats.org/drawingml/2006/main">
          <a:graphicData uri="http://schemas.openxmlformats.org/drawingml/2006/table">
            <a:tbl>
              <a:tblPr/>
              <a:tblGrid>
                <a:gridCol w="1714500"/>
                <a:gridCol w="2190750"/>
                <a:gridCol w="6858000"/>
              </a:tblGrid>
              <a:tr h="583406">
                <a:tc>
                  <a:txBody>
                    <a:bodyPr/>
                    <a:lstStyle/>
                    <a:p>
                      <a:r>
                        <a:rPr sz="1950" b="1">
                          <a:solidFill>
                            <a:srgbClr val="FFFFFF"/>
                          </a:solidFill>
                          <a:latin typeface="DejaVu Sans"/>
                          <a:ea typeface="DejaVu Sans"/>
                          <a:cs typeface="DejaVu Sans"/>
                        </a:rPr>
                        <a:t>Arm</a:t>
                      </a:r>
                    </a:p>
                  </a:txBody>
                  <a:tcPr marL="91440" marR="91440" marT="45720" marB="45720">
                    <a:lnL w="6668">
                      <a:solidFill>
                        <a:srgbClr val="DCE6EB"/>
                      </a:solidFill>
                      <a:prstDash val="solid"/>
                    </a:lnL>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Participants</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c>
                  <a:txBody>
                    <a:bodyPr/>
                    <a:lstStyle/>
                    <a:p>
                      <a:r>
                        <a:rPr sz="1950" b="1">
                          <a:solidFill>
                            <a:srgbClr val="FFFFFF"/>
                          </a:solidFill>
                          <a:latin typeface="DejaVu Sans"/>
                          <a:ea typeface="DejaVu Sans"/>
                          <a:cs typeface="DejaVu Sans"/>
                        </a:rPr>
                        <a:t>Truthful emphasis</a:t>
                      </a:r>
                    </a:p>
                  </a:txBody>
                  <a:tcPr marL="91440" marR="91440" marT="45720" marB="45720">
                    <a:lnR w="6668">
                      <a:solidFill>
                        <a:srgbClr val="DCE6EB"/>
                      </a:solidFill>
                      <a:prstDash val="solid"/>
                    </a:lnR>
                    <a:lnT w="6668">
                      <a:solidFill>
                        <a:srgbClr val="DCE6EB"/>
                      </a:solidFill>
                      <a:prstDash val="solid"/>
                    </a:lnT>
                    <a:lnB w="6668">
                      <a:solidFill>
                        <a:srgbClr val="DCE6EB"/>
                      </a:solidFill>
                      <a:prstDash val="solid"/>
                    </a:lnB>
                    <a:solidFill>
                      <a:srgbClr val="142B42"/>
                    </a:solidFill>
                  </a:tcPr>
                </a:tc>
              </a:tr>
              <a:tr h="583406">
                <a:tc>
                  <a:txBody>
                    <a:bodyPr/>
                    <a:lstStyle/>
                    <a:p>
                      <a:r>
                        <a:rPr sz="1950" b="0">
                          <a:solidFill>
                            <a:srgbClr val="142B42"/>
                          </a:solidFill>
                          <a:latin typeface="DejaVu Sans"/>
                          <a:ea typeface="DejaVu Sans"/>
                          <a:cs typeface="DejaVu Sans"/>
                        </a:rPr>
                        <a:t>A</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200</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Accumulated price levels</a:t>
                      </a:r>
                    </a:p>
                  </a:txBody>
                  <a:tcPr marL="91440" marR="91440" marT="45720" marB="45720">
                    <a:lnR w="6668">
                      <a:solidFill>
                        <a:srgbClr val="DCE6EB"/>
                      </a:solidFill>
                      <a:prstDash val="solid"/>
                    </a:lnR>
                    <a:lnB w="6668">
                      <a:solidFill>
                        <a:srgbClr val="DCE6EB"/>
                      </a:solidFill>
                      <a:prstDash val="solid"/>
                    </a:lnB>
                    <a:solidFill>
                      <a:srgbClr val="FFFFFF"/>
                    </a:solidFill>
                  </a:tcPr>
                </a:tc>
              </a:tr>
              <a:tr h="583406">
                <a:tc>
                  <a:txBody>
                    <a:bodyPr/>
                    <a:lstStyle/>
                    <a:p>
                      <a:r>
                        <a:rPr sz="1950" b="0">
                          <a:solidFill>
                            <a:srgbClr val="142B42"/>
                          </a:solidFill>
                          <a:latin typeface="DejaVu Sans"/>
                          <a:ea typeface="DejaVu Sans"/>
                          <a:cs typeface="DejaVu Sans"/>
                        </a:rPr>
                        <a:t>B</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200</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Current inflation rate</a:t>
                      </a:r>
                    </a:p>
                  </a:txBody>
                  <a:tcPr marL="91440" marR="91440" marT="45720" marB="45720">
                    <a:lnR w="6668">
                      <a:solidFill>
                        <a:srgbClr val="DCE6EB"/>
                      </a:solidFill>
                      <a:prstDash val="solid"/>
                    </a:lnR>
                    <a:lnB w="6668">
                      <a:solidFill>
                        <a:srgbClr val="DCE6EB"/>
                      </a:solidFill>
                      <a:prstDash val="solid"/>
                    </a:lnB>
                    <a:solidFill>
                      <a:srgbClr val="FFFFFF"/>
                    </a:solidFill>
                  </a:tcPr>
                </a:tc>
              </a:tr>
              <a:tr h="583406">
                <a:tc>
                  <a:txBody>
                    <a:bodyPr/>
                    <a:lstStyle/>
                    <a:p>
                      <a:r>
                        <a:rPr sz="1950" b="0">
                          <a:solidFill>
                            <a:srgbClr val="142B42"/>
                          </a:solidFill>
                          <a:latin typeface="DejaVu Sans"/>
                          <a:ea typeface="DejaVu Sans"/>
                          <a:cs typeface="DejaVu Sans"/>
                        </a:rPr>
                        <a:t>C</a:t>
                      </a:r>
                    </a:p>
                  </a:txBody>
                  <a:tcPr marL="91440" marR="91440" marT="45720" marB="45720">
                    <a:lnL w="6668">
                      <a:solidFill>
                        <a:srgbClr val="DCE6EB"/>
                      </a:solidFill>
                      <a:prstDash val="solid"/>
                    </a:lnL>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200</a:t>
                      </a:r>
                    </a:p>
                  </a:txBody>
                  <a:tcPr marL="91440" marR="91440" marT="45720" marB="45720">
                    <a:lnR w="6668">
                      <a:solidFill>
                        <a:srgbClr val="DCE6EB"/>
                      </a:solidFill>
                      <a:prstDash val="solid"/>
                    </a:lnR>
                    <a:lnB w="6668">
                      <a:solidFill>
                        <a:srgbClr val="DCE6EB"/>
                      </a:solidFill>
                      <a:prstDash val="solid"/>
                    </a:lnB>
                    <a:solidFill>
                      <a:srgbClr val="FFFFFF"/>
                    </a:solidFill>
                  </a:tcPr>
                </a:tc>
                <a:tc>
                  <a:txBody>
                    <a:bodyPr/>
                    <a:lstStyle/>
                    <a:p>
                      <a:r>
                        <a:rPr sz="1950" b="0">
                          <a:solidFill>
                            <a:srgbClr val="142B42"/>
                          </a:solidFill>
                          <a:latin typeface="DejaVu Sans"/>
                          <a:ea typeface="DejaVu Sans"/>
                          <a:cs typeface="DejaVu Sans"/>
                        </a:rPr>
                        <a:t>Balanced economic context</a:t>
                      </a:r>
                    </a:p>
                  </a:txBody>
                  <a:tcPr marL="91440" marR="91440" marT="45720" marB="45720">
                    <a:lnR w="6668">
                      <a:solidFill>
                        <a:srgbClr val="DCE6EB"/>
                      </a:solidFill>
                      <a:prstDash val="solid"/>
                    </a:lnR>
                    <a:lnB w="6668">
                      <a:solidFill>
                        <a:srgbClr val="DCE6EB"/>
                      </a:solidFill>
                      <a:prstDash val="solid"/>
                    </a:lnB>
                    <a:solidFill>
                      <a:srgbClr val="FFFFFF"/>
                    </a:solidFill>
                  </a:tcPr>
                </a:tc>
              </a:tr>
            </a:tbl>
          </a:graphicData>
        </a:graphic>
      </p:graphicFrame>
      <p:sp>
        <p:nvSpPr>
          <p:cNvPr id="5" name="design">
            <a:extLst xmlns:a="http://schemas.openxmlformats.org/drawingml/2006/main">
              <a:ext uri="{FF2B5EF4-FFF2-40B4-BE49-F238E27FC236}">
                <a16:creationId xmlns:a16="http://schemas.microsoft.com/office/drawing/2014/main" id="{E99D8077-D5EB-42C4-9B68-77F7A958F5CB}"/>
              </a:ext>
            </a:extLst>
          </p:cNvPr>
          <p:cNvSpPr>
            <a:spLocks xmlns:a="http://schemas.openxmlformats.org/drawingml/2006/main" noGrp="1"/>
          </p:cNvSpPr>
          <p:nvPr/>
        </p:nvSpPr>
        <p:spPr>
          <a:xfrm xmlns:a="http://schemas.openxmlformats.org/drawingml/2006/main">
            <a:off x="762000" y="457200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142B42"/>
                </a:solidFill>
                <a:latin typeface="DejaVu Sans"/>
                <a:ea typeface="DejaVu Sans"/>
                <a:cs typeface="DejaVu Sans"/>
              </a:defRPr>
            </a:defPPr>
            <a:lvl1pPr>
              <a:defRPr sz="1950" b="0">
                <a:solidFill>
                  <a:srgbClr val="142B42"/>
                </a:solidFill>
                <a:latin typeface="DejaVu Sans"/>
                <a:ea typeface="DejaVu Sans"/>
                <a:cs typeface="DejaVu Sans"/>
              </a:defRPr>
            </a:lvl1pPr>
            <a:lvl2pPr>
              <a:defRPr sz="1950" b="0">
                <a:solidFill>
                  <a:srgbClr val="142B42"/>
                </a:solidFill>
                <a:latin typeface="DejaVu Sans"/>
                <a:ea typeface="DejaVu Sans"/>
                <a:cs typeface="DejaVu Sans"/>
              </a:defRPr>
            </a:lvl2pPr>
            <a:lvl3pPr>
              <a:defRPr sz="1950" b="0">
                <a:solidFill>
                  <a:srgbClr val="142B42"/>
                </a:solidFill>
                <a:latin typeface="DejaVu Sans"/>
                <a:ea typeface="DejaVu Sans"/>
                <a:cs typeface="DejaVu Sans"/>
              </a:defRPr>
            </a:lvl3pPr>
            <a:lvl4pPr>
              <a:defRPr sz="1950" b="0">
                <a:solidFill>
                  <a:srgbClr val="142B42"/>
                </a:solidFill>
                <a:latin typeface="DejaVu Sans"/>
                <a:ea typeface="DejaVu Sans"/>
                <a:cs typeface="DejaVu Sans"/>
              </a:defRPr>
            </a:lvl4pPr>
            <a:lvl5pPr>
              <a:defRPr sz="1950" b="0">
                <a:solidFill>
                  <a:srgbClr val="142B42"/>
                </a:solidFill>
                <a:latin typeface="DejaVu Sans"/>
                <a:ea typeface="DejaVu Sans"/>
                <a:cs typeface="DejaVu Sans"/>
              </a:defRPr>
            </a:lvl5pPr>
            <a:lvl6pPr>
              <a:defRPr sz="1950" b="0">
                <a:solidFill>
                  <a:srgbClr val="142B42"/>
                </a:solidFill>
                <a:latin typeface="DejaVu Sans"/>
                <a:ea typeface="DejaVu Sans"/>
                <a:cs typeface="DejaVu Sans"/>
              </a:defRPr>
            </a:lvl6pPr>
            <a:lvl7pPr>
              <a:defRPr sz="1950" b="0">
                <a:solidFill>
                  <a:srgbClr val="142B42"/>
                </a:solidFill>
                <a:latin typeface="DejaVu Sans"/>
                <a:ea typeface="DejaVu Sans"/>
                <a:cs typeface="DejaVu Sans"/>
              </a:defRPr>
            </a:lvl7pPr>
            <a:lvl8pPr>
              <a:defRPr sz="1950" b="0">
                <a:solidFill>
                  <a:srgbClr val="142B42"/>
                </a:solidFill>
                <a:latin typeface="DejaVu Sans"/>
                <a:ea typeface="DejaVu Sans"/>
                <a:cs typeface="DejaVu Sans"/>
              </a:defRPr>
            </a:lvl8pPr>
            <a:lvl9pPr>
              <a:defRPr sz="1950" b="0">
                <a:solidFill>
                  <a:srgbClr val="142B42"/>
                </a:solidFill>
                <a:latin typeface="DejaVu Sans"/>
                <a:ea typeface="DejaVu Sans"/>
                <a:cs typeface="DejaVu Sans"/>
              </a:defRPr>
            </a:lvl9pPr>
          </a:lstStyle>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Hold verified values, source and dates constant. Randomize within strata.</a:t>
            </a:r>
          </a:p>
          <a:p xmlns:a="http://schemas.openxmlformats.org/drawingml/2006/main">
            <a:pPr>
              <a:defRPr sz="1950" b="0">
                <a:solidFill>
                  <a:srgbClr val="142B42"/>
                </a:solidFill>
                <a:latin typeface="DejaVu Sans"/>
                <a:ea typeface="DejaVu Sans"/>
                <a:cs typeface="DejaVu Sans"/>
              </a:defRPr>
            </a:pPr>
            <a:r>
              <a:rPr sz="1950" b="0">
                <a:solidFill>
                  <a:srgbClr val="142B42"/>
                </a:solidFill>
                <a:latin typeface="DejaVu Sans"/>
                <a:ea typeface="DejaVu Sans"/>
                <a:cs typeface="DejaVu Sans"/>
              </a:rPr>
              <a:t>Compare expectations, purchasing-power beliefs and factual recall.</a:t>
            </a:r>
          </a:p>
        </p:txBody>
      </p:sp>
      <p:sp>
        <p:nvSpPr>
          <p:cNvPr id="6" name="source and scope">
            <a:extLst xmlns:a="http://schemas.openxmlformats.org/drawingml/2006/main">
              <a:ext uri="{FF2B5EF4-FFF2-40B4-BE49-F238E27FC236}">
                <a16:creationId xmlns:a16="http://schemas.microsoft.com/office/drawing/2014/main" id="{93A1A8C2-6240-4091-93B4-A1B13FC52073}"/>
              </a:ext>
            </a:extLst>
          </p:cNvPr>
          <p:cNvSpPr>
            <a:spLocks xmlns:a="http://schemas.openxmlformats.org/drawingml/2006/main" noGrp="1"/>
          </p:cNvSpPr>
          <p:nvPr/>
        </p:nvSpPr>
        <p:spPr>
          <a:xfrm xmlns:a="http://schemas.openxmlformats.org/drawingml/2006/main">
            <a:off x="628650" y="60769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64768A"/>
                </a:solidFill>
                <a:latin typeface="DejaVu Sans"/>
                <a:ea typeface="DejaVu Sans"/>
                <a:cs typeface="DejaVu Sans"/>
              </a:defRPr>
            </a:defPPr>
            <a:lvl1pPr>
              <a:defRPr sz="1200" b="0">
                <a:solidFill>
                  <a:srgbClr val="64768A"/>
                </a:solidFill>
                <a:latin typeface="DejaVu Sans"/>
                <a:ea typeface="DejaVu Sans"/>
                <a:cs typeface="DejaVu Sans"/>
              </a:defRPr>
            </a:lvl1pPr>
            <a:lvl2pPr>
              <a:defRPr sz="1200" b="0">
                <a:solidFill>
                  <a:srgbClr val="64768A"/>
                </a:solidFill>
                <a:latin typeface="DejaVu Sans"/>
                <a:ea typeface="DejaVu Sans"/>
                <a:cs typeface="DejaVu Sans"/>
              </a:defRPr>
            </a:lvl2pPr>
            <a:lvl3pPr>
              <a:defRPr sz="1200" b="0">
                <a:solidFill>
                  <a:srgbClr val="64768A"/>
                </a:solidFill>
                <a:latin typeface="DejaVu Sans"/>
                <a:ea typeface="DejaVu Sans"/>
                <a:cs typeface="DejaVu Sans"/>
              </a:defRPr>
            </a:lvl3pPr>
            <a:lvl4pPr>
              <a:defRPr sz="1200" b="0">
                <a:solidFill>
                  <a:srgbClr val="64768A"/>
                </a:solidFill>
                <a:latin typeface="DejaVu Sans"/>
                <a:ea typeface="DejaVu Sans"/>
                <a:cs typeface="DejaVu Sans"/>
              </a:defRPr>
            </a:lvl4pPr>
            <a:lvl5pPr>
              <a:defRPr sz="1200" b="0">
                <a:solidFill>
                  <a:srgbClr val="64768A"/>
                </a:solidFill>
                <a:latin typeface="DejaVu Sans"/>
                <a:ea typeface="DejaVu Sans"/>
                <a:cs typeface="DejaVu Sans"/>
              </a:defRPr>
            </a:lvl5pPr>
            <a:lvl6pPr>
              <a:defRPr sz="1200" b="0">
                <a:solidFill>
                  <a:srgbClr val="64768A"/>
                </a:solidFill>
                <a:latin typeface="DejaVu Sans"/>
                <a:ea typeface="DejaVu Sans"/>
                <a:cs typeface="DejaVu Sans"/>
              </a:defRPr>
            </a:lvl6pPr>
            <a:lvl7pPr>
              <a:defRPr sz="1200" b="0">
                <a:solidFill>
                  <a:srgbClr val="64768A"/>
                </a:solidFill>
                <a:latin typeface="DejaVu Sans"/>
                <a:ea typeface="DejaVu Sans"/>
                <a:cs typeface="DejaVu Sans"/>
              </a:defRPr>
            </a:lvl7pPr>
            <a:lvl8pPr>
              <a:defRPr sz="1200" b="0">
                <a:solidFill>
                  <a:srgbClr val="64768A"/>
                </a:solidFill>
                <a:latin typeface="DejaVu Sans"/>
                <a:ea typeface="DejaVu Sans"/>
                <a:cs typeface="DejaVu Sans"/>
              </a:defRPr>
            </a:lvl8pPr>
            <a:lvl9pPr>
              <a:defRPr sz="1200" b="0">
                <a:solidFill>
                  <a:srgbClr val="64768A"/>
                </a:solidFill>
                <a:latin typeface="DejaVu Sans"/>
                <a:ea typeface="DejaVu Sans"/>
                <a:cs typeface="DejaVu Sans"/>
              </a:defRPr>
            </a:lvl9pPr>
          </a:lstStyle>
          <a:p xmlns:a="http://schemas.openxmlformats.org/drawingml/2006/main">
            <a:pPr>
              <a:defRPr sz="1200" b="0">
                <a:solidFill>
                  <a:srgbClr val="64768A"/>
                </a:solidFill>
                <a:latin typeface="DejaVu Sans"/>
                <a:ea typeface="DejaVu Sans"/>
                <a:cs typeface="DejaVu Sans"/>
              </a:defRPr>
            </a:pPr>
            <a:r>
              <a:rPr sz="1200" b="0">
                <a:solidFill>
                  <a:srgbClr val="64768A"/>
                </a:solidFill>
                <a:latin typeface="DejaVu Sans"/>
                <a:ea typeface="DejaVu Sans"/>
                <a:cs typeface="DejaVu Sans"/>
              </a:rPr>
              <a:t>Proposal only, after required institutional review. A sample response would still require exposure and transport assumptions to explain the national index.</a:t>
            </a:r>
          </a:p>
        </p:txBody>
      </p:sp>
    </p:spTree>
    <p:extLst>
      <p:ext uri="{BB962C8B-B14F-4D97-AF65-F5344CB8AC3E}">
        <p14:creationId xmlns:p14="http://schemas.microsoft.com/office/powerpoint/2010/main" val="1387731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2026-10-18T17:32:50.0780000Z</dcterms:created>
  <dcterms:modified xsi:type="dcterms:W3CDTF">2026-10-18T17:32:50.0780000Z</dcterms:modified>
</coreProperties>
</file>